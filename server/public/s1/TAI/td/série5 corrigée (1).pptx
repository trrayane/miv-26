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08" r:id="rId3"/>
    <p:sldId id="394" r:id="rId4"/>
    <p:sldId id="391" r:id="rId5"/>
    <p:sldId id="395" r:id="rId6"/>
    <p:sldId id="392" r:id="rId7"/>
    <p:sldId id="393" r:id="rId8"/>
    <p:sldId id="396" r:id="rId9"/>
    <p:sldId id="398" r:id="rId10"/>
    <p:sldId id="402" r:id="rId11"/>
    <p:sldId id="399" r:id="rId12"/>
    <p:sldId id="401" r:id="rId13"/>
  </p:sldIdLst>
  <p:sldSz cx="12801600" cy="9601200" type="A3"/>
  <p:notesSz cx="6858000" cy="9144000"/>
  <p:defaultTextStyle>
    <a:defPPr>
      <a:defRPr lang="fr-FR"/>
    </a:defPPr>
    <a:lvl1pPr marL="0" algn="l" defTabSz="1221913" rtl="0" eaLnBrk="1" latinLnBrk="0" hangingPunct="1">
      <a:defRPr sz="2400" kern="1200">
        <a:solidFill>
          <a:schemeClr val="tx1"/>
        </a:solidFill>
        <a:latin typeface="+mn-lt"/>
        <a:ea typeface="+mn-ea"/>
        <a:cs typeface="+mn-cs"/>
      </a:defRPr>
    </a:lvl1pPr>
    <a:lvl2pPr marL="610956" algn="l" defTabSz="1221913" rtl="0" eaLnBrk="1" latinLnBrk="0" hangingPunct="1">
      <a:defRPr sz="2400" kern="1200">
        <a:solidFill>
          <a:schemeClr val="tx1"/>
        </a:solidFill>
        <a:latin typeface="+mn-lt"/>
        <a:ea typeface="+mn-ea"/>
        <a:cs typeface="+mn-cs"/>
      </a:defRPr>
    </a:lvl2pPr>
    <a:lvl3pPr marL="1221913" algn="l" defTabSz="1221913" rtl="0" eaLnBrk="1" latinLnBrk="0" hangingPunct="1">
      <a:defRPr sz="2400" kern="1200">
        <a:solidFill>
          <a:schemeClr val="tx1"/>
        </a:solidFill>
        <a:latin typeface="+mn-lt"/>
        <a:ea typeface="+mn-ea"/>
        <a:cs typeface="+mn-cs"/>
      </a:defRPr>
    </a:lvl3pPr>
    <a:lvl4pPr marL="1832869" algn="l" defTabSz="1221913" rtl="0" eaLnBrk="1" latinLnBrk="0" hangingPunct="1">
      <a:defRPr sz="2400" kern="1200">
        <a:solidFill>
          <a:schemeClr val="tx1"/>
        </a:solidFill>
        <a:latin typeface="+mn-lt"/>
        <a:ea typeface="+mn-ea"/>
        <a:cs typeface="+mn-cs"/>
      </a:defRPr>
    </a:lvl4pPr>
    <a:lvl5pPr marL="2443825" algn="l" defTabSz="1221913" rtl="0" eaLnBrk="1" latinLnBrk="0" hangingPunct="1">
      <a:defRPr sz="2400" kern="1200">
        <a:solidFill>
          <a:schemeClr val="tx1"/>
        </a:solidFill>
        <a:latin typeface="+mn-lt"/>
        <a:ea typeface="+mn-ea"/>
        <a:cs typeface="+mn-cs"/>
      </a:defRPr>
    </a:lvl5pPr>
    <a:lvl6pPr marL="3054782" algn="l" defTabSz="1221913" rtl="0" eaLnBrk="1" latinLnBrk="0" hangingPunct="1">
      <a:defRPr sz="2400" kern="1200">
        <a:solidFill>
          <a:schemeClr val="tx1"/>
        </a:solidFill>
        <a:latin typeface="+mn-lt"/>
        <a:ea typeface="+mn-ea"/>
        <a:cs typeface="+mn-cs"/>
      </a:defRPr>
    </a:lvl6pPr>
    <a:lvl7pPr marL="3665738" algn="l" defTabSz="1221913" rtl="0" eaLnBrk="1" latinLnBrk="0" hangingPunct="1">
      <a:defRPr sz="2400" kern="1200">
        <a:solidFill>
          <a:schemeClr val="tx1"/>
        </a:solidFill>
        <a:latin typeface="+mn-lt"/>
        <a:ea typeface="+mn-ea"/>
        <a:cs typeface="+mn-cs"/>
      </a:defRPr>
    </a:lvl7pPr>
    <a:lvl8pPr marL="4276695" algn="l" defTabSz="1221913" rtl="0" eaLnBrk="1" latinLnBrk="0" hangingPunct="1">
      <a:defRPr sz="2400" kern="1200">
        <a:solidFill>
          <a:schemeClr val="tx1"/>
        </a:solidFill>
        <a:latin typeface="+mn-lt"/>
        <a:ea typeface="+mn-ea"/>
        <a:cs typeface="+mn-cs"/>
      </a:defRPr>
    </a:lvl8pPr>
    <a:lvl9pPr marL="4887651" algn="l" defTabSz="1221913"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1EA9"/>
    <a:srgbClr val="FF0000"/>
    <a:srgbClr val="4F81BD"/>
    <a:srgbClr val="00B0F0"/>
    <a:srgbClr val="000000"/>
    <a:srgbClr val="FFFFFF"/>
    <a:srgbClr val="254061"/>
    <a:srgbClr val="D7E4BD"/>
    <a:srgbClr val="FF0D0D"/>
    <a:srgbClr val="F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8387" autoAdjust="0"/>
  </p:normalViewPr>
  <p:slideViewPr>
    <p:cSldViewPr>
      <p:cViewPr varScale="1">
        <p:scale>
          <a:sx n="53" d="100"/>
          <a:sy n="53" d="100"/>
        </p:scale>
        <p:origin x="1236" y="42"/>
      </p:cViewPr>
      <p:guideLst>
        <p:guide orient="horz" pos="3024"/>
        <p:guide pos="4032"/>
      </p:guideLst>
    </p:cSldViewPr>
  </p:slideViewPr>
  <p:notesTextViewPr>
    <p:cViewPr>
      <p:scale>
        <a:sx n="100" d="100"/>
        <a:sy n="100" d="100"/>
      </p:scale>
      <p:origin x="0" y="0"/>
    </p:cViewPr>
  </p:notesTextViewPr>
  <p:sorterViewPr>
    <p:cViewPr>
      <p:scale>
        <a:sx n="66" d="100"/>
        <a:sy n="66" d="100"/>
      </p:scale>
      <p:origin x="0" y="31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B9314D-6B09-49A3-9307-1ED5EB6C6A57}" type="datetimeFigureOut">
              <a:rPr lang="fr-FR" smtClean="0"/>
              <a:pPr/>
              <a:t>14/12/2024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B07B5B-23FB-4845-A655-B6CE8E1B950E}" type="slidenum">
              <a:rPr lang="fr-FR" smtClean="0"/>
              <a:pPr/>
              <a:t>‹N°›</a:t>
            </a:fld>
            <a:endParaRPr lang="fr-FR"/>
          </a:p>
        </p:txBody>
      </p:sp>
    </p:spTree>
    <p:extLst>
      <p:ext uri="{BB962C8B-B14F-4D97-AF65-F5344CB8AC3E}">
        <p14:creationId xmlns:p14="http://schemas.microsoft.com/office/powerpoint/2010/main" val="1150397695"/>
      </p:ext>
    </p:extLst>
  </p:cSld>
  <p:clrMap bg1="lt1" tx1="dk1" bg2="lt2" tx2="dk2" accent1="accent1" accent2="accent2" accent3="accent3" accent4="accent4" accent5="accent5" accent6="accent6" hlink="hlink" folHlink="folHlink"/>
  <p:notesStyle>
    <a:lvl1pPr marL="0" algn="l" defTabSz="1221913" rtl="0" eaLnBrk="1" latinLnBrk="0" hangingPunct="1">
      <a:defRPr sz="1600" kern="1200">
        <a:solidFill>
          <a:schemeClr val="tx1"/>
        </a:solidFill>
        <a:latin typeface="+mn-lt"/>
        <a:ea typeface="+mn-ea"/>
        <a:cs typeface="+mn-cs"/>
      </a:defRPr>
    </a:lvl1pPr>
    <a:lvl2pPr marL="610956" algn="l" defTabSz="1221913" rtl="0" eaLnBrk="1" latinLnBrk="0" hangingPunct="1">
      <a:defRPr sz="1600" kern="1200">
        <a:solidFill>
          <a:schemeClr val="tx1"/>
        </a:solidFill>
        <a:latin typeface="+mn-lt"/>
        <a:ea typeface="+mn-ea"/>
        <a:cs typeface="+mn-cs"/>
      </a:defRPr>
    </a:lvl2pPr>
    <a:lvl3pPr marL="1221913" algn="l" defTabSz="1221913" rtl="0" eaLnBrk="1" latinLnBrk="0" hangingPunct="1">
      <a:defRPr sz="1600" kern="1200">
        <a:solidFill>
          <a:schemeClr val="tx1"/>
        </a:solidFill>
        <a:latin typeface="+mn-lt"/>
        <a:ea typeface="+mn-ea"/>
        <a:cs typeface="+mn-cs"/>
      </a:defRPr>
    </a:lvl3pPr>
    <a:lvl4pPr marL="1832869" algn="l" defTabSz="1221913" rtl="0" eaLnBrk="1" latinLnBrk="0" hangingPunct="1">
      <a:defRPr sz="1600" kern="1200">
        <a:solidFill>
          <a:schemeClr val="tx1"/>
        </a:solidFill>
        <a:latin typeface="+mn-lt"/>
        <a:ea typeface="+mn-ea"/>
        <a:cs typeface="+mn-cs"/>
      </a:defRPr>
    </a:lvl4pPr>
    <a:lvl5pPr marL="2443825" algn="l" defTabSz="1221913" rtl="0" eaLnBrk="1" latinLnBrk="0" hangingPunct="1">
      <a:defRPr sz="1600" kern="1200">
        <a:solidFill>
          <a:schemeClr val="tx1"/>
        </a:solidFill>
        <a:latin typeface="+mn-lt"/>
        <a:ea typeface="+mn-ea"/>
        <a:cs typeface="+mn-cs"/>
      </a:defRPr>
    </a:lvl5pPr>
    <a:lvl6pPr marL="3054782" algn="l" defTabSz="1221913" rtl="0" eaLnBrk="1" latinLnBrk="0" hangingPunct="1">
      <a:defRPr sz="1600" kern="1200">
        <a:solidFill>
          <a:schemeClr val="tx1"/>
        </a:solidFill>
        <a:latin typeface="+mn-lt"/>
        <a:ea typeface="+mn-ea"/>
        <a:cs typeface="+mn-cs"/>
      </a:defRPr>
    </a:lvl6pPr>
    <a:lvl7pPr marL="3665738" algn="l" defTabSz="1221913" rtl="0" eaLnBrk="1" latinLnBrk="0" hangingPunct="1">
      <a:defRPr sz="1600" kern="1200">
        <a:solidFill>
          <a:schemeClr val="tx1"/>
        </a:solidFill>
        <a:latin typeface="+mn-lt"/>
        <a:ea typeface="+mn-ea"/>
        <a:cs typeface="+mn-cs"/>
      </a:defRPr>
    </a:lvl7pPr>
    <a:lvl8pPr marL="4276695" algn="l" defTabSz="1221913" rtl="0" eaLnBrk="1" latinLnBrk="0" hangingPunct="1">
      <a:defRPr sz="1600" kern="1200">
        <a:solidFill>
          <a:schemeClr val="tx1"/>
        </a:solidFill>
        <a:latin typeface="+mn-lt"/>
        <a:ea typeface="+mn-ea"/>
        <a:cs typeface="+mn-cs"/>
      </a:defRPr>
    </a:lvl8pPr>
    <a:lvl9pPr marL="4887651" algn="l" defTabSz="1221913"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60120" y="2982597"/>
            <a:ext cx="10881360" cy="205803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920240" y="5440680"/>
            <a:ext cx="8961120" cy="2453640"/>
          </a:xfrm>
        </p:spPr>
        <p:txBody>
          <a:bodyPr/>
          <a:lstStyle>
            <a:lvl1pPr marL="0" indent="0" algn="ctr">
              <a:buNone/>
              <a:defRPr>
                <a:solidFill>
                  <a:schemeClr val="tx1">
                    <a:tint val="75000"/>
                  </a:schemeClr>
                </a:solidFill>
              </a:defRPr>
            </a:lvl1pPr>
            <a:lvl2pPr marL="610956" indent="0" algn="ctr">
              <a:buNone/>
              <a:defRPr>
                <a:solidFill>
                  <a:schemeClr val="tx1">
                    <a:tint val="75000"/>
                  </a:schemeClr>
                </a:solidFill>
              </a:defRPr>
            </a:lvl2pPr>
            <a:lvl3pPr marL="1221913" indent="0" algn="ctr">
              <a:buNone/>
              <a:defRPr>
                <a:solidFill>
                  <a:schemeClr val="tx1">
                    <a:tint val="75000"/>
                  </a:schemeClr>
                </a:solidFill>
              </a:defRPr>
            </a:lvl3pPr>
            <a:lvl4pPr marL="1832869" indent="0" algn="ctr">
              <a:buNone/>
              <a:defRPr>
                <a:solidFill>
                  <a:schemeClr val="tx1">
                    <a:tint val="75000"/>
                  </a:schemeClr>
                </a:solidFill>
              </a:defRPr>
            </a:lvl4pPr>
            <a:lvl5pPr marL="2443825" indent="0" algn="ctr">
              <a:buNone/>
              <a:defRPr>
                <a:solidFill>
                  <a:schemeClr val="tx1">
                    <a:tint val="75000"/>
                  </a:schemeClr>
                </a:solidFill>
              </a:defRPr>
            </a:lvl5pPr>
            <a:lvl6pPr marL="3054782" indent="0" algn="ctr">
              <a:buNone/>
              <a:defRPr>
                <a:solidFill>
                  <a:schemeClr val="tx1">
                    <a:tint val="75000"/>
                  </a:schemeClr>
                </a:solidFill>
              </a:defRPr>
            </a:lvl6pPr>
            <a:lvl7pPr marL="3665738" indent="0" algn="ctr">
              <a:buNone/>
              <a:defRPr>
                <a:solidFill>
                  <a:schemeClr val="tx1">
                    <a:tint val="75000"/>
                  </a:schemeClr>
                </a:solidFill>
              </a:defRPr>
            </a:lvl7pPr>
            <a:lvl8pPr marL="4276695" indent="0" algn="ctr">
              <a:buNone/>
              <a:defRPr>
                <a:solidFill>
                  <a:schemeClr val="tx1">
                    <a:tint val="75000"/>
                  </a:schemeClr>
                </a:solidFill>
              </a:defRPr>
            </a:lvl8pPr>
            <a:lvl9pPr marL="4887651"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1011239" y="6169662"/>
            <a:ext cx="10881360" cy="1906905"/>
          </a:xfrm>
        </p:spPr>
        <p:txBody>
          <a:bodyPr anchor="t"/>
          <a:lstStyle>
            <a:lvl1pPr algn="l">
              <a:defRPr sz="53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1011239" y="4069399"/>
            <a:ext cx="10881360" cy="2100262"/>
          </a:xfrm>
        </p:spPr>
        <p:txBody>
          <a:bodyPr anchor="b"/>
          <a:lstStyle>
            <a:lvl1pPr marL="0" indent="0">
              <a:buNone/>
              <a:defRPr sz="2700">
                <a:solidFill>
                  <a:schemeClr val="tx1">
                    <a:tint val="75000"/>
                  </a:schemeClr>
                </a:solidFill>
              </a:defRPr>
            </a:lvl1pPr>
            <a:lvl2pPr marL="610956" indent="0">
              <a:buNone/>
              <a:defRPr sz="2400">
                <a:solidFill>
                  <a:schemeClr val="tx1">
                    <a:tint val="75000"/>
                  </a:schemeClr>
                </a:solidFill>
              </a:defRPr>
            </a:lvl2pPr>
            <a:lvl3pPr marL="1221913" indent="0">
              <a:buNone/>
              <a:defRPr sz="2100">
                <a:solidFill>
                  <a:schemeClr val="tx1">
                    <a:tint val="75000"/>
                  </a:schemeClr>
                </a:solidFill>
              </a:defRPr>
            </a:lvl3pPr>
            <a:lvl4pPr marL="1832869" indent="0">
              <a:buNone/>
              <a:defRPr sz="1900">
                <a:solidFill>
                  <a:schemeClr val="tx1">
                    <a:tint val="75000"/>
                  </a:schemeClr>
                </a:solidFill>
              </a:defRPr>
            </a:lvl4pPr>
            <a:lvl5pPr marL="2443825" indent="0">
              <a:buNone/>
              <a:defRPr sz="1900">
                <a:solidFill>
                  <a:schemeClr val="tx1">
                    <a:tint val="75000"/>
                  </a:schemeClr>
                </a:solidFill>
              </a:defRPr>
            </a:lvl5pPr>
            <a:lvl6pPr marL="3054782" indent="0">
              <a:buNone/>
              <a:defRPr sz="1900">
                <a:solidFill>
                  <a:schemeClr val="tx1">
                    <a:tint val="75000"/>
                  </a:schemeClr>
                </a:solidFill>
              </a:defRPr>
            </a:lvl6pPr>
            <a:lvl7pPr marL="3665738" indent="0">
              <a:buNone/>
              <a:defRPr sz="1900">
                <a:solidFill>
                  <a:schemeClr val="tx1">
                    <a:tint val="75000"/>
                  </a:schemeClr>
                </a:solidFill>
              </a:defRPr>
            </a:lvl7pPr>
            <a:lvl8pPr marL="4276695" indent="0">
              <a:buNone/>
              <a:defRPr sz="1900">
                <a:solidFill>
                  <a:schemeClr val="tx1">
                    <a:tint val="75000"/>
                  </a:schemeClr>
                </a:solidFill>
              </a:defRPr>
            </a:lvl8pPr>
            <a:lvl9pPr marL="4887651" indent="0">
              <a:buNone/>
              <a:defRPr sz="19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40080" y="2240282"/>
            <a:ext cx="5654040" cy="6336348"/>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507480" y="2240282"/>
            <a:ext cx="5654040" cy="6336348"/>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640080" y="2149158"/>
            <a:ext cx="5656263" cy="895667"/>
          </a:xfrm>
        </p:spPr>
        <p:txBody>
          <a:bodyPr anchor="b"/>
          <a:lstStyle>
            <a:lvl1pPr marL="0" indent="0">
              <a:buNone/>
              <a:defRPr sz="3200" b="1"/>
            </a:lvl1pPr>
            <a:lvl2pPr marL="610956" indent="0">
              <a:buNone/>
              <a:defRPr sz="2700" b="1"/>
            </a:lvl2pPr>
            <a:lvl3pPr marL="1221913" indent="0">
              <a:buNone/>
              <a:defRPr sz="2400" b="1"/>
            </a:lvl3pPr>
            <a:lvl4pPr marL="1832869" indent="0">
              <a:buNone/>
              <a:defRPr sz="2100" b="1"/>
            </a:lvl4pPr>
            <a:lvl5pPr marL="2443825" indent="0">
              <a:buNone/>
              <a:defRPr sz="2100" b="1"/>
            </a:lvl5pPr>
            <a:lvl6pPr marL="3054782" indent="0">
              <a:buNone/>
              <a:defRPr sz="2100" b="1"/>
            </a:lvl6pPr>
            <a:lvl7pPr marL="3665738" indent="0">
              <a:buNone/>
              <a:defRPr sz="2100" b="1"/>
            </a:lvl7pPr>
            <a:lvl8pPr marL="4276695" indent="0">
              <a:buNone/>
              <a:defRPr sz="2100" b="1"/>
            </a:lvl8pPr>
            <a:lvl9pPr marL="4887651" indent="0">
              <a:buNone/>
              <a:defRPr sz="21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40080" y="3044825"/>
            <a:ext cx="5656263" cy="55318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503036" y="2149158"/>
            <a:ext cx="5658486" cy="895667"/>
          </a:xfrm>
        </p:spPr>
        <p:txBody>
          <a:bodyPr anchor="b"/>
          <a:lstStyle>
            <a:lvl1pPr marL="0" indent="0">
              <a:buNone/>
              <a:defRPr sz="3200" b="1"/>
            </a:lvl1pPr>
            <a:lvl2pPr marL="610956" indent="0">
              <a:buNone/>
              <a:defRPr sz="2700" b="1"/>
            </a:lvl2pPr>
            <a:lvl3pPr marL="1221913" indent="0">
              <a:buNone/>
              <a:defRPr sz="2400" b="1"/>
            </a:lvl3pPr>
            <a:lvl4pPr marL="1832869" indent="0">
              <a:buNone/>
              <a:defRPr sz="2100" b="1"/>
            </a:lvl4pPr>
            <a:lvl5pPr marL="2443825" indent="0">
              <a:buNone/>
              <a:defRPr sz="2100" b="1"/>
            </a:lvl5pPr>
            <a:lvl6pPr marL="3054782" indent="0">
              <a:buNone/>
              <a:defRPr sz="2100" b="1"/>
            </a:lvl6pPr>
            <a:lvl7pPr marL="3665738" indent="0">
              <a:buNone/>
              <a:defRPr sz="2100" b="1"/>
            </a:lvl7pPr>
            <a:lvl8pPr marL="4276695" indent="0">
              <a:buNone/>
              <a:defRPr sz="2100" b="1"/>
            </a:lvl8pPr>
            <a:lvl9pPr marL="4887651" indent="0">
              <a:buNone/>
              <a:defRPr sz="21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503036" y="3044825"/>
            <a:ext cx="5658486" cy="55318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40080" y="382270"/>
            <a:ext cx="4211639" cy="1626870"/>
          </a:xfrm>
        </p:spPr>
        <p:txBody>
          <a:bodyPr anchor="b"/>
          <a:lstStyle>
            <a:lvl1pPr algn="l">
              <a:defRPr sz="2700" b="1"/>
            </a:lvl1pPr>
          </a:lstStyle>
          <a:p>
            <a:r>
              <a:rPr lang="fr-FR" smtClean="0"/>
              <a:t>Cliquez pour modifier le style du titre</a:t>
            </a:r>
            <a:endParaRPr lang="fr-FR"/>
          </a:p>
        </p:txBody>
      </p:sp>
      <p:sp>
        <p:nvSpPr>
          <p:cNvPr id="3" name="Espace réservé du contenu 2"/>
          <p:cNvSpPr>
            <a:spLocks noGrp="1"/>
          </p:cNvSpPr>
          <p:nvPr>
            <p:ph idx="1"/>
          </p:nvPr>
        </p:nvSpPr>
        <p:spPr>
          <a:xfrm>
            <a:off x="5005071" y="382272"/>
            <a:ext cx="7156450" cy="8194358"/>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640080" y="2009142"/>
            <a:ext cx="4211639" cy="6567488"/>
          </a:xfrm>
        </p:spPr>
        <p:txBody>
          <a:bodyPr/>
          <a:lstStyle>
            <a:lvl1pPr marL="0" indent="0">
              <a:buNone/>
              <a:defRPr sz="1900"/>
            </a:lvl1pPr>
            <a:lvl2pPr marL="610956" indent="0">
              <a:buNone/>
              <a:defRPr sz="1600"/>
            </a:lvl2pPr>
            <a:lvl3pPr marL="1221913" indent="0">
              <a:buNone/>
              <a:defRPr sz="1300"/>
            </a:lvl3pPr>
            <a:lvl4pPr marL="1832869" indent="0">
              <a:buNone/>
              <a:defRPr sz="1200"/>
            </a:lvl4pPr>
            <a:lvl5pPr marL="2443825" indent="0">
              <a:buNone/>
              <a:defRPr sz="1200"/>
            </a:lvl5pPr>
            <a:lvl6pPr marL="3054782" indent="0">
              <a:buNone/>
              <a:defRPr sz="1200"/>
            </a:lvl6pPr>
            <a:lvl7pPr marL="3665738" indent="0">
              <a:buNone/>
              <a:defRPr sz="1200"/>
            </a:lvl7pPr>
            <a:lvl8pPr marL="4276695" indent="0">
              <a:buNone/>
              <a:defRPr sz="1200"/>
            </a:lvl8pPr>
            <a:lvl9pPr marL="4887651" indent="0">
              <a:buNone/>
              <a:defRPr sz="12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509203" y="6720840"/>
            <a:ext cx="7680960" cy="793433"/>
          </a:xfrm>
        </p:spPr>
        <p:txBody>
          <a:bodyPr anchor="b"/>
          <a:lstStyle>
            <a:lvl1pPr algn="l">
              <a:defRPr sz="27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2509203" y="857885"/>
            <a:ext cx="7680960" cy="5760720"/>
          </a:xfrm>
        </p:spPr>
        <p:txBody>
          <a:bodyPr/>
          <a:lstStyle>
            <a:lvl1pPr marL="0" indent="0">
              <a:buNone/>
              <a:defRPr sz="4300"/>
            </a:lvl1pPr>
            <a:lvl2pPr marL="610956" indent="0">
              <a:buNone/>
              <a:defRPr sz="3700"/>
            </a:lvl2pPr>
            <a:lvl3pPr marL="1221913" indent="0">
              <a:buNone/>
              <a:defRPr sz="3200"/>
            </a:lvl3pPr>
            <a:lvl4pPr marL="1832869" indent="0">
              <a:buNone/>
              <a:defRPr sz="2700"/>
            </a:lvl4pPr>
            <a:lvl5pPr marL="2443825" indent="0">
              <a:buNone/>
              <a:defRPr sz="2700"/>
            </a:lvl5pPr>
            <a:lvl6pPr marL="3054782" indent="0">
              <a:buNone/>
              <a:defRPr sz="2700"/>
            </a:lvl6pPr>
            <a:lvl7pPr marL="3665738" indent="0">
              <a:buNone/>
              <a:defRPr sz="2700"/>
            </a:lvl7pPr>
            <a:lvl8pPr marL="4276695" indent="0">
              <a:buNone/>
              <a:defRPr sz="2700"/>
            </a:lvl8pPr>
            <a:lvl9pPr marL="4887651" indent="0">
              <a:buNone/>
              <a:defRPr sz="2700"/>
            </a:lvl9pPr>
          </a:lstStyle>
          <a:p>
            <a:endParaRPr lang="fr-FR"/>
          </a:p>
        </p:txBody>
      </p:sp>
      <p:sp>
        <p:nvSpPr>
          <p:cNvPr id="4" name="Espace réservé du texte 3"/>
          <p:cNvSpPr>
            <a:spLocks noGrp="1"/>
          </p:cNvSpPr>
          <p:nvPr>
            <p:ph type="body" sz="half" idx="2"/>
          </p:nvPr>
        </p:nvSpPr>
        <p:spPr>
          <a:xfrm>
            <a:off x="2509203" y="7514273"/>
            <a:ext cx="7680960" cy="1126807"/>
          </a:xfrm>
        </p:spPr>
        <p:txBody>
          <a:bodyPr/>
          <a:lstStyle>
            <a:lvl1pPr marL="0" indent="0">
              <a:buNone/>
              <a:defRPr sz="1900"/>
            </a:lvl1pPr>
            <a:lvl2pPr marL="610956" indent="0">
              <a:buNone/>
              <a:defRPr sz="1600"/>
            </a:lvl2pPr>
            <a:lvl3pPr marL="1221913" indent="0">
              <a:buNone/>
              <a:defRPr sz="1300"/>
            </a:lvl3pPr>
            <a:lvl4pPr marL="1832869" indent="0">
              <a:buNone/>
              <a:defRPr sz="1200"/>
            </a:lvl4pPr>
            <a:lvl5pPr marL="2443825" indent="0">
              <a:buNone/>
              <a:defRPr sz="1200"/>
            </a:lvl5pPr>
            <a:lvl6pPr marL="3054782" indent="0">
              <a:buNone/>
              <a:defRPr sz="1200"/>
            </a:lvl6pPr>
            <a:lvl7pPr marL="3665738" indent="0">
              <a:buNone/>
              <a:defRPr sz="1200"/>
            </a:lvl7pPr>
            <a:lvl8pPr marL="4276695" indent="0">
              <a:buNone/>
              <a:defRPr sz="1200"/>
            </a:lvl8pPr>
            <a:lvl9pPr marL="4887651" indent="0">
              <a:buNone/>
              <a:defRPr sz="12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281160" y="384495"/>
            <a:ext cx="2880360" cy="819213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40080" y="384495"/>
            <a:ext cx="8427720" cy="819213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315A7BF-C4F4-4907-A222-05A5D8F2639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40080" y="384493"/>
            <a:ext cx="11521440" cy="1600200"/>
          </a:xfrm>
          <a:prstGeom prst="rect">
            <a:avLst/>
          </a:prstGeom>
        </p:spPr>
        <p:txBody>
          <a:bodyPr vert="horz" lIns="122191" tIns="61096" rIns="122191" bIns="61096"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640080" y="2240282"/>
            <a:ext cx="11521440" cy="6336348"/>
          </a:xfrm>
          <a:prstGeom prst="rect">
            <a:avLst/>
          </a:prstGeom>
        </p:spPr>
        <p:txBody>
          <a:bodyPr vert="horz" lIns="122191" tIns="61096" rIns="122191" bIns="61096"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640080" y="8898892"/>
            <a:ext cx="2987040" cy="511175"/>
          </a:xfrm>
          <a:prstGeom prst="rect">
            <a:avLst/>
          </a:prstGeom>
        </p:spPr>
        <p:txBody>
          <a:bodyPr vert="horz" lIns="122191" tIns="61096" rIns="122191" bIns="61096" rtlCol="0" anchor="ctr"/>
          <a:lstStyle>
            <a:lvl1pPr algn="l">
              <a:defRPr sz="1600">
                <a:solidFill>
                  <a:schemeClr val="tx1">
                    <a:tint val="75000"/>
                  </a:schemeClr>
                </a:solidFill>
              </a:defRPr>
            </a:lvl1pPr>
          </a:lstStyle>
          <a:p>
            <a:fld id="{73C053A1-DE9F-468E-9F09-DD5DC5BA1446}" type="datetimeFigureOut">
              <a:rPr lang="fr-FR" smtClean="0"/>
              <a:pPr/>
              <a:t>14/12/2024</a:t>
            </a:fld>
            <a:endParaRPr lang="fr-FR"/>
          </a:p>
        </p:txBody>
      </p:sp>
      <p:sp>
        <p:nvSpPr>
          <p:cNvPr id="5" name="Espace réservé du pied de page 4"/>
          <p:cNvSpPr>
            <a:spLocks noGrp="1"/>
          </p:cNvSpPr>
          <p:nvPr>
            <p:ph type="ftr" sz="quarter" idx="3"/>
          </p:nvPr>
        </p:nvSpPr>
        <p:spPr>
          <a:xfrm>
            <a:off x="4373880" y="8898892"/>
            <a:ext cx="4053840" cy="511175"/>
          </a:xfrm>
          <a:prstGeom prst="rect">
            <a:avLst/>
          </a:prstGeom>
        </p:spPr>
        <p:txBody>
          <a:bodyPr vert="horz" lIns="122191" tIns="61096" rIns="122191" bIns="61096" rtlCol="0" anchor="ctr"/>
          <a:lstStyle>
            <a:lvl1pPr algn="ctr">
              <a:defRPr sz="16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9174480" y="8898892"/>
            <a:ext cx="2987040" cy="511175"/>
          </a:xfrm>
          <a:prstGeom prst="rect">
            <a:avLst/>
          </a:prstGeom>
        </p:spPr>
        <p:txBody>
          <a:bodyPr vert="horz" lIns="122191" tIns="61096" rIns="122191" bIns="61096" rtlCol="0" anchor="ctr"/>
          <a:lstStyle>
            <a:lvl1pPr algn="r">
              <a:defRPr sz="1600">
                <a:solidFill>
                  <a:schemeClr val="tx1">
                    <a:tint val="75000"/>
                  </a:schemeClr>
                </a:solidFill>
              </a:defRPr>
            </a:lvl1pPr>
          </a:lstStyle>
          <a:p>
            <a:fld id="{1315A7BF-C4F4-4907-A222-05A5D8F2639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21913" rtl="0" eaLnBrk="1" latinLnBrk="0" hangingPunct="1">
        <a:spcBef>
          <a:spcPct val="0"/>
        </a:spcBef>
        <a:buNone/>
        <a:defRPr sz="5900" kern="1200">
          <a:solidFill>
            <a:schemeClr val="tx1"/>
          </a:solidFill>
          <a:latin typeface="+mj-lt"/>
          <a:ea typeface="+mj-ea"/>
          <a:cs typeface="+mj-cs"/>
        </a:defRPr>
      </a:lvl1pPr>
    </p:titleStyle>
    <p:bodyStyle>
      <a:lvl1pPr marL="458217" indent="-458217" algn="l" defTabSz="1221913" rtl="0" eaLnBrk="1" latinLnBrk="0" hangingPunct="1">
        <a:spcBef>
          <a:spcPct val="20000"/>
        </a:spcBef>
        <a:buFont typeface="Arial" pitchFamily="34" charset="0"/>
        <a:buChar char="•"/>
        <a:defRPr sz="4300" kern="1200">
          <a:solidFill>
            <a:schemeClr val="tx1"/>
          </a:solidFill>
          <a:latin typeface="+mn-lt"/>
          <a:ea typeface="+mn-ea"/>
          <a:cs typeface="+mn-cs"/>
        </a:defRPr>
      </a:lvl1pPr>
      <a:lvl2pPr marL="992804" indent="-381848" algn="l" defTabSz="1221913" rtl="0" eaLnBrk="1" latinLnBrk="0" hangingPunct="1">
        <a:spcBef>
          <a:spcPct val="20000"/>
        </a:spcBef>
        <a:buFont typeface="Arial" pitchFamily="34" charset="0"/>
        <a:buChar char="–"/>
        <a:defRPr sz="3700" kern="1200">
          <a:solidFill>
            <a:schemeClr val="tx1"/>
          </a:solidFill>
          <a:latin typeface="+mn-lt"/>
          <a:ea typeface="+mn-ea"/>
          <a:cs typeface="+mn-cs"/>
        </a:defRPr>
      </a:lvl2pPr>
      <a:lvl3pPr marL="1527391" indent="-305478" algn="l" defTabSz="1221913"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8347"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2749304"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3360260"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71216"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82173"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93129" indent="-305478" algn="l" defTabSz="1221913"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fr-FR"/>
      </a:defPPr>
      <a:lvl1pPr marL="0" algn="l" defTabSz="1221913" rtl="0" eaLnBrk="1" latinLnBrk="0" hangingPunct="1">
        <a:defRPr sz="2400" kern="1200">
          <a:solidFill>
            <a:schemeClr val="tx1"/>
          </a:solidFill>
          <a:latin typeface="+mn-lt"/>
          <a:ea typeface="+mn-ea"/>
          <a:cs typeface="+mn-cs"/>
        </a:defRPr>
      </a:lvl1pPr>
      <a:lvl2pPr marL="610956" algn="l" defTabSz="1221913" rtl="0" eaLnBrk="1" latinLnBrk="0" hangingPunct="1">
        <a:defRPr sz="2400" kern="1200">
          <a:solidFill>
            <a:schemeClr val="tx1"/>
          </a:solidFill>
          <a:latin typeface="+mn-lt"/>
          <a:ea typeface="+mn-ea"/>
          <a:cs typeface="+mn-cs"/>
        </a:defRPr>
      </a:lvl2pPr>
      <a:lvl3pPr marL="1221913" algn="l" defTabSz="1221913" rtl="0" eaLnBrk="1" latinLnBrk="0" hangingPunct="1">
        <a:defRPr sz="2400" kern="1200">
          <a:solidFill>
            <a:schemeClr val="tx1"/>
          </a:solidFill>
          <a:latin typeface="+mn-lt"/>
          <a:ea typeface="+mn-ea"/>
          <a:cs typeface="+mn-cs"/>
        </a:defRPr>
      </a:lvl3pPr>
      <a:lvl4pPr marL="1832869" algn="l" defTabSz="1221913" rtl="0" eaLnBrk="1" latinLnBrk="0" hangingPunct="1">
        <a:defRPr sz="2400" kern="1200">
          <a:solidFill>
            <a:schemeClr val="tx1"/>
          </a:solidFill>
          <a:latin typeface="+mn-lt"/>
          <a:ea typeface="+mn-ea"/>
          <a:cs typeface="+mn-cs"/>
        </a:defRPr>
      </a:lvl4pPr>
      <a:lvl5pPr marL="2443825" algn="l" defTabSz="1221913" rtl="0" eaLnBrk="1" latinLnBrk="0" hangingPunct="1">
        <a:defRPr sz="2400" kern="1200">
          <a:solidFill>
            <a:schemeClr val="tx1"/>
          </a:solidFill>
          <a:latin typeface="+mn-lt"/>
          <a:ea typeface="+mn-ea"/>
          <a:cs typeface="+mn-cs"/>
        </a:defRPr>
      </a:lvl5pPr>
      <a:lvl6pPr marL="3054782" algn="l" defTabSz="1221913" rtl="0" eaLnBrk="1" latinLnBrk="0" hangingPunct="1">
        <a:defRPr sz="2400" kern="1200">
          <a:solidFill>
            <a:schemeClr val="tx1"/>
          </a:solidFill>
          <a:latin typeface="+mn-lt"/>
          <a:ea typeface="+mn-ea"/>
          <a:cs typeface="+mn-cs"/>
        </a:defRPr>
      </a:lvl6pPr>
      <a:lvl7pPr marL="3665738" algn="l" defTabSz="1221913" rtl="0" eaLnBrk="1" latinLnBrk="0" hangingPunct="1">
        <a:defRPr sz="2400" kern="1200">
          <a:solidFill>
            <a:schemeClr val="tx1"/>
          </a:solidFill>
          <a:latin typeface="+mn-lt"/>
          <a:ea typeface="+mn-ea"/>
          <a:cs typeface="+mn-cs"/>
        </a:defRPr>
      </a:lvl7pPr>
      <a:lvl8pPr marL="4276695" algn="l" defTabSz="1221913" rtl="0" eaLnBrk="1" latinLnBrk="0" hangingPunct="1">
        <a:defRPr sz="2400" kern="1200">
          <a:solidFill>
            <a:schemeClr val="tx1"/>
          </a:solidFill>
          <a:latin typeface="+mn-lt"/>
          <a:ea typeface="+mn-ea"/>
          <a:cs typeface="+mn-cs"/>
        </a:defRPr>
      </a:lvl8pPr>
      <a:lvl9pPr marL="4887651" algn="l" defTabSz="122191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200113" y="3737219"/>
            <a:ext cx="10101333" cy="1108270"/>
          </a:xfrm>
          <a:prstGeom prst="rect">
            <a:avLst/>
          </a:prstGeom>
          <a:noFill/>
        </p:spPr>
        <p:txBody>
          <a:bodyPr wrap="square" lIns="122191" tIns="61096" rIns="122191" bIns="61096" rtlCol="0">
            <a:spAutoFit/>
          </a:bodyPr>
          <a:lstStyle/>
          <a:p>
            <a:pPr algn="ctr"/>
            <a:r>
              <a:rPr lang="fr-FR" sz="6400" b="1" dirty="0" smtClean="0">
                <a:solidFill>
                  <a:schemeClr val="accent1">
                    <a:lumMod val="75000"/>
                  </a:schemeClr>
                </a:solidFill>
                <a:latin typeface="Roboto"/>
                <a:ea typeface="Roboto Black" pitchFamily="2" charset="0"/>
              </a:rPr>
              <a:t>TAI: Série d’exercices 5</a:t>
            </a:r>
            <a:endParaRPr lang="fr-FR" sz="6400" b="1" dirty="0">
              <a:solidFill>
                <a:schemeClr val="accent1">
                  <a:lumMod val="75000"/>
                </a:schemeClr>
              </a:solidFill>
              <a:latin typeface="Roboto"/>
              <a:ea typeface="Roboto Black" pitchFamily="2" charset="0"/>
            </a:endParaRPr>
          </a:p>
        </p:txBody>
      </p:sp>
      <p:sp>
        <p:nvSpPr>
          <p:cNvPr id="5" name="ZoneTexte 4"/>
          <p:cNvSpPr txBox="1"/>
          <p:nvPr/>
        </p:nvSpPr>
        <p:spPr>
          <a:xfrm>
            <a:off x="3300391" y="8684116"/>
            <a:ext cx="6200818" cy="492717"/>
          </a:xfrm>
          <a:prstGeom prst="rect">
            <a:avLst/>
          </a:prstGeom>
          <a:noFill/>
        </p:spPr>
        <p:txBody>
          <a:bodyPr wrap="square" lIns="122191" tIns="61096" rIns="122191" bIns="61096" rtlCol="0">
            <a:spAutoFit/>
          </a:bodyPr>
          <a:lstStyle/>
          <a:p>
            <a:pPr algn="ctr"/>
            <a:r>
              <a:rPr lang="fr-FR" dirty="0" smtClean="0">
                <a:solidFill>
                  <a:schemeClr val="accent1">
                    <a:lumMod val="75000"/>
                  </a:schemeClr>
                </a:solidFill>
              </a:rPr>
              <a:t>N. </a:t>
            </a:r>
            <a:r>
              <a:rPr lang="fr-FR" dirty="0" err="1" smtClean="0">
                <a:solidFill>
                  <a:schemeClr val="accent1">
                    <a:lumMod val="75000"/>
                  </a:schemeClr>
                </a:solidFill>
              </a:rPr>
              <a:t>Mebtouche</a:t>
            </a:r>
            <a:r>
              <a:rPr lang="fr-FR" dirty="0" smtClean="0">
                <a:solidFill>
                  <a:schemeClr val="accent1">
                    <a:lumMod val="75000"/>
                  </a:schemeClr>
                </a:solidFill>
              </a:rPr>
              <a:t>  Décembre 2023</a:t>
            </a:r>
            <a:endParaRPr lang="fr-FR"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sp>
        <p:nvSpPr>
          <p:cNvPr id="11" name="ZoneTexte 10"/>
          <p:cNvSpPr txBox="1"/>
          <p:nvPr/>
        </p:nvSpPr>
        <p:spPr>
          <a:xfrm>
            <a:off x="0" y="657196"/>
            <a:ext cx="5900734" cy="584775"/>
          </a:xfrm>
          <a:prstGeom prst="rect">
            <a:avLst/>
          </a:prstGeom>
          <a:noFill/>
        </p:spPr>
        <p:txBody>
          <a:bodyPr wrap="square" rtlCol="0">
            <a:spAutoFit/>
          </a:bodyPr>
          <a:lstStyle/>
          <a:p>
            <a:r>
              <a:rPr lang="fr-FR" sz="3200" b="1" dirty="0" smtClean="0">
                <a:solidFill>
                  <a:srgbClr val="FF0000"/>
                </a:solidFill>
                <a:latin typeface="Roboto"/>
              </a:rPr>
              <a:t>Rappel du cours</a:t>
            </a:r>
            <a:endParaRPr lang="fr-FR" sz="3200" b="1" dirty="0">
              <a:solidFill>
                <a:srgbClr val="FF0000"/>
              </a:solidFill>
              <a:latin typeface="Roboto"/>
            </a:endParaRPr>
          </a:p>
        </p:txBody>
      </p:sp>
      <p:sp>
        <p:nvSpPr>
          <p:cNvPr id="12" name="ZoneTexte 11"/>
          <p:cNvSpPr txBox="1"/>
          <p:nvPr/>
        </p:nvSpPr>
        <p:spPr>
          <a:xfrm>
            <a:off x="185694" y="1371576"/>
            <a:ext cx="12615906" cy="4832092"/>
          </a:xfrm>
          <a:prstGeom prst="rect">
            <a:avLst/>
          </a:prstGeom>
          <a:noFill/>
        </p:spPr>
        <p:txBody>
          <a:bodyPr wrap="square" rtlCol="0">
            <a:spAutoFit/>
          </a:bodyPr>
          <a:lstStyle/>
          <a:p>
            <a:r>
              <a:rPr lang="fr-FR" sz="2800" dirty="0" smtClean="0">
                <a:latin typeface="Roboto"/>
              </a:rPr>
              <a:t>On a vu les </a:t>
            </a:r>
            <a:r>
              <a:rPr lang="fr-FR" sz="2800" dirty="0" err="1" smtClean="0">
                <a:latin typeface="Roboto"/>
              </a:rPr>
              <a:t>Edges</a:t>
            </a:r>
            <a:r>
              <a:rPr lang="fr-FR" sz="2800" dirty="0" smtClean="0">
                <a:latin typeface="Roboto"/>
              </a:rPr>
              <a:t> et Corners</a:t>
            </a:r>
          </a:p>
          <a:p>
            <a:r>
              <a:rPr lang="fr-FR" sz="2800" dirty="0" smtClean="0">
                <a:latin typeface="Roboto"/>
              </a:rPr>
              <a:t>-&gt; insuffisants pour des images et scènes complexes (exemple détection  d’objets)</a:t>
            </a:r>
            <a:endParaRPr lang="fr-FR" sz="2800" b="1" dirty="0" smtClean="0">
              <a:latin typeface="Roboto"/>
            </a:endParaRPr>
          </a:p>
          <a:p>
            <a:r>
              <a:rPr lang="fr-FR" sz="2800" b="1" dirty="0" smtClean="0">
                <a:solidFill>
                  <a:srgbClr val="00B050"/>
                </a:solidFill>
                <a:latin typeface="Roboto"/>
              </a:rPr>
              <a:t>-&gt; SIFT!</a:t>
            </a:r>
          </a:p>
          <a:p>
            <a:endParaRPr lang="fr-FR" sz="2800" b="1" dirty="0" smtClean="0">
              <a:solidFill>
                <a:srgbClr val="00B050"/>
              </a:solidFill>
              <a:latin typeface="Roboto"/>
            </a:endParaRPr>
          </a:p>
          <a:p>
            <a:r>
              <a:rPr lang="fr-FR" sz="2800" dirty="0" smtClean="0">
                <a:latin typeface="Roboto"/>
              </a:rPr>
              <a:t>Mais avant cela il faut comprendre:</a:t>
            </a:r>
          </a:p>
          <a:p>
            <a:pPr marL="514350" indent="-514350">
              <a:buAutoNum type="arabicPeriod"/>
            </a:pPr>
            <a:r>
              <a:rPr lang="fr-FR" sz="2800" dirty="0" smtClean="0">
                <a:latin typeface="Roboto"/>
              </a:rPr>
              <a:t>Les points d’</a:t>
            </a:r>
            <a:r>
              <a:rPr lang="fr-FR" sz="2800" dirty="0" err="1" smtClean="0">
                <a:latin typeface="Roboto"/>
              </a:rPr>
              <a:t>interets</a:t>
            </a:r>
            <a:endParaRPr lang="fr-FR" sz="2800" dirty="0" smtClean="0">
              <a:latin typeface="Roboto"/>
            </a:endParaRPr>
          </a:p>
          <a:p>
            <a:pPr marL="514350" indent="-514350">
              <a:buAutoNum type="arabicPeriod"/>
            </a:pPr>
            <a:r>
              <a:rPr lang="fr-FR" sz="2800" dirty="0" smtClean="0">
                <a:latin typeface="Roboto"/>
              </a:rPr>
              <a:t>Les blobs</a:t>
            </a:r>
          </a:p>
          <a:p>
            <a:pPr marL="514350" indent="-514350">
              <a:buAutoNum type="arabicPeriod"/>
            </a:pPr>
            <a:r>
              <a:rPr lang="fr-FR" sz="2800" dirty="0" smtClean="0">
                <a:latin typeface="Roboto"/>
              </a:rPr>
              <a:t>Le Détecteur SIFT</a:t>
            </a:r>
          </a:p>
          <a:p>
            <a:pPr marL="514350" indent="-514350">
              <a:buAutoNum type="arabicPeriod"/>
            </a:pPr>
            <a:r>
              <a:rPr lang="fr-FR" sz="2800" dirty="0" smtClean="0">
                <a:latin typeface="Roboto"/>
              </a:rPr>
              <a:t>Le descripteur SIFT</a:t>
            </a:r>
          </a:p>
          <a:p>
            <a:endParaRPr lang="fr-FR" sz="2800" dirty="0" smtClean="0">
              <a:solidFill>
                <a:srgbClr val="00B050"/>
              </a:solidFill>
              <a:latin typeface="Roboto"/>
            </a:endParaRPr>
          </a:p>
        </p:txBody>
      </p:sp>
      <p:pic>
        <p:nvPicPr>
          <p:cNvPr id="3" name="Picture 2"/>
          <p:cNvPicPr>
            <a:picLocks noChangeAspect="1" noChangeArrowheads="1"/>
          </p:cNvPicPr>
          <p:nvPr/>
        </p:nvPicPr>
        <p:blipFill>
          <a:blip r:embed="rId2"/>
          <a:srcRect/>
          <a:stretch>
            <a:fillRect/>
          </a:stretch>
        </p:blipFill>
        <p:spPr bwMode="auto">
          <a:xfrm>
            <a:off x="6043610" y="2443146"/>
            <a:ext cx="6400800" cy="2649338"/>
          </a:xfrm>
          <a:prstGeom prst="rect">
            <a:avLst/>
          </a:prstGeom>
          <a:noFill/>
          <a:ln w="9525">
            <a:noFill/>
            <a:miter lim="800000"/>
            <a:headEnd/>
            <a:tailEnd/>
          </a:ln>
          <a:effectLst/>
        </p:spPr>
      </p:pic>
      <p:sp>
        <p:nvSpPr>
          <p:cNvPr id="15" name="ZoneTexte 14"/>
          <p:cNvSpPr txBox="1"/>
          <p:nvPr/>
        </p:nvSpPr>
        <p:spPr>
          <a:xfrm>
            <a:off x="1900206" y="2267233"/>
            <a:ext cx="3000396" cy="461665"/>
          </a:xfrm>
          <a:prstGeom prst="rect">
            <a:avLst/>
          </a:prstGeom>
          <a:noFill/>
        </p:spPr>
        <p:txBody>
          <a:bodyPr wrap="square" rtlCol="0">
            <a:spAutoFit/>
          </a:bodyPr>
          <a:lstStyle/>
          <a:p>
            <a:r>
              <a:rPr lang="fr-FR" b="1" dirty="0" smtClean="0">
                <a:latin typeface="Roboto"/>
              </a:rPr>
              <a:t>-&gt; </a:t>
            </a:r>
            <a:r>
              <a:rPr lang="fr-FR" b="1" dirty="0" err="1" smtClean="0">
                <a:latin typeface="Roboto"/>
              </a:rPr>
              <a:t>matching</a:t>
            </a:r>
            <a:r>
              <a:rPr lang="fr-FR" b="1" dirty="0" smtClean="0">
                <a:latin typeface="Roboto"/>
              </a:rPr>
              <a:t>!</a:t>
            </a:r>
            <a:endParaRPr lang="fr-FR" dirty="0"/>
          </a:p>
        </p:txBody>
      </p:sp>
      <p:pic>
        <p:nvPicPr>
          <p:cNvPr id="5" name="Picture 4"/>
          <p:cNvPicPr>
            <a:picLocks noChangeAspect="1" noChangeArrowheads="1"/>
          </p:cNvPicPr>
          <p:nvPr/>
        </p:nvPicPr>
        <p:blipFill>
          <a:blip r:embed="rId3"/>
          <a:srcRect/>
          <a:stretch>
            <a:fillRect/>
          </a:stretch>
        </p:blipFill>
        <p:spPr bwMode="auto">
          <a:xfrm>
            <a:off x="8329626" y="5229228"/>
            <a:ext cx="4067175" cy="34956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sp>
        <p:nvSpPr>
          <p:cNvPr id="11" name="ZoneTexte 10"/>
          <p:cNvSpPr txBox="1"/>
          <p:nvPr/>
        </p:nvSpPr>
        <p:spPr>
          <a:xfrm>
            <a:off x="0" y="657196"/>
            <a:ext cx="5900734" cy="584775"/>
          </a:xfrm>
          <a:prstGeom prst="rect">
            <a:avLst/>
          </a:prstGeom>
          <a:noFill/>
        </p:spPr>
        <p:txBody>
          <a:bodyPr wrap="square" rtlCol="0">
            <a:spAutoFit/>
          </a:bodyPr>
          <a:lstStyle/>
          <a:p>
            <a:r>
              <a:rPr lang="fr-FR" sz="3200" b="1" dirty="0" smtClean="0">
                <a:solidFill>
                  <a:srgbClr val="FF0000"/>
                </a:solidFill>
                <a:latin typeface="Roboto"/>
              </a:rPr>
              <a:t>Rappel du cours</a:t>
            </a:r>
            <a:endParaRPr lang="fr-FR" sz="3200" b="1" dirty="0">
              <a:solidFill>
                <a:srgbClr val="FF0000"/>
              </a:solidFill>
              <a:latin typeface="Roboto"/>
            </a:endParaRPr>
          </a:p>
        </p:txBody>
      </p:sp>
      <p:sp>
        <p:nvSpPr>
          <p:cNvPr id="12" name="ZoneTexte 11"/>
          <p:cNvSpPr txBox="1"/>
          <p:nvPr/>
        </p:nvSpPr>
        <p:spPr>
          <a:xfrm>
            <a:off x="114256" y="1228700"/>
            <a:ext cx="12615906" cy="1384995"/>
          </a:xfrm>
          <a:prstGeom prst="rect">
            <a:avLst/>
          </a:prstGeom>
          <a:noFill/>
        </p:spPr>
        <p:txBody>
          <a:bodyPr wrap="square" rtlCol="0">
            <a:spAutoFit/>
          </a:bodyPr>
          <a:lstStyle/>
          <a:p>
            <a:pPr marL="514350" indent="-514350">
              <a:buAutoNum type="arabicPeriod"/>
            </a:pPr>
            <a:r>
              <a:rPr lang="fr-FR" sz="2800" dirty="0" smtClean="0">
                <a:latin typeface="Roboto"/>
              </a:rPr>
              <a:t>Les blobs</a:t>
            </a:r>
          </a:p>
          <a:p>
            <a:r>
              <a:rPr lang="fr-FR" sz="2800" dirty="0" smtClean="0">
                <a:latin typeface="Roboto"/>
              </a:rPr>
              <a:t>-&gt;Le localiser déterminer sa taille et son orientation dans une image</a:t>
            </a:r>
          </a:p>
          <a:p>
            <a:r>
              <a:rPr lang="fr-FR" sz="2800" dirty="0" smtClean="0">
                <a:latin typeface="Roboto"/>
              </a:rPr>
              <a:t>Un blob contient des </a:t>
            </a:r>
            <a:r>
              <a:rPr lang="fr-FR" sz="2800" dirty="0" err="1" smtClean="0">
                <a:latin typeface="Roboto"/>
              </a:rPr>
              <a:t>edges</a:t>
            </a:r>
            <a:r>
              <a:rPr lang="fr-FR" sz="2800" dirty="0" smtClean="0">
                <a:latin typeface="Roboto"/>
              </a:rPr>
              <a:t> au tour!</a:t>
            </a:r>
          </a:p>
        </p:txBody>
      </p:sp>
      <p:pic>
        <p:nvPicPr>
          <p:cNvPr id="2050" name="Picture 2"/>
          <p:cNvPicPr>
            <a:picLocks noChangeAspect="1" noChangeArrowheads="1"/>
          </p:cNvPicPr>
          <p:nvPr/>
        </p:nvPicPr>
        <p:blipFill>
          <a:blip r:embed="rId2"/>
          <a:srcRect/>
          <a:stretch>
            <a:fillRect/>
          </a:stretch>
        </p:blipFill>
        <p:spPr bwMode="auto">
          <a:xfrm>
            <a:off x="7710538" y="14254"/>
            <a:ext cx="4976806" cy="2070993"/>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52404" y="2871774"/>
            <a:ext cx="4933950" cy="1000125"/>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542915" y="3729030"/>
            <a:ext cx="4429125" cy="790575"/>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5376958" y="3343332"/>
            <a:ext cx="7248525" cy="771525"/>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a:srcRect/>
          <a:stretch>
            <a:fillRect/>
          </a:stretch>
        </p:blipFill>
        <p:spPr bwMode="auto">
          <a:xfrm>
            <a:off x="5481683" y="4129150"/>
            <a:ext cx="7048500" cy="752475"/>
          </a:xfrm>
          <a:prstGeom prst="rect">
            <a:avLst/>
          </a:prstGeom>
          <a:noFill/>
          <a:ln w="9525">
            <a:noFill/>
            <a:miter lim="800000"/>
            <a:headEnd/>
            <a:tailEnd/>
          </a:ln>
          <a:effectLst/>
        </p:spPr>
      </p:pic>
      <p:pic>
        <p:nvPicPr>
          <p:cNvPr id="2055" name="Picture 7"/>
          <p:cNvPicPr>
            <a:picLocks noChangeAspect="1" noChangeArrowheads="1"/>
          </p:cNvPicPr>
          <p:nvPr/>
        </p:nvPicPr>
        <p:blipFill>
          <a:blip r:embed="rId7"/>
          <a:srcRect/>
          <a:stretch>
            <a:fillRect/>
          </a:stretch>
        </p:blipFill>
        <p:spPr bwMode="auto">
          <a:xfrm>
            <a:off x="5267369" y="4914968"/>
            <a:ext cx="7419975" cy="1133475"/>
          </a:xfrm>
          <a:prstGeom prst="rect">
            <a:avLst/>
          </a:prstGeom>
          <a:noFill/>
          <a:ln w="9525">
            <a:noFill/>
            <a:miter lim="800000"/>
            <a:headEnd/>
            <a:tailEnd/>
          </a:ln>
          <a:effectLst/>
        </p:spPr>
      </p:pic>
      <p:pic>
        <p:nvPicPr>
          <p:cNvPr id="2056" name="Picture 8"/>
          <p:cNvPicPr>
            <a:picLocks noChangeAspect="1" noChangeArrowheads="1"/>
          </p:cNvPicPr>
          <p:nvPr/>
        </p:nvPicPr>
        <p:blipFill>
          <a:blip r:embed="rId8"/>
          <a:srcRect/>
          <a:stretch>
            <a:fillRect/>
          </a:stretch>
        </p:blipFill>
        <p:spPr bwMode="auto">
          <a:xfrm>
            <a:off x="4876785" y="6072230"/>
            <a:ext cx="7658100" cy="1133475"/>
          </a:xfrm>
          <a:prstGeom prst="rect">
            <a:avLst/>
          </a:prstGeom>
          <a:noFill/>
          <a:ln w="9525">
            <a:noFill/>
            <a:miter lim="800000"/>
            <a:headEnd/>
            <a:tailEnd/>
          </a:ln>
          <a:effectLst/>
        </p:spPr>
      </p:pic>
      <p:sp>
        <p:nvSpPr>
          <p:cNvPr id="16" name="ZoneTexte 15"/>
          <p:cNvSpPr txBox="1"/>
          <p:nvPr/>
        </p:nvSpPr>
        <p:spPr>
          <a:xfrm>
            <a:off x="114256" y="5157790"/>
            <a:ext cx="4043346" cy="2677656"/>
          </a:xfrm>
          <a:prstGeom prst="rect">
            <a:avLst/>
          </a:prstGeom>
          <a:noFill/>
        </p:spPr>
        <p:txBody>
          <a:bodyPr wrap="square" rtlCol="0">
            <a:spAutoFit/>
          </a:bodyPr>
          <a:lstStyle/>
          <a:p>
            <a:r>
              <a:rPr lang="fr-FR" sz="2800" dirty="0" smtClean="0">
                <a:latin typeface="Roboto"/>
              </a:rPr>
              <a:t>Pour résoudre le problème du zéro </a:t>
            </a:r>
            <a:r>
              <a:rPr lang="fr-FR" sz="2800" dirty="0" err="1" smtClean="0">
                <a:latin typeface="Roboto"/>
              </a:rPr>
              <a:t>corssing</a:t>
            </a:r>
            <a:r>
              <a:rPr lang="fr-FR" sz="2800" dirty="0" smtClean="0">
                <a:latin typeface="Roboto"/>
              </a:rPr>
              <a:t> </a:t>
            </a:r>
          </a:p>
          <a:p>
            <a:r>
              <a:rPr lang="fr-FR" sz="2800" dirty="0" smtClean="0">
                <a:latin typeface="Roboto"/>
              </a:rPr>
              <a:t>-&gt; amplifier le filtre en multipliant par sigma au carré </a:t>
            </a:r>
          </a:p>
        </p:txBody>
      </p:sp>
      <p:pic>
        <p:nvPicPr>
          <p:cNvPr id="2058" name="Picture 10"/>
          <p:cNvPicPr>
            <a:picLocks noChangeAspect="1" noChangeArrowheads="1"/>
          </p:cNvPicPr>
          <p:nvPr/>
        </p:nvPicPr>
        <p:blipFill>
          <a:blip r:embed="rId9"/>
          <a:srcRect/>
          <a:stretch>
            <a:fillRect/>
          </a:stretch>
        </p:blipFill>
        <p:spPr bwMode="auto">
          <a:xfrm>
            <a:off x="4552989" y="7177111"/>
            <a:ext cx="8039100" cy="981075"/>
          </a:xfrm>
          <a:prstGeom prst="rect">
            <a:avLst/>
          </a:prstGeom>
          <a:noFill/>
          <a:ln w="9525">
            <a:noFill/>
            <a:miter lim="800000"/>
            <a:headEnd/>
            <a:tailEnd/>
          </a:ln>
          <a:effectLst/>
        </p:spPr>
      </p:pic>
      <p:pic>
        <p:nvPicPr>
          <p:cNvPr id="2059" name="Picture 11"/>
          <p:cNvPicPr>
            <a:picLocks noChangeAspect="1" noChangeArrowheads="1"/>
          </p:cNvPicPr>
          <p:nvPr/>
        </p:nvPicPr>
        <p:blipFill>
          <a:blip r:embed="rId10"/>
          <a:srcRect/>
          <a:stretch>
            <a:fillRect/>
          </a:stretch>
        </p:blipFill>
        <p:spPr bwMode="auto">
          <a:xfrm>
            <a:off x="4471974" y="8229633"/>
            <a:ext cx="8153400" cy="1285875"/>
          </a:xfrm>
          <a:prstGeom prst="rect">
            <a:avLst/>
          </a:prstGeom>
          <a:noFill/>
          <a:ln w="9525">
            <a:noFill/>
            <a:miter lim="800000"/>
            <a:headEnd/>
            <a:tailEnd/>
          </a:ln>
          <a:effectLst/>
        </p:spPr>
      </p:pic>
      <p:sp>
        <p:nvSpPr>
          <p:cNvPr id="19" name="ZoneTexte 18"/>
          <p:cNvSpPr txBox="1"/>
          <p:nvPr/>
        </p:nvSpPr>
        <p:spPr>
          <a:xfrm>
            <a:off x="214314" y="8563660"/>
            <a:ext cx="4043346" cy="523220"/>
          </a:xfrm>
          <a:prstGeom prst="rect">
            <a:avLst/>
          </a:prstGeom>
          <a:noFill/>
        </p:spPr>
        <p:txBody>
          <a:bodyPr wrap="square" rtlCol="0">
            <a:spAutoFit/>
          </a:bodyPr>
          <a:lstStyle/>
          <a:p>
            <a:r>
              <a:rPr lang="fr-FR" sz="2800" dirty="0" smtClean="0">
                <a:latin typeface="Roboto"/>
              </a:rPr>
              <a:t>Sigma plus grand!</a:t>
            </a:r>
          </a:p>
        </p:txBody>
      </p:sp>
      <p:pic>
        <p:nvPicPr>
          <p:cNvPr id="2060" name="Picture 12"/>
          <p:cNvPicPr>
            <a:picLocks noChangeAspect="1" noChangeArrowheads="1"/>
          </p:cNvPicPr>
          <p:nvPr/>
        </p:nvPicPr>
        <p:blipFill>
          <a:blip r:embed="rId11"/>
          <a:srcRect/>
          <a:stretch>
            <a:fillRect/>
          </a:stretch>
        </p:blipFill>
        <p:spPr bwMode="auto">
          <a:xfrm>
            <a:off x="4643482" y="8229624"/>
            <a:ext cx="8115300" cy="1247775"/>
          </a:xfrm>
          <a:prstGeom prst="rect">
            <a:avLst/>
          </a:prstGeom>
          <a:noFill/>
          <a:ln w="9525">
            <a:noFill/>
            <a:miter lim="800000"/>
            <a:headEnd/>
            <a:tailEnd/>
          </a:ln>
          <a:effectLst/>
        </p:spPr>
      </p:pic>
      <p:pic>
        <p:nvPicPr>
          <p:cNvPr id="2061" name="Picture 13"/>
          <p:cNvPicPr>
            <a:picLocks noChangeAspect="1" noChangeArrowheads="1"/>
          </p:cNvPicPr>
          <p:nvPr/>
        </p:nvPicPr>
        <p:blipFill>
          <a:blip r:embed="rId12"/>
          <a:srcRect/>
          <a:stretch>
            <a:fillRect/>
          </a:stretch>
        </p:blipFill>
        <p:spPr bwMode="auto">
          <a:xfrm>
            <a:off x="4471974" y="8158186"/>
            <a:ext cx="8201025" cy="13620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5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5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5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6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0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pic>
        <p:nvPicPr>
          <p:cNvPr id="3074" name="Picture 2"/>
          <p:cNvPicPr>
            <a:picLocks noChangeAspect="1" noChangeArrowheads="1"/>
          </p:cNvPicPr>
          <p:nvPr/>
        </p:nvPicPr>
        <p:blipFill>
          <a:blip r:embed="rId2"/>
          <a:srcRect/>
          <a:stretch>
            <a:fillRect/>
          </a:stretch>
        </p:blipFill>
        <p:spPr bwMode="auto">
          <a:xfrm>
            <a:off x="4919707" y="300006"/>
            <a:ext cx="7839075" cy="4772025"/>
          </a:xfrm>
          <a:prstGeom prst="rect">
            <a:avLst/>
          </a:prstGeom>
          <a:noFill/>
          <a:ln w="9525">
            <a:noFill/>
            <a:miter lim="800000"/>
            <a:headEnd/>
            <a:tailEnd/>
          </a:ln>
          <a:effectLst/>
        </p:spPr>
      </p:pic>
      <p:sp>
        <p:nvSpPr>
          <p:cNvPr id="4" name="ZoneTexte 3"/>
          <p:cNvSpPr txBox="1"/>
          <p:nvPr/>
        </p:nvSpPr>
        <p:spPr>
          <a:xfrm>
            <a:off x="0" y="657196"/>
            <a:ext cx="5900734" cy="584775"/>
          </a:xfrm>
          <a:prstGeom prst="rect">
            <a:avLst/>
          </a:prstGeom>
          <a:noFill/>
        </p:spPr>
        <p:txBody>
          <a:bodyPr wrap="square" rtlCol="0">
            <a:spAutoFit/>
          </a:bodyPr>
          <a:lstStyle/>
          <a:p>
            <a:r>
              <a:rPr lang="fr-FR" sz="3200" b="1" dirty="0" smtClean="0">
                <a:solidFill>
                  <a:srgbClr val="FF0000"/>
                </a:solidFill>
                <a:latin typeface="Roboto"/>
              </a:rPr>
              <a:t>Rappel du cours</a:t>
            </a:r>
            <a:endParaRPr lang="fr-FR" sz="3200" b="1" dirty="0">
              <a:solidFill>
                <a:srgbClr val="FF0000"/>
              </a:solidFill>
              <a:latin typeface="Roboto"/>
            </a:endParaRPr>
          </a:p>
        </p:txBody>
      </p:sp>
      <p:sp>
        <p:nvSpPr>
          <p:cNvPr id="5" name="ZoneTexte 4"/>
          <p:cNvSpPr txBox="1"/>
          <p:nvPr/>
        </p:nvSpPr>
        <p:spPr>
          <a:xfrm>
            <a:off x="142876" y="1300138"/>
            <a:ext cx="4043346" cy="523220"/>
          </a:xfrm>
          <a:prstGeom prst="rect">
            <a:avLst/>
          </a:prstGeom>
          <a:noFill/>
        </p:spPr>
        <p:txBody>
          <a:bodyPr wrap="square" rtlCol="0">
            <a:spAutoFit/>
          </a:bodyPr>
          <a:lstStyle/>
          <a:p>
            <a:r>
              <a:rPr lang="fr-FR" sz="2800" dirty="0" smtClean="0">
                <a:latin typeface="Roboto"/>
              </a:rPr>
              <a:t>Localisation + taille</a:t>
            </a:r>
          </a:p>
        </p:txBody>
      </p:sp>
      <p:pic>
        <p:nvPicPr>
          <p:cNvPr id="3075" name="Picture 3"/>
          <p:cNvPicPr>
            <a:picLocks noChangeAspect="1" noChangeArrowheads="1"/>
          </p:cNvPicPr>
          <p:nvPr/>
        </p:nvPicPr>
        <p:blipFill>
          <a:blip r:embed="rId3"/>
          <a:srcRect/>
          <a:stretch>
            <a:fillRect/>
          </a:stretch>
        </p:blipFill>
        <p:spPr bwMode="auto">
          <a:xfrm>
            <a:off x="42818" y="3014650"/>
            <a:ext cx="4464486" cy="785818"/>
          </a:xfrm>
          <a:prstGeom prst="rect">
            <a:avLst/>
          </a:prstGeom>
          <a:noFill/>
          <a:ln w="9525">
            <a:noFill/>
            <a:miter lim="800000"/>
            <a:headEnd/>
            <a:tailEnd/>
          </a:ln>
          <a:effectLst/>
        </p:spPr>
      </p:pic>
      <p:sp>
        <p:nvSpPr>
          <p:cNvPr id="8" name="ZoneTexte 7"/>
          <p:cNvSpPr txBox="1"/>
          <p:nvPr/>
        </p:nvSpPr>
        <p:spPr>
          <a:xfrm>
            <a:off x="142876" y="1871642"/>
            <a:ext cx="4043346" cy="954107"/>
          </a:xfrm>
          <a:prstGeom prst="rect">
            <a:avLst/>
          </a:prstGeom>
          <a:noFill/>
        </p:spPr>
        <p:txBody>
          <a:bodyPr wrap="square" rtlCol="0">
            <a:spAutoFit/>
          </a:bodyPr>
          <a:lstStyle/>
          <a:p>
            <a:r>
              <a:rPr lang="fr-FR" sz="2800" dirty="0" smtClean="0">
                <a:latin typeface="Roboto"/>
              </a:rPr>
              <a:t>NLOG: </a:t>
            </a:r>
            <a:r>
              <a:rPr lang="fr-FR" sz="2800" dirty="0" err="1" smtClean="0">
                <a:latin typeface="Roboto"/>
              </a:rPr>
              <a:t>normalized</a:t>
            </a:r>
            <a:r>
              <a:rPr lang="fr-FR" sz="2800" dirty="0" smtClean="0">
                <a:latin typeface="Roboto"/>
              </a:rPr>
              <a:t> </a:t>
            </a:r>
            <a:r>
              <a:rPr lang="fr-FR" sz="2800" dirty="0" err="1" smtClean="0">
                <a:latin typeface="Roboto"/>
              </a:rPr>
              <a:t>Laplacian</a:t>
            </a:r>
            <a:r>
              <a:rPr lang="fr-FR" sz="2800" dirty="0" smtClean="0">
                <a:latin typeface="Roboto"/>
              </a:rPr>
              <a:t> of </a:t>
            </a:r>
            <a:r>
              <a:rPr lang="fr-FR" sz="2800" dirty="0" err="1" smtClean="0">
                <a:latin typeface="Roboto"/>
              </a:rPr>
              <a:t>Gaussian</a:t>
            </a:r>
            <a:endParaRPr lang="fr-FR" sz="2800" dirty="0" smtClean="0">
              <a:latin typeface="Roboto"/>
            </a:endParaRPr>
          </a:p>
        </p:txBody>
      </p:sp>
      <p:pic>
        <p:nvPicPr>
          <p:cNvPr id="3076" name="Picture 4"/>
          <p:cNvPicPr>
            <a:picLocks noChangeAspect="1" noChangeArrowheads="1"/>
          </p:cNvPicPr>
          <p:nvPr/>
        </p:nvPicPr>
        <p:blipFill>
          <a:blip r:embed="rId4"/>
          <a:srcRect/>
          <a:stretch>
            <a:fillRect/>
          </a:stretch>
        </p:blipFill>
        <p:spPr bwMode="auto">
          <a:xfrm>
            <a:off x="5257792" y="7443806"/>
            <a:ext cx="7143800" cy="1991451"/>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5614982" y="5300666"/>
            <a:ext cx="6643734" cy="201037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sp>
        <p:nvSpPr>
          <p:cNvPr id="4" name="ZoneTexte 3"/>
          <p:cNvSpPr txBox="1"/>
          <p:nvPr/>
        </p:nvSpPr>
        <p:spPr>
          <a:xfrm>
            <a:off x="0" y="657196"/>
            <a:ext cx="5900734" cy="584775"/>
          </a:xfrm>
          <a:prstGeom prst="rect">
            <a:avLst/>
          </a:prstGeom>
          <a:noFill/>
        </p:spPr>
        <p:txBody>
          <a:bodyPr wrap="square" rtlCol="0">
            <a:spAutoFit/>
          </a:bodyPr>
          <a:lstStyle/>
          <a:p>
            <a:r>
              <a:rPr lang="fr-FR" sz="3200" b="1" dirty="0" smtClean="0">
                <a:solidFill>
                  <a:srgbClr val="FF0000"/>
                </a:solidFill>
                <a:latin typeface="Roboto"/>
              </a:rPr>
              <a:t>Rappel du cours</a:t>
            </a:r>
            <a:endParaRPr lang="fr-FR" sz="3200" b="1" dirty="0">
              <a:solidFill>
                <a:srgbClr val="FF0000"/>
              </a:solidFill>
              <a:latin typeface="Roboto"/>
            </a:endParaRPr>
          </a:p>
        </p:txBody>
      </p:sp>
      <p:sp>
        <p:nvSpPr>
          <p:cNvPr id="5" name="ZoneTexte 4"/>
          <p:cNvSpPr txBox="1"/>
          <p:nvPr/>
        </p:nvSpPr>
        <p:spPr>
          <a:xfrm>
            <a:off x="42818" y="1205546"/>
            <a:ext cx="4043346" cy="523220"/>
          </a:xfrm>
          <a:prstGeom prst="rect">
            <a:avLst/>
          </a:prstGeom>
          <a:noFill/>
        </p:spPr>
        <p:txBody>
          <a:bodyPr wrap="square" rtlCol="0">
            <a:spAutoFit/>
          </a:bodyPr>
          <a:lstStyle/>
          <a:p>
            <a:r>
              <a:rPr lang="fr-FR" sz="2800" dirty="0" smtClean="0">
                <a:latin typeface="Roboto"/>
              </a:rPr>
              <a:t>Détecteur SIFT</a:t>
            </a:r>
          </a:p>
        </p:txBody>
      </p:sp>
      <p:sp>
        <p:nvSpPr>
          <p:cNvPr id="8" name="ZoneTexte 7"/>
          <p:cNvSpPr txBox="1"/>
          <p:nvPr/>
        </p:nvSpPr>
        <p:spPr>
          <a:xfrm>
            <a:off x="142876" y="1871642"/>
            <a:ext cx="6686552" cy="523220"/>
          </a:xfrm>
          <a:prstGeom prst="rect">
            <a:avLst/>
          </a:prstGeom>
          <a:noFill/>
        </p:spPr>
        <p:txBody>
          <a:bodyPr wrap="square" rtlCol="0">
            <a:spAutoFit/>
          </a:bodyPr>
          <a:lstStyle/>
          <a:p>
            <a:r>
              <a:rPr lang="fr-FR" sz="2800" dirty="0" smtClean="0">
                <a:latin typeface="Roboto"/>
              </a:rPr>
              <a:t>DOG une approximation de NLOG</a:t>
            </a:r>
          </a:p>
        </p:txBody>
      </p:sp>
      <p:pic>
        <p:nvPicPr>
          <p:cNvPr id="4098" name="Picture 2"/>
          <p:cNvPicPr>
            <a:picLocks noChangeAspect="1" noChangeArrowheads="1"/>
          </p:cNvPicPr>
          <p:nvPr/>
        </p:nvPicPr>
        <p:blipFill>
          <a:blip r:embed="rId2"/>
          <a:srcRect/>
          <a:stretch>
            <a:fillRect/>
          </a:stretch>
        </p:blipFill>
        <p:spPr bwMode="auto">
          <a:xfrm>
            <a:off x="7934360" y="14254"/>
            <a:ext cx="4681546" cy="3716346"/>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2300278" y="2443146"/>
            <a:ext cx="2743200" cy="371475"/>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85694" y="6206206"/>
            <a:ext cx="1900206" cy="1702782"/>
          </a:xfrm>
          <a:prstGeom prst="rect">
            <a:avLst/>
          </a:prstGeom>
          <a:noFill/>
          <a:ln w="9525">
            <a:noFill/>
            <a:miter lim="800000"/>
            <a:headEnd/>
            <a:tailEnd/>
          </a:ln>
          <a:effectLst/>
        </p:spPr>
      </p:pic>
      <p:pic>
        <p:nvPicPr>
          <p:cNvPr id="4101" name="Picture 5"/>
          <p:cNvPicPr>
            <a:picLocks noChangeAspect="1" noChangeArrowheads="1"/>
          </p:cNvPicPr>
          <p:nvPr/>
        </p:nvPicPr>
        <p:blipFill>
          <a:blip r:embed="rId5"/>
          <a:srcRect/>
          <a:stretch>
            <a:fillRect/>
          </a:stretch>
        </p:blipFill>
        <p:spPr bwMode="auto">
          <a:xfrm>
            <a:off x="2185958" y="4920322"/>
            <a:ext cx="1714512" cy="4104405"/>
          </a:xfrm>
          <a:prstGeom prst="rect">
            <a:avLst/>
          </a:prstGeom>
          <a:noFill/>
          <a:ln w="9525">
            <a:noFill/>
            <a:miter lim="800000"/>
            <a:headEnd/>
            <a:tailEnd/>
          </a:ln>
          <a:effectLst/>
        </p:spPr>
      </p:pic>
      <p:pic>
        <p:nvPicPr>
          <p:cNvPr id="4102" name="Picture 6"/>
          <p:cNvPicPr>
            <a:picLocks noChangeAspect="1" noChangeArrowheads="1"/>
          </p:cNvPicPr>
          <p:nvPr/>
        </p:nvPicPr>
        <p:blipFill>
          <a:blip r:embed="rId6"/>
          <a:srcRect/>
          <a:stretch>
            <a:fillRect/>
          </a:stretch>
        </p:blipFill>
        <p:spPr bwMode="auto">
          <a:xfrm>
            <a:off x="3971908" y="5134636"/>
            <a:ext cx="1928826" cy="3643338"/>
          </a:xfrm>
          <a:prstGeom prst="rect">
            <a:avLst/>
          </a:prstGeom>
          <a:noFill/>
          <a:ln w="9525">
            <a:noFill/>
            <a:miter lim="800000"/>
            <a:headEnd/>
            <a:tailEnd/>
          </a:ln>
          <a:effectLst/>
        </p:spPr>
      </p:pic>
      <p:pic>
        <p:nvPicPr>
          <p:cNvPr id="4103" name="Picture 7"/>
          <p:cNvPicPr>
            <a:picLocks noChangeAspect="1" noChangeArrowheads="1"/>
          </p:cNvPicPr>
          <p:nvPr/>
        </p:nvPicPr>
        <p:blipFill>
          <a:blip r:embed="rId7"/>
          <a:srcRect/>
          <a:stretch>
            <a:fillRect/>
          </a:stretch>
        </p:blipFill>
        <p:spPr bwMode="auto">
          <a:xfrm>
            <a:off x="5972172" y="5563264"/>
            <a:ext cx="3214711" cy="2914658"/>
          </a:xfrm>
          <a:prstGeom prst="rect">
            <a:avLst/>
          </a:prstGeom>
          <a:noFill/>
          <a:ln w="9525">
            <a:noFill/>
            <a:miter lim="800000"/>
            <a:headEnd/>
            <a:tailEnd/>
          </a:ln>
          <a:effectLst/>
        </p:spPr>
      </p:pic>
      <p:sp>
        <p:nvSpPr>
          <p:cNvPr id="16" name="ZoneTexte 15"/>
          <p:cNvSpPr txBox="1"/>
          <p:nvPr/>
        </p:nvSpPr>
        <p:spPr>
          <a:xfrm>
            <a:off x="2543148" y="8992288"/>
            <a:ext cx="857256" cy="523220"/>
          </a:xfrm>
          <a:prstGeom prst="rect">
            <a:avLst/>
          </a:prstGeom>
          <a:noFill/>
        </p:spPr>
        <p:txBody>
          <a:bodyPr wrap="square" rtlCol="0">
            <a:spAutoFit/>
          </a:bodyPr>
          <a:lstStyle/>
          <a:p>
            <a:pPr algn="ctr"/>
            <a:r>
              <a:rPr lang="fr-FR" sz="2800" b="1" dirty="0" smtClean="0">
                <a:solidFill>
                  <a:srgbClr val="FF0000"/>
                </a:solidFill>
              </a:rPr>
              <a:t>1</a:t>
            </a:r>
            <a:endParaRPr lang="fr-FR" sz="2800" b="1" dirty="0">
              <a:solidFill>
                <a:srgbClr val="FF0000"/>
              </a:solidFill>
            </a:endParaRPr>
          </a:p>
        </p:txBody>
      </p:sp>
      <p:pic>
        <p:nvPicPr>
          <p:cNvPr id="4104" name="Picture 8"/>
          <p:cNvPicPr>
            <a:picLocks noChangeAspect="1" noChangeArrowheads="1"/>
          </p:cNvPicPr>
          <p:nvPr/>
        </p:nvPicPr>
        <p:blipFill>
          <a:blip r:embed="rId8"/>
          <a:srcRect/>
          <a:stretch>
            <a:fillRect/>
          </a:stretch>
        </p:blipFill>
        <p:spPr bwMode="auto">
          <a:xfrm>
            <a:off x="9415479" y="5634726"/>
            <a:ext cx="3271865" cy="2928934"/>
          </a:xfrm>
          <a:prstGeom prst="rect">
            <a:avLst/>
          </a:prstGeom>
          <a:noFill/>
          <a:ln w="9525">
            <a:noFill/>
            <a:miter lim="800000"/>
            <a:headEnd/>
            <a:tailEnd/>
          </a:ln>
          <a:effectLst/>
        </p:spPr>
      </p:pic>
      <p:sp>
        <p:nvSpPr>
          <p:cNvPr id="18" name="ZoneTexte 17"/>
          <p:cNvSpPr txBox="1"/>
          <p:nvPr/>
        </p:nvSpPr>
        <p:spPr>
          <a:xfrm>
            <a:off x="4257660" y="8992288"/>
            <a:ext cx="857256" cy="523220"/>
          </a:xfrm>
          <a:prstGeom prst="rect">
            <a:avLst/>
          </a:prstGeom>
          <a:noFill/>
        </p:spPr>
        <p:txBody>
          <a:bodyPr wrap="square" rtlCol="0">
            <a:spAutoFit/>
          </a:bodyPr>
          <a:lstStyle/>
          <a:p>
            <a:pPr algn="ctr"/>
            <a:r>
              <a:rPr lang="fr-FR" sz="2800" b="1" dirty="0" smtClean="0">
                <a:solidFill>
                  <a:srgbClr val="FF0000"/>
                </a:solidFill>
              </a:rPr>
              <a:t>2</a:t>
            </a:r>
            <a:endParaRPr lang="fr-FR" sz="2800" b="1" dirty="0">
              <a:solidFill>
                <a:srgbClr val="FF0000"/>
              </a:solidFill>
            </a:endParaRPr>
          </a:p>
        </p:txBody>
      </p:sp>
      <p:sp>
        <p:nvSpPr>
          <p:cNvPr id="19" name="ZoneTexte 18"/>
          <p:cNvSpPr txBox="1"/>
          <p:nvPr/>
        </p:nvSpPr>
        <p:spPr>
          <a:xfrm>
            <a:off x="6757990" y="8992288"/>
            <a:ext cx="857256" cy="523220"/>
          </a:xfrm>
          <a:prstGeom prst="rect">
            <a:avLst/>
          </a:prstGeom>
          <a:noFill/>
        </p:spPr>
        <p:txBody>
          <a:bodyPr wrap="square" rtlCol="0">
            <a:spAutoFit/>
          </a:bodyPr>
          <a:lstStyle/>
          <a:p>
            <a:pPr algn="ctr"/>
            <a:r>
              <a:rPr lang="fr-FR" sz="2800" b="1" dirty="0" smtClean="0">
                <a:solidFill>
                  <a:srgbClr val="FF0000"/>
                </a:solidFill>
              </a:rPr>
              <a:t>3</a:t>
            </a:r>
            <a:endParaRPr lang="fr-FR" sz="2800" b="1" dirty="0">
              <a:solidFill>
                <a:srgbClr val="FF0000"/>
              </a:solidFill>
            </a:endParaRPr>
          </a:p>
        </p:txBody>
      </p:sp>
      <p:sp>
        <p:nvSpPr>
          <p:cNvPr id="20" name="ZoneTexte 19"/>
          <p:cNvSpPr txBox="1"/>
          <p:nvPr/>
        </p:nvSpPr>
        <p:spPr>
          <a:xfrm>
            <a:off x="10044138" y="8992288"/>
            <a:ext cx="857256" cy="523220"/>
          </a:xfrm>
          <a:prstGeom prst="rect">
            <a:avLst/>
          </a:prstGeom>
          <a:noFill/>
        </p:spPr>
        <p:txBody>
          <a:bodyPr wrap="square" rtlCol="0">
            <a:spAutoFit/>
          </a:bodyPr>
          <a:lstStyle/>
          <a:p>
            <a:pPr algn="ctr"/>
            <a:r>
              <a:rPr lang="fr-FR" sz="2800" b="1" dirty="0" smtClean="0">
                <a:solidFill>
                  <a:srgbClr val="FF0000"/>
                </a:solidFill>
              </a:rPr>
              <a:t>4</a:t>
            </a:r>
            <a:endParaRPr lang="fr-FR" sz="2800" b="1" dirty="0">
              <a:solidFill>
                <a:srgbClr val="FF0000"/>
              </a:solidFill>
            </a:endParaRPr>
          </a:p>
        </p:txBody>
      </p:sp>
      <p:pic>
        <p:nvPicPr>
          <p:cNvPr id="4105" name="Picture 9"/>
          <p:cNvPicPr>
            <a:picLocks noChangeAspect="1" noChangeArrowheads="1"/>
          </p:cNvPicPr>
          <p:nvPr/>
        </p:nvPicPr>
        <p:blipFill>
          <a:blip r:embed="rId9"/>
          <a:srcRect/>
          <a:stretch>
            <a:fillRect/>
          </a:stretch>
        </p:blipFill>
        <p:spPr bwMode="auto">
          <a:xfrm>
            <a:off x="2165810" y="4152902"/>
            <a:ext cx="1734660" cy="576260"/>
          </a:xfrm>
          <a:prstGeom prst="rect">
            <a:avLst/>
          </a:prstGeom>
          <a:noFill/>
          <a:ln w="9525">
            <a:noFill/>
            <a:miter lim="800000"/>
            <a:headEnd/>
            <a:tailEnd/>
          </a:ln>
          <a:effectLst/>
        </p:spPr>
      </p:pic>
      <p:pic>
        <p:nvPicPr>
          <p:cNvPr id="4107" name="Picture 11"/>
          <p:cNvPicPr>
            <a:picLocks noChangeAspect="1" noChangeArrowheads="1"/>
          </p:cNvPicPr>
          <p:nvPr/>
        </p:nvPicPr>
        <p:blipFill>
          <a:blip r:embed="rId10"/>
          <a:srcRect/>
          <a:stretch>
            <a:fillRect/>
          </a:stretch>
        </p:blipFill>
        <p:spPr bwMode="auto">
          <a:xfrm>
            <a:off x="4448167" y="4443410"/>
            <a:ext cx="809625" cy="447675"/>
          </a:xfrm>
          <a:prstGeom prst="rect">
            <a:avLst/>
          </a:prstGeom>
          <a:noFill/>
          <a:ln w="9525">
            <a:noFill/>
            <a:miter lim="800000"/>
            <a:headEnd/>
            <a:tailEnd/>
          </a:ln>
          <a:effectLst/>
        </p:spPr>
      </p:pic>
      <p:pic>
        <p:nvPicPr>
          <p:cNvPr id="4108" name="Picture 12"/>
          <p:cNvPicPr>
            <a:picLocks noChangeAspect="1" noChangeArrowheads="1"/>
          </p:cNvPicPr>
          <p:nvPr/>
        </p:nvPicPr>
        <p:blipFill>
          <a:blip r:embed="rId11"/>
          <a:srcRect/>
          <a:stretch>
            <a:fillRect/>
          </a:stretch>
        </p:blipFill>
        <p:spPr bwMode="auto">
          <a:xfrm>
            <a:off x="6400800" y="4842672"/>
            <a:ext cx="2000264" cy="600870"/>
          </a:xfrm>
          <a:prstGeom prst="rect">
            <a:avLst/>
          </a:prstGeom>
          <a:noFill/>
          <a:ln w="9525">
            <a:noFill/>
            <a:miter lim="800000"/>
            <a:headEnd/>
            <a:tailEnd/>
          </a:ln>
          <a:effectLst/>
        </p:spPr>
      </p:pic>
      <p:pic>
        <p:nvPicPr>
          <p:cNvPr id="4109" name="Picture 13"/>
          <p:cNvPicPr>
            <a:picLocks noChangeAspect="1" noChangeArrowheads="1"/>
          </p:cNvPicPr>
          <p:nvPr/>
        </p:nvPicPr>
        <p:blipFill>
          <a:blip r:embed="rId12"/>
          <a:srcRect/>
          <a:stretch>
            <a:fillRect/>
          </a:stretch>
        </p:blipFill>
        <p:spPr bwMode="auto">
          <a:xfrm>
            <a:off x="6829428" y="8515376"/>
            <a:ext cx="2357454" cy="355711"/>
          </a:xfrm>
          <a:prstGeom prst="rect">
            <a:avLst/>
          </a:prstGeom>
          <a:noFill/>
          <a:ln w="9525">
            <a:noFill/>
            <a:miter lim="800000"/>
            <a:headEnd/>
            <a:tailEnd/>
          </a:ln>
          <a:effectLst/>
        </p:spPr>
      </p:pic>
      <p:pic>
        <p:nvPicPr>
          <p:cNvPr id="4110" name="Picture 14"/>
          <p:cNvPicPr>
            <a:picLocks noChangeAspect="1" noChangeArrowheads="1"/>
          </p:cNvPicPr>
          <p:nvPr/>
        </p:nvPicPr>
        <p:blipFill>
          <a:blip r:embed="rId13"/>
          <a:srcRect/>
          <a:stretch>
            <a:fillRect/>
          </a:stretch>
        </p:blipFill>
        <p:spPr bwMode="auto">
          <a:xfrm>
            <a:off x="9686948" y="4657724"/>
            <a:ext cx="2024067" cy="83754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0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0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0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10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0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6"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sp>
        <p:nvSpPr>
          <p:cNvPr id="3" name="ZoneTexte 2"/>
          <p:cNvSpPr txBox="1"/>
          <p:nvPr/>
        </p:nvSpPr>
        <p:spPr>
          <a:xfrm>
            <a:off x="0" y="657196"/>
            <a:ext cx="5900734" cy="584775"/>
          </a:xfrm>
          <a:prstGeom prst="rect">
            <a:avLst/>
          </a:prstGeom>
          <a:noFill/>
        </p:spPr>
        <p:txBody>
          <a:bodyPr wrap="square" rtlCol="0">
            <a:spAutoFit/>
          </a:bodyPr>
          <a:lstStyle/>
          <a:p>
            <a:r>
              <a:rPr lang="fr-FR" sz="3200" b="1" dirty="0" smtClean="0">
                <a:solidFill>
                  <a:srgbClr val="FF0000"/>
                </a:solidFill>
                <a:latin typeface="Roboto"/>
              </a:rPr>
              <a:t>Rappel du cours</a:t>
            </a:r>
            <a:endParaRPr lang="fr-FR" sz="3200" b="1" dirty="0">
              <a:solidFill>
                <a:srgbClr val="FF0000"/>
              </a:solidFill>
              <a:latin typeface="Roboto"/>
            </a:endParaRPr>
          </a:p>
        </p:txBody>
      </p:sp>
      <p:sp>
        <p:nvSpPr>
          <p:cNvPr id="4" name="ZoneTexte 3"/>
          <p:cNvSpPr txBox="1"/>
          <p:nvPr/>
        </p:nvSpPr>
        <p:spPr>
          <a:xfrm>
            <a:off x="42818" y="1205546"/>
            <a:ext cx="4043346" cy="523220"/>
          </a:xfrm>
          <a:prstGeom prst="rect">
            <a:avLst/>
          </a:prstGeom>
          <a:noFill/>
        </p:spPr>
        <p:txBody>
          <a:bodyPr wrap="square" rtlCol="0">
            <a:spAutoFit/>
          </a:bodyPr>
          <a:lstStyle/>
          <a:p>
            <a:r>
              <a:rPr lang="fr-FR" sz="2800" dirty="0" smtClean="0">
                <a:latin typeface="Roboto"/>
              </a:rPr>
              <a:t>Descripteur SIFT</a:t>
            </a:r>
          </a:p>
        </p:txBody>
      </p:sp>
      <p:sp>
        <p:nvSpPr>
          <p:cNvPr id="5" name="ZoneTexte 4"/>
          <p:cNvSpPr txBox="1"/>
          <p:nvPr/>
        </p:nvSpPr>
        <p:spPr>
          <a:xfrm>
            <a:off x="142876" y="1657328"/>
            <a:ext cx="11901526" cy="523220"/>
          </a:xfrm>
          <a:prstGeom prst="rect">
            <a:avLst/>
          </a:prstGeom>
          <a:noFill/>
        </p:spPr>
        <p:txBody>
          <a:bodyPr wrap="square" rtlCol="0">
            <a:spAutoFit/>
          </a:bodyPr>
          <a:lstStyle/>
          <a:p>
            <a:r>
              <a:rPr lang="fr-FR" sz="2800" dirty="0" smtClean="0">
                <a:latin typeface="Roboto"/>
              </a:rPr>
              <a:t>On a trouvé les points d’</a:t>
            </a:r>
            <a:r>
              <a:rPr lang="fr-FR" sz="2800" dirty="0" err="1" smtClean="0">
                <a:latin typeface="Roboto"/>
              </a:rPr>
              <a:t>intérets</a:t>
            </a:r>
            <a:r>
              <a:rPr lang="fr-FR" sz="2800" dirty="0" smtClean="0">
                <a:latin typeface="Roboto"/>
              </a:rPr>
              <a:t> avec SIFT et on a leur postions et tailles</a:t>
            </a:r>
          </a:p>
        </p:txBody>
      </p:sp>
      <p:pic>
        <p:nvPicPr>
          <p:cNvPr id="5122" name="Picture 2"/>
          <p:cNvPicPr>
            <a:picLocks noChangeAspect="1" noChangeArrowheads="1"/>
          </p:cNvPicPr>
          <p:nvPr/>
        </p:nvPicPr>
        <p:blipFill>
          <a:blip r:embed="rId2"/>
          <a:srcRect/>
          <a:stretch>
            <a:fillRect/>
          </a:stretch>
        </p:blipFill>
        <p:spPr bwMode="auto">
          <a:xfrm>
            <a:off x="6543676" y="2371708"/>
            <a:ext cx="5838825" cy="224790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42818" y="3586154"/>
            <a:ext cx="2847975" cy="2762250"/>
          </a:xfrm>
          <a:prstGeom prst="rect">
            <a:avLst/>
          </a:prstGeom>
          <a:noFill/>
          <a:ln w="9525">
            <a:noFill/>
            <a:miter lim="800000"/>
            <a:headEnd/>
            <a:tailEnd/>
          </a:ln>
          <a:effectLst/>
        </p:spPr>
      </p:pic>
      <p:sp>
        <p:nvSpPr>
          <p:cNvPr id="8" name="ZoneTexte 7"/>
          <p:cNvSpPr txBox="1"/>
          <p:nvPr/>
        </p:nvSpPr>
        <p:spPr>
          <a:xfrm>
            <a:off x="142876" y="2201159"/>
            <a:ext cx="3829032" cy="1384995"/>
          </a:xfrm>
          <a:prstGeom prst="rect">
            <a:avLst/>
          </a:prstGeom>
          <a:noFill/>
        </p:spPr>
        <p:txBody>
          <a:bodyPr wrap="square" rtlCol="0">
            <a:spAutoFit/>
          </a:bodyPr>
          <a:lstStyle/>
          <a:p>
            <a:pPr algn="just"/>
            <a:r>
              <a:rPr lang="fr-FR" sz="2800" dirty="0" smtClean="0">
                <a:latin typeface="Roboto"/>
              </a:rPr>
              <a:t>On va calculer les gradients de chaque blob</a:t>
            </a:r>
            <a:endParaRPr lang="fr-FR" sz="2800" dirty="0">
              <a:latin typeface="Roboto"/>
            </a:endParaRPr>
          </a:p>
        </p:txBody>
      </p:sp>
      <p:pic>
        <p:nvPicPr>
          <p:cNvPr id="5124" name="Picture 4"/>
          <p:cNvPicPr>
            <a:picLocks noChangeAspect="1" noChangeArrowheads="1"/>
          </p:cNvPicPr>
          <p:nvPr/>
        </p:nvPicPr>
        <p:blipFill>
          <a:blip r:embed="rId4"/>
          <a:srcRect/>
          <a:stretch>
            <a:fillRect/>
          </a:stretch>
        </p:blipFill>
        <p:spPr bwMode="auto">
          <a:xfrm>
            <a:off x="3105107" y="3919512"/>
            <a:ext cx="2687879" cy="2190748"/>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a:srcRect/>
          <a:stretch>
            <a:fillRect/>
          </a:stretch>
        </p:blipFill>
        <p:spPr bwMode="auto">
          <a:xfrm>
            <a:off x="461901" y="6348404"/>
            <a:ext cx="5214974" cy="2007534"/>
          </a:xfrm>
          <a:prstGeom prst="rect">
            <a:avLst/>
          </a:prstGeom>
          <a:noFill/>
          <a:ln w="9525">
            <a:noFill/>
            <a:miter lim="800000"/>
            <a:headEnd/>
            <a:tailEnd/>
          </a:ln>
          <a:effectLst/>
        </p:spPr>
      </p:pic>
      <p:pic>
        <p:nvPicPr>
          <p:cNvPr id="5127" name="Picture 7"/>
          <p:cNvPicPr>
            <a:picLocks noChangeAspect="1" noChangeArrowheads="1"/>
          </p:cNvPicPr>
          <p:nvPr/>
        </p:nvPicPr>
        <p:blipFill>
          <a:blip r:embed="rId6"/>
          <a:srcRect/>
          <a:stretch>
            <a:fillRect/>
          </a:stretch>
        </p:blipFill>
        <p:spPr bwMode="auto">
          <a:xfrm>
            <a:off x="6257924" y="4800600"/>
            <a:ext cx="6215106" cy="4178291"/>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pic>
        <p:nvPicPr>
          <p:cNvPr id="6146" name="Picture 2"/>
          <p:cNvPicPr>
            <a:picLocks noChangeAspect="1" noChangeArrowheads="1"/>
          </p:cNvPicPr>
          <p:nvPr/>
        </p:nvPicPr>
        <p:blipFill>
          <a:blip r:embed="rId2"/>
          <a:srcRect/>
          <a:stretch>
            <a:fillRect/>
          </a:stretch>
        </p:blipFill>
        <p:spPr bwMode="auto">
          <a:xfrm>
            <a:off x="1543016" y="0"/>
            <a:ext cx="11258584" cy="871510"/>
          </a:xfrm>
          <a:prstGeom prst="rect">
            <a:avLst/>
          </a:prstGeom>
          <a:noFill/>
          <a:ln w="9525">
            <a:noFill/>
            <a:miter lim="800000"/>
            <a:headEnd/>
            <a:tailEnd/>
          </a:ln>
          <a:effectLst/>
        </p:spPr>
      </p:pic>
      <p:graphicFrame>
        <p:nvGraphicFramePr>
          <p:cNvPr id="4" name="Tableau 3"/>
          <p:cNvGraphicFramePr>
            <a:graphicFrameLocks noGrp="1"/>
          </p:cNvGraphicFramePr>
          <p:nvPr/>
        </p:nvGraphicFramePr>
        <p:xfrm>
          <a:off x="257132" y="30860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17</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17</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17</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9" name="Tableau 8"/>
          <p:cNvGraphicFramePr>
            <a:graphicFrameLocks noGrp="1"/>
          </p:cNvGraphicFramePr>
          <p:nvPr/>
        </p:nvGraphicFramePr>
        <p:xfrm>
          <a:off x="2776540" y="30860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17</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Tableau 9"/>
          <p:cNvGraphicFramePr>
            <a:graphicFrameLocks noGrp="1"/>
          </p:cNvGraphicFramePr>
          <p:nvPr/>
        </p:nvGraphicFramePr>
        <p:xfrm>
          <a:off x="5348308" y="30860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19</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1" name="Tableau 10"/>
          <p:cNvGraphicFramePr>
            <a:graphicFrameLocks noGrp="1"/>
          </p:cNvGraphicFramePr>
          <p:nvPr/>
        </p:nvGraphicFramePr>
        <p:xfrm>
          <a:off x="7920076" y="30860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2" name="Tableau 11"/>
          <p:cNvGraphicFramePr>
            <a:graphicFrameLocks noGrp="1"/>
          </p:cNvGraphicFramePr>
          <p:nvPr/>
        </p:nvGraphicFramePr>
        <p:xfrm>
          <a:off x="10420406" y="30860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i="0" dirty="0" smtClean="0">
                          <a:solidFill>
                            <a:schemeClr val="tx1"/>
                          </a:solidFill>
                        </a:rPr>
                        <a:t>20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10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20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8</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i="0" dirty="0" smtClean="0">
                          <a:solidFill>
                            <a:schemeClr val="tx1"/>
                          </a:solidFill>
                        </a:rPr>
                        <a:t>20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37</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10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8</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i="0" dirty="0" smtClean="0">
                          <a:solidFill>
                            <a:schemeClr val="tx1"/>
                          </a:solidFill>
                        </a:rPr>
                        <a:t>16</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8</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20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10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i="0" dirty="0" smtClean="0">
                          <a:solidFill>
                            <a:schemeClr val="tx1"/>
                          </a:solidFill>
                        </a:rPr>
                        <a:t>12</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10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9</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i="0" dirty="0" smtClean="0">
                          <a:solidFill>
                            <a:schemeClr val="tx1"/>
                          </a:solidFill>
                        </a:rPr>
                        <a:t>10</a:t>
                      </a:r>
                      <a:endParaRPr lang="fr-FR" sz="2000" b="0" i="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6147" name="Picture 3"/>
          <p:cNvPicPr>
            <a:picLocks noChangeAspect="1" noChangeArrowheads="1"/>
          </p:cNvPicPr>
          <p:nvPr/>
        </p:nvPicPr>
        <p:blipFill>
          <a:blip r:embed="rId3"/>
          <a:srcRect/>
          <a:stretch>
            <a:fillRect/>
          </a:stretch>
        </p:blipFill>
        <p:spPr bwMode="auto">
          <a:xfrm>
            <a:off x="42818" y="871510"/>
            <a:ext cx="12658724" cy="1571636"/>
          </a:xfrm>
          <a:prstGeom prst="rect">
            <a:avLst/>
          </a:prstGeom>
          <a:noFill/>
          <a:ln w="9525">
            <a:noFill/>
            <a:miter lim="800000"/>
            <a:headEnd/>
            <a:tailEnd/>
          </a:ln>
          <a:effectLst/>
        </p:spPr>
      </p:pic>
      <p:sp>
        <p:nvSpPr>
          <p:cNvPr id="24" name="Rectangle à coins arrondis 23"/>
          <p:cNvSpPr/>
          <p:nvPr/>
        </p:nvSpPr>
        <p:spPr>
          <a:xfrm>
            <a:off x="3971908" y="871510"/>
            <a:ext cx="857256" cy="500066"/>
          </a:xfrm>
          <a:prstGeom prst="roundRect">
            <a:avLst/>
          </a:prstGeom>
          <a:solidFill>
            <a:srgbClr val="00B0F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à coins arrondis 24"/>
          <p:cNvSpPr/>
          <p:nvPr/>
        </p:nvSpPr>
        <p:spPr>
          <a:xfrm>
            <a:off x="8543940" y="871510"/>
            <a:ext cx="4257660" cy="500066"/>
          </a:xfrm>
          <a:prstGeom prst="roundRect">
            <a:avLst/>
          </a:prstGeom>
          <a:solidFill>
            <a:srgbClr val="00B0F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à coins arrondis 25"/>
          <p:cNvSpPr/>
          <p:nvPr/>
        </p:nvSpPr>
        <p:spPr>
          <a:xfrm>
            <a:off x="0" y="1300138"/>
            <a:ext cx="1900206" cy="571504"/>
          </a:xfrm>
          <a:prstGeom prst="roundRect">
            <a:avLst/>
          </a:prstGeom>
          <a:solidFill>
            <a:srgbClr val="00B0F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à coins arrondis 26"/>
          <p:cNvSpPr/>
          <p:nvPr/>
        </p:nvSpPr>
        <p:spPr>
          <a:xfrm>
            <a:off x="2686024" y="1371576"/>
            <a:ext cx="6643734" cy="500066"/>
          </a:xfrm>
          <a:prstGeom prst="roundRect">
            <a:avLst/>
          </a:prstGeom>
          <a:solidFill>
            <a:srgbClr val="00B0F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148" name="Picture 4"/>
          <p:cNvPicPr>
            <a:picLocks noChangeAspect="1" noChangeArrowheads="1"/>
          </p:cNvPicPr>
          <p:nvPr/>
        </p:nvPicPr>
        <p:blipFill>
          <a:blip r:embed="rId4"/>
          <a:srcRect/>
          <a:stretch>
            <a:fillRect/>
          </a:stretch>
        </p:blipFill>
        <p:spPr bwMode="auto">
          <a:xfrm>
            <a:off x="828636" y="2509091"/>
            <a:ext cx="657227" cy="505559"/>
          </a:xfrm>
          <a:prstGeom prst="rect">
            <a:avLst/>
          </a:prstGeom>
          <a:noFill/>
          <a:ln w="9525">
            <a:noFill/>
            <a:miter lim="800000"/>
            <a:headEnd/>
            <a:tailEnd/>
          </a:ln>
          <a:effectLst/>
        </p:spPr>
      </p:pic>
      <p:pic>
        <p:nvPicPr>
          <p:cNvPr id="6149" name="Picture 5"/>
          <p:cNvPicPr>
            <a:picLocks noChangeAspect="1" noChangeArrowheads="1"/>
          </p:cNvPicPr>
          <p:nvPr/>
        </p:nvPicPr>
        <p:blipFill>
          <a:blip r:embed="rId5"/>
          <a:srcRect/>
          <a:stretch>
            <a:fillRect/>
          </a:stretch>
        </p:blipFill>
        <p:spPr bwMode="auto">
          <a:xfrm>
            <a:off x="3471842" y="2657460"/>
            <a:ext cx="547690" cy="287537"/>
          </a:xfrm>
          <a:prstGeom prst="rect">
            <a:avLst/>
          </a:prstGeom>
          <a:noFill/>
          <a:ln w="9525">
            <a:noFill/>
            <a:miter lim="800000"/>
            <a:headEnd/>
            <a:tailEnd/>
          </a:ln>
          <a:effectLst/>
        </p:spPr>
      </p:pic>
      <p:pic>
        <p:nvPicPr>
          <p:cNvPr id="6150" name="Picture 6"/>
          <p:cNvPicPr>
            <a:picLocks noChangeAspect="1" noChangeArrowheads="1"/>
          </p:cNvPicPr>
          <p:nvPr/>
        </p:nvPicPr>
        <p:blipFill>
          <a:blip r:embed="rId6"/>
          <a:srcRect/>
          <a:stretch>
            <a:fillRect/>
          </a:stretch>
        </p:blipFill>
        <p:spPr bwMode="auto">
          <a:xfrm>
            <a:off x="6115048" y="2586022"/>
            <a:ext cx="565864" cy="500066"/>
          </a:xfrm>
          <a:prstGeom prst="rect">
            <a:avLst/>
          </a:prstGeom>
          <a:noFill/>
          <a:ln w="9525">
            <a:noFill/>
            <a:miter lim="800000"/>
            <a:headEnd/>
            <a:tailEnd/>
          </a:ln>
          <a:effectLst/>
        </p:spPr>
      </p:pic>
      <p:pic>
        <p:nvPicPr>
          <p:cNvPr id="6151" name="Picture 7"/>
          <p:cNvPicPr>
            <a:picLocks noChangeAspect="1" noChangeArrowheads="1"/>
          </p:cNvPicPr>
          <p:nvPr/>
        </p:nvPicPr>
        <p:blipFill>
          <a:blip r:embed="rId7"/>
          <a:srcRect/>
          <a:stretch>
            <a:fillRect/>
          </a:stretch>
        </p:blipFill>
        <p:spPr bwMode="auto">
          <a:xfrm>
            <a:off x="8686819" y="2659049"/>
            <a:ext cx="571501" cy="355601"/>
          </a:xfrm>
          <a:prstGeom prst="rect">
            <a:avLst/>
          </a:prstGeom>
          <a:noFill/>
          <a:ln w="9525">
            <a:noFill/>
            <a:miter lim="800000"/>
            <a:headEnd/>
            <a:tailEnd/>
          </a:ln>
          <a:effectLst/>
        </p:spPr>
      </p:pic>
      <p:pic>
        <p:nvPicPr>
          <p:cNvPr id="6152" name="Picture 8"/>
          <p:cNvPicPr>
            <a:picLocks noChangeAspect="1" noChangeArrowheads="1"/>
          </p:cNvPicPr>
          <p:nvPr/>
        </p:nvPicPr>
        <p:blipFill>
          <a:blip r:embed="rId8"/>
          <a:srcRect/>
          <a:stretch>
            <a:fillRect/>
          </a:stretch>
        </p:blipFill>
        <p:spPr bwMode="auto">
          <a:xfrm>
            <a:off x="11187146" y="2572895"/>
            <a:ext cx="495301" cy="441755"/>
          </a:xfrm>
          <a:prstGeom prst="rect">
            <a:avLst/>
          </a:prstGeom>
          <a:noFill/>
          <a:ln w="9525">
            <a:noFill/>
            <a:miter lim="800000"/>
            <a:headEnd/>
            <a:tailEnd/>
          </a:ln>
          <a:effectLst/>
        </p:spPr>
      </p:pic>
      <p:graphicFrame>
        <p:nvGraphicFramePr>
          <p:cNvPr id="33" name="Tableau 32"/>
          <p:cNvGraphicFramePr>
            <a:graphicFrameLocks noGrp="1"/>
          </p:cNvGraphicFramePr>
          <p:nvPr/>
        </p:nvGraphicFramePr>
        <p:xfrm>
          <a:off x="1685892" y="66579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7" name="Tableau 36"/>
          <p:cNvGraphicFramePr>
            <a:graphicFrameLocks noGrp="1"/>
          </p:cNvGraphicFramePr>
          <p:nvPr/>
        </p:nvGraphicFramePr>
        <p:xfrm>
          <a:off x="4257660" y="66579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9" name="Tableau 38"/>
          <p:cNvGraphicFramePr>
            <a:graphicFrameLocks noGrp="1"/>
          </p:cNvGraphicFramePr>
          <p:nvPr/>
        </p:nvGraphicFramePr>
        <p:xfrm>
          <a:off x="6972304" y="66579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41" name="Tableau 40"/>
          <p:cNvGraphicFramePr>
            <a:graphicFrameLocks noGrp="1"/>
          </p:cNvGraphicFramePr>
          <p:nvPr/>
        </p:nvGraphicFramePr>
        <p:xfrm>
          <a:off x="9686948" y="6657986"/>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47" name="Groupe 46"/>
          <p:cNvGrpSpPr/>
          <p:nvPr/>
        </p:nvGrpSpPr>
        <p:grpSpPr>
          <a:xfrm>
            <a:off x="1400140" y="5372103"/>
            <a:ext cx="2143141" cy="928695"/>
            <a:chOff x="1400140" y="5372103"/>
            <a:chExt cx="2143141" cy="928695"/>
          </a:xfrm>
        </p:grpSpPr>
        <p:sp>
          <p:nvSpPr>
            <p:cNvPr id="36" name="Ellipse 35"/>
            <p:cNvSpPr/>
            <p:nvPr/>
          </p:nvSpPr>
          <p:spPr>
            <a:xfrm>
              <a:off x="2185958" y="5872170"/>
              <a:ext cx="500066"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t>
              </a:r>
              <a:endParaRPr lang="fr-FR" dirty="0"/>
            </a:p>
          </p:txBody>
        </p:sp>
        <p:cxnSp>
          <p:nvCxnSpPr>
            <p:cNvPr id="44" name="Connecteur droit avec flèche 43"/>
            <p:cNvCxnSpPr>
              <a:endCxn id="36" idx="1"/>
            </p:cNvCxnSpPr>
            <p:nvPr/>
          </p:nvCxnSpPr>
          <p:spPr>
            <a:xfrm>
              <a:off x="1400140" y="5372104"/>
              <a:ext cx="859051"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Connecteur droit avec flèche 45"/>
            <p:cNvCxnSpPr>
              <a:endCxn id="36" idx="7"/>
            </p:cNvCxnSpPr>
            <p:nvPr/>
          </p:nvCxnSpPr>
          <p:spPr>
            <a:xfrm rot="10800000" flipV="1">
              <a:off x="2612792" y="5372103"/>
              <a:ext cx="930489"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8" name="Groupe 47"/>
          <p:cNvGrpSpPr/>
          <p:nvPr/>
        </p:nvGrpSpPr>
        <p:grpSpPr>
          <a:xfrm>
            <a:off x="4043345" y="5443542"/>
            <a:ext cx="2143141" cy="928695"/>
            <a:chOff x="1400140" y="5372103"/>
            <a:chExt cx="2143141" cy="928695"/>
          </a:xfrm>
        </p:grpSpPr>
        <p:sp>
          <p:nvSpPr>
            <p:cNvPr id="49" name="Ellipse 48"/>
            <p:cNvSpPr/>
            <p:nvPr/>
          </p:nvSpPr>
          <p:spPr>
            <a:xfrm>
              <a:off x="2185958" y="5872170"/>
              <a:ext cx="500066"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t>
              </a:r>
              <a:endParaRPr lang="fr-FR" dirty="0"/>
            </a:p>
          </p:txBody>
        </p:sp>
        <p:cxnSp>
          <p:nvCxnSpPr>
            <p:cNvPr id="50" name="Connecteur droit avec flèche 49"/>
            <p:cNvCxnSpPr>
              <a:endCxn id="49" idx="1"/>
            </p:cNvCxnSpPr>
            <p:nvPr/>
          </p:nvCxnSpPr>
          <p:spPr>
            <a:xfrm>
              <a:off x="1400140" y="5372104"/>
              <a:ext cx="859051"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Connecteur droit avec flèche 50"/>
            <p:cNvCxnSpPr>
              <a:endCxn id="49" idx="7"/>
            </p:cNvCxnSpPr>
            <p:nvPr/>
          </p:nvCxnSpPr>
          <p:spPr>
            <a:xfrm rot="10800000" flipV="1">
              <a:off x="2612792" y="5372103"/>
              <a:ext cx="930489"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2" name="Groupe 51"/>
          <p:cNvGrpSpPr/>
          <p:nvPr/>
        </p:nvGrpSpPr>
        <p:grpSpPr>
          <a:xfrm>
            <a:off x="6686551" y="5443542"/>
            <a:ext cx="2143141" cy="928695"/>
            <a:chOff x="1400140" y="5372103"/>
            <a:chExt cx="2143141" cy="928695"/>
          </a:xfrm>
        </p:grpSpPr>
        <p:sp>
          <p:nvSpPr>
            <p:cNvPr id="53" name="Ellipse 52"/>
            <p:cNvSpPr/>
            <p:nvPr/>
          </p:nvSpPr>
          <p:spPr>
            <a:xfrm>
              <a:off x="2185958" y="5872170"/>
              <a:ext cx="500066"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t>
              </a:r>
              <a:endParaRPr lang="fr-FR" dirty="0"/>
            </a:p>
          </p:txBody>
        </p:sp>
        <p:cxnSp>
          <p:nvCxnSpPr>
            <p:cNvPr id="54" name="Connecteur droit avec flèche 53"/>
            <p:cNvCxnSpPr>
              <a:endCxn id="53" idx="1"/>
            </p:cNvCxnSpPr>
            <p:nvPr/>
          </p:nvCxnSpPr>
          <p:spPr>
            <a:xfrm>
              <a:off x="1400140" y="5372104"/>
              <a:ext cx="859051"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Connecteur droit avec flèche 54"/>
            <p:cNvCxnSpPr>
              <a:endCxn id="53" idx="7"/>
            </p:cNvCxnSpPr>
            <p:nvPr/>
          </p:nvCxnSpPr>
          <p:spPr>
            <a:xfrm rot="10800000" flipV="1">
              <a:off x="2612792" y="5372103"/>
              <a:ext cx="930489"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6" name="Groupe 55"/>
          <p:cNvGrpSpPr/>
          <p:nvPr/>
        </p:nvGrpSpPr>
        <p:grpSpPr>
          <a:xfrm>
            <a:off x="9401195" y="5443542"/>
            <a:ext cx="2143141" cy="928695"/>
            <a:chOff x="1400140" y="5372103"/>
            <a:chExt cx="2143141" cy="928695"/>
          </a:xfrm>
        </p:grpSpPr>
        <p:sp>
          <p:nvSpPr>
            <p:cNvPr id="57" name="Ellipse 56"/>
            <p:cNvSpPr/>
            <p:nvPr/>
          </p:nvSpPr>
          <p:spPr>
            <a:xfrm>
              <a:off x="2185958" y="5872170"/>
              <a:ext cx="500066" cy="428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a:t>
              </a:r>
              <a:endParaRPr lang="fr-FR" dirty="0"/>
            </a:p>
          </p:txBody>
        </p:sp>
        <p:cxnSp>
          <p:nvCxnSpPr>
            <p:cNvPr id="58" name="Connecteur droit avec flèche 57"/>
            <p:cNvCxnSpPr>
              <a:endCxn id="57" idx="1"/>
            </p:cNvCxnSpPr>
            <p:nvPr/>
          </p:nvCxnSpPr>
          <p:spPr>
            <a:xfrm>
              <a:off x="1400140" y="5372104"/>
              <a:ext cx="859051"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avec flèche 58"/>
            <p:cNvCxnSpPr>
              <a:endCxn id="57" idx="7"/>
            </p:cNvCxnSpPr>
            <p:nvPr/>
          </p:nvCxnSpPr>
          <p:spPr>
            <a:xfrm rot="10800000" flipV="1">
              <a:off x="2612792" y="5372103"/>
              <a:ext cx="930489" cy="56283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pic>
        <p:nvPicPr>
          <p:cNvPr id="60" name="Picture 11"/>
          <p:cNvPicPr>
            <a:picLocks noChangeAspect="1" noChangeArrowheads="1"/>
          </p:cNvPicPr>
          <p:nvPr/>
        </p:nvPicPr>
        <p:blipFill>
          <a:blip r:embed="rId9"/>
          <a:srcRect/>
          <a:stretch>
            <a:fillRect/>
          </a:stretch>
        </p:blipFill>
        <p:spPr bwMode="auto">
          <a:xfrm>
            <a:off x="542884" y="7496197"/>
            <a:ext cx="809625" cy="447675"/>
          </a:xfrm>
          <a:prstGeom prst="rect">
            <a:avLst/>
          </a:prstGeom>
          <a:noFill/>
          <a:ln w="9525">
            <a:noFill/>
            <a:miter lim="800000"/>
            <a:headEnd/>
            <a:tailEnd/>
          </a:ln>
          <a:effectLst/>
        </p:spPr>
      </p:pic>
      <p:sp>
        <p:nvSpPr>
          <p:cNvPr id="61" name="ZoneTexte 60"/>
          <p:cNvSpPr txBox="1"/>
          <p:nvPr/>
        </p:nvSpPr>
        <p:spPr>
          <a:xfrm>
            <a:off x="0" y="8158186"/>
            <a:ext cx="1757330" cy="1200329"/>
          </a:xfrm>
          <a:prstGeom prst="rect">
            <a:avLst/>
          </a:prstGeom>
          <a:noFill/>
        </p:spPr>
        <p:txBody>
          <a:bodyPr wrap="square" rtlCol="0">
            <a:spAutoFit/>
          </a:bodyPr>
          <a:lstStyle/>
          <a:p>
            <a:r>
              <a:rPr lang="fr-FR" dirty="0" smtClean="0"/>
              <a:t>Espace d’échelles (</a:t>
            </a:r>
            <a:r>
              <a:rPr lang="fr-FR" dirty="0" err="1" smtClean="0"/>
              <a:t>scale</a:t>
            </a:r>
            <a:r>
              <a:rPr lang="fr-FR" dirty="0" smtClean="0"/>
              <a:t>)</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6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graphicFrame>
        <p:nvGraphicFramePr>
          <p:cNvPr id="3" name="Tableau 2"/>
          <p:cNvGraphicFramePr>
            <a:graphicFrameLocks noGrp="1"/>
          </p:cNvGraphicFramePr>
          <p:nvPr/>
        </p:nvGraphicFramePr>
        <p:xfrm>
          <a:off x="1490656"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4" name="Tableau 3"/>
          <p:cNvGraphicFramePr>
            <a:graphicFrameLocks noGrp="1"/>
          </p:cNvGraphicFramePr>
          <p:nvPr/>
        </p:nvGraphicFramePr>
        <p:xfrm>
          <a:off x="4062424"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5" name="Tableau 4"/>
          <p:cNvGraphicFramePr>
            <a:graphicFrameLocks noGrp="1"/>
          </p:cNvGraphicFramePr>
          <p:nvPr/>
        </p:nvGraphicFramePr>
        <p:xfrm>
          <a:off x="6777068"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6" name="Tableau 5"/>
          <p:cNvGraphicFramePr>
            <a:graphicFrameLocks noGrp="1"/>
          </p:cNvGraphicFramePr>
          <p:nvPr/>
        </p:nvGraphicFramePr>
        <p:xfrm>
          <a:off x="9491712"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7" name="Picture 11"/>
          <p:cNvPicPr>
            <a:picLocks noChangeAspect="1" noChangeArrowheads="1"/>
          </p:cNvPicPr>
          <p:nvPr/>
        </p:nvPicPr>
        <p:blipFill>
          <a:blip r:embed="rId2"/>
          <a:srcRect/>
          <a:stretch>
            <a:fillRect/>
          </a:stretch>
        </p:blipFill>
        <p:spPr bwMode="auto">
          <a:xfrm>
            <a:off x="347648" y="1781159"/>
            <a:ext cx="809625" cy="447675"/>
          </a:xfrm>
          <a:prstGeom prst="rect">
            <a:avLst/>
          </a:prstGeom>
          <a:noFill/>
          <a:ln w="9525">
            <a:noFill/>
            <a:miter lim="800000"/>
            <a:headEnd/>
            <a:tailEnd/>
          </a:ln>
          <a:effectLst/>
        </p:spPr>
      </p:pic>
      <p:graphicFrame>
        <p:nvGraphicFramePr>
          <p:cNvPr id="8" name="Tableau 7"/>
          <p:cNvGraphicFramePr>
            <a:graphicFrameLocks noGrp="1"/>
          </p:cNvGraphicFramePr>
          <p:nvPr/>
        </p:nvGraphicFramePr>
        <p:xfrm>
          <a:off x="1276342" y="4086220"/>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9" name="Tableau 8"/>
          <p:cNvGraphicFramePr>
            <a:graphicFrameLocks noGrp="1"/>
          </p:cNvGraphicFramePr>
          <p:nvPr/>
        </p:nvGraphicFramePr>
        <p:xfrm>
          <a:off x="3848110" y="4086220"/>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Tableau 9"/>
          <p:cNvGraphicFramePr>
            <a:graphicFrameLocks noGrp="1"/>
          </p:cNvGraphicFramePr>
          <p:nvPr/>
        </p:nvGraphicFramePr>
        <p:xfrm>
          <a:off x="6562754" y="4086220"/>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1" name="Tableau 10"/>
          <p:cNvGraphicFramePr>
            <a:graphicFrameLocks noGrp="1"/>
          </p:cNvGraphicFramePr>
          <p:nvPr/>
        </p:nvGraphicFramePr>
        <p:xfrm>
          <a:off x="1257265" y="4086220"/>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12" name="Tableau 11"/>
          <p:cNvGraphicFramePr>
            <a:graphicFrameLocks noGrp="1"/>
          </p:cNvGraphicFramePr>
          <p:nvPr/>
        </p:nvGraphicFramePr>
        <p:xfrm>
          <a:off x="3757595" y="4086220"/>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13" name="Tableau 12"/>
          <p:cNvGraphicFramePr>
            <a:graphicFrameLocks noGrp="1"/>
          </p:cNvGraphicFramePr>
          <p:nvPr/>
        </p:nvGraphicFramePr>
        <p:xfrm>
          <a:off x="6543676" y="4086220"/>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sp>
        <p:nvSpPr>
          <p:cNvPr id="14" name="Ellipse 13"/>
          <p:cNvSpPr/>
          <p:nvPr/>
        </p:nvSpPr>
        <p:spPr>
          <a:xfrm>
            <a:off x="7186618" y="4157658"/>
            <a:ext cx="357190" cy="285752"/>
          </a:xfrm>
          <a:prstGeom prst="ellipse">
            <a:avLst/>
          </a:prstGeom>
          <a:solidFill>
            <a:srgbClr val="EE1EA9">
              <a:alpha val="3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15" name="Tableau 14"/>
          <p:cNvGraphicFramePr>
            <a:graphicFrameLocks noGrp="1"/>
          </p:cNvGraphicFramePr>
          <p:nvPr/>
        </p:nvGraphicFramePr>
        <p:xfrm>
          <a:off x="1757330" y="4157658"/>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16" name="Tableau 15"/>
          <p:cNvGraphicFramePr>
            <a:graphicFrameLocks noGrp="1"/>
          </p:cNvGraphicFramePr>
          <p:nvPr/>
        </p:nvGraphicFramePr>
        <p:xfrm>
          <a:off x="4257660" y="4157658"/>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17" name="Tableau 16"/>
          <p:cNvGraphicFramePr>
            <a:graphicFrameLocks noGrp="1"/>
          </p:cNvGraphicFramePr>
          <p:nvPr/>
        </p:nvGraphicFramePr>
        <p:xfrm>
          <a:off x="7043741" y="4157658"/>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19" name="Tableau 18"/>
          <p:cNvGraphicFramePr>
            <a:graphicFrameLocks noGrp="1"/>
          </p:cNvGraphicFramePr>
          <p:nvPr/>
        </p:nvGraphicFramePr>
        <p:xfrm>
          <a:off x="1257264" y="465772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20" name="Tableau 19"/>
          <p:cNvGraphicFramePr>
            <a:graphicFrameLocks noGrp="1"/>
          </p:cNvGraphicFramePr>
          <p:nvPr/>
        </p:nvGraphicFramePr>
        <p:xfrm>
          <a:off x="3757594" y="465772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21" name="Tableau 20"/>
          <p:cNvGraphicFramePr>
            <a:graphicFrameLocks noGrp="1"/>
          </p:cNvGraphicFramePr>
          <p:nvPr/>
        </p:nvGraphicFramePr>
        <p:xfrm>
          <a:off x="6543675" y="465772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23" name="Tableau 22"/>
          <p:cNvGraphicFramePr>
            <a:graphicFrameLocks noGrp="1"/>
          </p:cNvGraphicFramePr>
          <p:nvPr/>
        </p:nvGraphicFramePr>
        <p:xfrm>
          <a:off x="1757332" y="4586287"/>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24" name="Tableau 23"/>
          <p:cNvGraphicFramePr>
            <a:graphicFrameLocks noGrp="1"/>
          </p:cNvGraphicFramePr>
          <p:nvPr/>
        </p:nvGraphicFramePr>
        <p:xfrm>
          <a:off x="4257662" y="4586287"/>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25" name="Tableau 24"/>
          <p:cNvGraphicFramePr>
            <a:graphicFrameLocks noGrp="1"/>
          </p:cNvGraphicFramePr>
          <p:nvPr/>
        </p:nvGraphicFramePr>
        <p:xfrm>
          <a:off x="7043743" y="4586287"/>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pic>
        <p:nvPicPr>
          <p:cNvPr id="38" name="Picture 7"/>
          <p:cNvPicPr>
            <a:picLocks noChangeAspect="1" noChangeArrowheads="1"/>
          </p:cNvPicPr>
          <p:nvPr/>
        </p:nvPicPr>
        <p:blipFill>
          <a:blip r:embed="rId3"/>
          <a:srcRect/>
          <a:stretch>
            <a:fillRect/>
          </a:stretch>
        </p:blipFill>
        <p:spPr bwMode="auto">
          <a:xfrm>
            <a:off x="9186881" y="4672024"/>
            <a:ext cx="3214711" cy="2914658"/>
          </a:xfrm>
          <a:prstGeom prst="rect">
            <a:avLst/>
          </a:prstGeom>
          <a:noFill/>
          <a:ln w="9525">
            <a:noFill/>
            <a:miter lim="800000"/>
            <a:headEnd/>
            <a:tailEnd/>
          </a:ln>
          <a:effectLst/>
        </p:spPr>
      </p:pic>
      <p:pic>
        <p:nvPicPr>
          <p:cNvPr id="39" name="Picture 12"/>
          <p:cNvPicPr>
            <a:picLocks noChangeAspect="1" noChangeArrowheads="1"/>
          </p:cNvPicPr>
          <p:nvPr/>
        </p:nvPicPr>
        <p:blipFill>
          <a:blip r:embed="rId4"/>
          <a:srcRect/>
          <a:stretch>
            <a:fillRect/>
          </a:stretch>
        </p:blipFill>
        <p:spPr bwMode="auto">
          <a:xfrm>
            <a:off x="9686947" y="3951432"/>
            <a:ext cx="2000264" cy="600870"/>
          </a:xfrm>
          <a:prstGeom prst="rect">
            <a:avLst/>
          </a:prstGeom>
          <a:noFill/>
          <a:ln w="9525">
            <a:noFill/>
            <a:miter lim="800000"/>
            <a:headEnd/>
            <a:tailEnd/>
          </a:ln>
          <a:effectLst/>
        </p:spPr>
      </p:pic>
      <p:cxnSp>
        <p:nvCxnSpPr>
          <p:cNvPr id="40" name="Connecteur droit avec flèche 39"/>
          <p:cNvCxnSpPr/>
          <p:nvPr/>
        </p:nvCxnSpPr>
        <p:spPr>
          <a:xfrm rot="5400000">
            <a:off x="2007364" y="3621079"/>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avec flèche 40"/>
          <p:cNvCxnSpPr/>
          <p:nvPr/>
        </p:nvCxnSpPr>
        <p:spPr>
          <a:xfrm rot="5400000">
            <a:off x="4651364" y="3621079"/>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p:nvPr/>
        </p:nvCxnSpPr>
        <p:spPr>
          <a:xfrm rot="5400000">
            <a:off x="7364419" y="3621079"/>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4" name="ZoneTexte 43"/>
          <p:cNvSpPr txBox="1"/>
          <p:nvPr/>
        </p:nvSpPr>
        <p:spPr>
          <a:xfrm>
            <a:off x="685760" y="7775583"/>
            <a:ext cx="7643866" cy="954107"/>
          </a:xfrm>
          <a:prstGeom prst="rect">
            <a:avLst/>
          </a:prstGeom>
          <a:noFill/>
        </p:spPr>
        <p:txBody>
          <a:bodyPr wrap="square" rtlCol="0">
            <a:spAutoFit/>
          </a:bodyPr>
          <a:lstStyle/>
          <a:p>
            <a:r>
              <a:rPr lang="fr-FR" sz="2800" dirty="0" smtClean="0">
                <a:latin typeface="Roboto"/>
              </a:rPr>
              <a:t>Le point  d’intérêt se trouve au </a:t>
            </a:r>
            <a:r>
              <a:rPr lang="fr-FR" sz="2800" dirty="0" err="1" smtClean="0">
                <a:latin typeface="Roboto"/>
              </a:rPr>
              <a:t>scale</a:t>
            </a:r>
            <a:r>
              <a:rPr lang="fr-FR" sz="2800" dirty="0" smtClean="0">
                <a:latin typeface="Roboto"/>
              </a:rPr>
              <a:t>= 3 à la position: x= 1, y=1</a:t>
            </a:r>
            <a:endParaRPr lang="fr-FR" sz="2800" dirty="0">
              <a:latin typeface="Roboto"/>
            </a:endParaRPr>
          </a:p>
        </p:txBody>
      </p:sp>
      <p:sp>
        <p:nvSpPr>
          <p:cNvPr id="45" name="Rectangle à coins arrondis 44"/>
          <p:cNvSpPr/>
          <p:nvPr/>
        </p:nvSpPr>
        <p:spPr>
          <a:xfrm>
            <a:off x="1185826" y="657196"/>
            <a:ext cx="7929618" cy="2714644"/>
          </a:xfrm>
          <a:prstGeom prst="roundRect">
            <a:avLst/>
          </a:prstGeom>
          <a:no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nodeType="clickEffect">
                                  <p:stCondLst>
                                    <p:cond delay="0"/>
                                  </p:stCondLst>
                                  <p:childTnLst>
                                    <p:set>
                                      <p:cBhvr>
                                        <p:cTn id="55" dur="1" fill="hold">
                                          <p:stCondLst>
                                            <p:cond delay="0"/>
                                          </p:stCondLst>
                                        </p:cTn>
                                        <p:tgtEl>
                                          <p:spTgt spid="11"/>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12"/>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13"/>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nodeType="clickEffect">
                                  <p:stCondLst>
                                    <p:cond delay="0"/>
                                  </p:stCondLst>
                                  <p:childTnLst>
                                    <p:set>
                                      <p:cBhvr>
                                        <p:cTn id="71" dur="1" fill="hold">
                                          <p:stCondLst>
                                            <p:cond delay="0"/>
                                          </p:stCondLst>
                                        </p:cTn>
                                        <p:tgtEl>
                                          <p:spTgt spid="15"/>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16"/>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7"/>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nodeType="clickEffect">
                                  <p:stCondLst>
                                    <p:cond delay="0"/>
                                  </p:stCondLst>
                                  <p:childTnLst>
                                    <p:set>
                                      <p:cBhvr>
                                        <p:cTn id="87" dur="1" fill="hold">
                                          <p:stCondLst>
                                            <p:cond delay="0"/>
                                          </p:stCondLst>
                                        </p:cTn>
                                        <p:tgtEl>
                                          <p:spTgt spid="19"/>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20"/>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21"/>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3"/>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24"/>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5"/>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nodeType="clickEffect">
                                  <p:stCondLst>
                                    <p:cond delay="0"/>
                                  </p:stCondLst>
                                  <p:childTnLst>
                                    <p:set>
                                      <p:cBhvr>
                                        <p:cTn id="103" dur="1" fill="hold">
                                          <p:stCondLst>
                                            <p:cond delay="0"/>
                                          </p:stCondLst>
                                        </p:cTn>
                                        <p:tgtEl>
                                          <p:spTgt spid="23"/>
                                        </p:tgtEl>
                                        <p:attrNameLst>
                                          <p:attrName>style.visibility</p:attrName>
                                        </p:attrNameLst>
                                      </p:cBhvr>
                                      <p:to>
                                        <p:strVal val="hidden"/>
                                      </p:to>
                                    </p:set>
                                  </p:childTnLst>
                                </p:cTn>
                              </p:par>
                              <p:par>
                                <p:cTn id="104" presetID="1" presetClass="exit" presetSubtype="0" fill="hold" nodeType="withEffect">
                                  <p:stCondLst>
                                    <p:cond delay="0"/>
                                  </p:stCondLst>
                                  <p:childTnLst>
                                    <p:set>
                                      <p:cBhvr>
                                        <p:cTn id="105" dur="1" fill="hold">
                                          <p:stCondLst>
                                            <p:cond delay="0"/>
                                          </p:stCondLst>
                                        </p:cTn>
                                        <p:tgtEl>
                                          <p:spTgt spid="24"/>
                                        </p:tgtEl>
                                        <p:attrNameLst>
                                          <p:attrName>style.visibility</p:attrName>
                                        </p:attrNameLst>
                                      </p:cBhvr>
                                      <p:to>
                                        <p:strVal val="hidden"/>
                                      </p:to>
                                    </p:set>
                                  </p:childTnLst>
                                </p:cTn>
                              </p:par>
                              <p:par>
                                <p:cTn id="106" presetID="1" presetClass="exit" presetSubtype="0" fill="hold" nodeType="withEffect">
                                  <p:stCondLst>
                                    <p:cond delay="0"/>
                                  </p:stCondLst>
                                  <p:childTnLst>
                                    <p:set>
                                      <p:cBhvr>
                                        <p:cTn id="107" dur="1" fill="hold">
                                          <p:stCondLst>
                                            <p:cond delay="0"/>
                                          </p:stCondLst>
                                        </p:cTn>
                                        <p:tgtEl>
                                          <p:spTgt spid="25"/>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44" grpId="0"/>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1:</a:t>
            </a:r>
            <a:endParaRPr lang="fr-FR" sz="3200" b="1" u="sng" dirty="0">
              <a:solidFill>
                <a:schemeClr val="accent6"/>
              </a:solidFill>
              <a:latin typeface="Roboto"/>
            </a:endParaRPr>
          </a:p>
        </p:txBody>
      </p:sp>
      <p:graphicFrame>
        <p:nvGraphicFramePr>
          <p:cNvPr id="3" name="Tableau 2"/>
          <p:cNvGraphicFramePr>
            <a:graphicFrameLocks noGrp="1"/>
          </p:cNvGraphicFramePr>
          <p:nvPr/>
        </p:nvGraphicFramePr>
        <p:xfrm>
          <a:off x="1490656"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4" name="Tableau 3"/>
          <p:cNvGraphicFramePr>
            <a:graphicFrameLocks noGrp="1"/>
          </p:cNvGraphicFramePr>
          <p:nvPr/>
        </p:nvGraphicFramePr>
        <p:xfrm>
          <a:off x="4062424"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5" name="Tableau 4"/>
          <p:cNvGraphicFramePr>
            <a:graphicFrameLocks noGrp="1"/>
          </p:cNvGraphicFramePr>
          <p:nvPr/>
        </p:nvGraphicFramePr>
        <p:xfrm>
          <a:off x="6777068"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6" name="Tableau 5"/>
          <p:cNvGraphicFramePr>
            <a:graphicFrameLocks noGrp="1"/>
          </p:cNvGraphicFramePr>
          <p:nvPr/>
        </p:nvGraphicFramePr>
        <p:xfrm>
          <a:off x="9491712" y="942948"/>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pic>
        <p:nvPicPr>
          <p:cNvPr id="7" name="Picture 11"/>
          <p:cNvPicPr>
            <a:picLocks noChangeAspect="1" noChangeArrowheads="1"/>
          </p:cNvPicPr>
          <p:nvPr/>
        </p:nvPicPr>
        <p:blipFill>
          <a:blip r:embed="rId2"/>
          <a:srcRect/>
          <a:stretch>
            <a:fillRect/>
          </a:stretch>
        </p:blipFill>
        <p:spPr bwMode="auto">
          <a:xfrm>
            <a:off x="347648" y="1781159"/>
            <a:ext cx="809625" cy="447675"/>
          </a:xfrm>
          <a:prstGeom prst="rect">
            <a:avLst/>
          </a:prstGeom>
          <a:noFill/>
          <a:ln w="9525">
            <a:noFill/>
            <a:miter lim="800000"/>
            <a:headEnd/>
            <a:tailEnd/>
          </a:ln>
          <a:effectLst/>
        </p:spPr>
      </p:pic>
      <p:cxnSp>
        <p:nvCxnSpPr>
          <p:cNvPr id="32" name="Connecteur droit avec flèche 31"/>
          <p:cNvCxnSpPr/>
          <p:nvPr/>
        </p:nvCxnSpPr>
        <p:spPr>
          <a:xfrm rot="5400000">
            <a:off x="10223528" y="3692517"/>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p:nvPr/>
        </p:nvCxnSpPr>
        <p:spPr>
          <a:xfrm rot="5400000">
            <a:off x="4651364" y="3621079"/>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p:nvPr/>
        </p:nvCxnSpPr>
        <p:spPr>
          <a:xfrm rot="5400000">
            <a:off x="7364419" y="3621079"/>
            <a:ext cx="642941" cy="1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0" name="Tableau 29"/>
          <p:cNvGraphicFramePr>
            <a:graphicFrameLocks noGrp="1"/>
          </p:cNvGraphicFramePr>
          <p:nvPr/>
        </p:nvGraphicFramePr>
        <p:xfrm>
          <a:off x="4205300" y="4586284"/>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1" name="Tableau 30"/>
          <p:cNvGraphicFramePr>
            <a:graphicFrameLocks noGrp="1"/>
          </p:cNvGraphicFramePr>
          <p:nvPr/>
        </p:nvGraphicFramePr>
        <p:xfrm>
          <a:off x="6757990" y="4586284"/>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3" name="Tableau 32"/>
          <p:cNvGraphicFramePr>
            <a:graphicFrameLocks noGrp="1"/>
          </p:cNvGraphicFramePr>
          <p:nvPr/>
        </p:nvGraphicFramePr>
        <p:xfrm>
          <a:off x="9563151" y="4586284"/>
          <a:ext cx="2052624" cy="2214580"/>
        </p:xfrm>
        <a:graphic>
          <a:graphicData uri="http://schemas.openxmlformats.org/drawingml/2006/table">
            <a:tbl>
              <a:tblPr firstRow="1" bandRow="1">
                <a:tableStyleId>{5C22544A-7EE6-4342-B048-85BDC9FD1C3A}</a:tableStyleId>
              </a:tblPr>
              <a:tblGrid>
                <a:gridCol w="513156"/>
                <a:gridCol w="513156"/>
                <a:gridCol w="513156"/>
                <a:gridCol w="513156"/>
              </a:tblGrid>
              <a:tr h="553645">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5</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4</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6</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0</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8</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3</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53645">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1</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fr-FR" sz="2000" b="0" dirty="0" smtClean="0">
                          <a:solidFill>
                            <a:schemeClr val="tx1"/>
                          </a:solidFill>
                        </a:rPr>
                        <a:t>2</a:t>
                      </a:r>
                      <a:endParaRPr lang="fr-FR" sz="20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34" name="Tableau 33"/>
          <p:cNvGraphicFramePr>
            <a:graphicFrameLocks noGrp="1"/>
          </p:cNvGraphicFramePr>
          <p:nvPr/>
        </p:nvGraphicFramePr>
        <p:xfrm>
          <a:off x="4186223" y="458628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35" name="Tableau 34"/>
          <p:cNvGraphicFramePr>
            <a:graphicFrameLocks noGrp="1"/>
          </p:cNvGraphicFramePr>
          <p:nvPr/>
        </p:nvGraphicFramePr>
        <p:xfrm>
          <a:off x="6757990" y="458628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38" name="Tableau 37"/>
          <p:cNvGraphicFramePr>
            <a:graphicFrameLocks noGrp="1"/>
          </p:cNvGraphicFramePr>
          <p:nvPr/>
        </p:nvGraphicFramePr>
        <p:xfrm>
          <a:off x="9472634" y="4586284"/>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0" name="Tableau 39"/>
          <p:cNvGraphicFramePr>
            <a:graphicFrameLocks noGrp="1"/>
          </p:cNvGraphicFramePr>
          <p:nvPr/>
        </p:nvGraphicFramePr>
        <p:xfrm>
          <a:off x="4757726" y="4657723"/>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1" name="Tableau 40"/>
          <p:cNvGraphicFramePr>
            <a:graphicFrameLocks noGrp="1"/>
          </p:cNvGraphicFramePr>
          <p:nvPr/>
        </p:nvGraphicFramePr>
        <p:xfrm>
          <a:off x="7258056" y="4657723"/>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2" name="Tableau 41"/>
          <p:cNvGraphicFramePr>
            <a:graphicFrameLocks noGrp="1"/>
          </p:cNvGraphicFramePr>
          <p:nvPr/>
        </p:nvGraphicFramePr>
        <p:xfrm>
          <a:off x="9972700" y="4657723"/>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4" name="Tableau 43"/>
          <p:cNvGraphicFramePr>
            <a:graphicFrameLocks noGrp="1"/>
          </p:cNvGraphicFramePr>
          <p:nvPr/>
        </p:nvGraphicFramePr>
        <p:xfrm>
          <a:off x="4186222" y="5157789"/>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5" name="Tableau 44"/>
          <p:cNvGraphicFramePr>
            <a:graphicFrameLocks noGrp="1"/>
          </p:cNvGraphicFramePr>
          <p:nvPr/>
        </p:nvGraphicFramePr>
        <p:xfrm>
          <a:off x="6686552" y="5157789"/>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6" name="Tableau 45"/>
          <p:cNvGraphicFramePr>
            <a:graphicFrameLocks noGrp="1"/>
          </p:cNvGraphicFramePr>
          <p:nvPr/>
        </p:nvGraphicFramePr>
        <p:xfrm>
          <a:off x="9472633" y="5157789"/>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8" name="Tableau 47"/>
          <p:cNvGraphicFramePr>
            <a:graphicFrameLocks noGrp="1"/>
          </p:cNvGraphicFramePr>
          <p:nvPr/>
        </p:nvGraphicFramePr>
        <p:xfrm>
          <a:off x="4757728" y="5086351"/>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49" name="Tableau 48"/>
          <p:cNvGraphicFramePr>
            <a:graphicFrameLocks noGrp="1"/>
          </p:cNvGraphicFramePr>
          <p:nvPr/>
        </p:nvGraphicFramePr>
        <p:xfrm>
          <a:off x="7258058" y="5086351"/>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graphicFrame>
        <p:nvGraphicFramePr>
          <p:cNvPr id="50" name="Tableau 49"/>
          <p:cNvGraphicFramePr>
            <a:graphicFrameLocks noGrp="1"/>
          </p:cNvGraphicFramePr>
          <p:nvPr/>
        </p:nvGraphicFramePr>
        <p:xfrm>
          <a:off x="9972702" y="5086351"/>
          <a:ext cx="1643073" cy="1643073"/>
        </p:xfrm>
        <a:graphic>
          <a:graphicData uri="http://schemas.openxmlformats.org/drawingml/2006/table">
            <a:tbl>
              <a:tblPr firstRow="1" bandRow="1">
                <a:tableStyleId>{5C22544A-7EE6-4342-B048-85BDC9FD1C3A}</a:tableStyleId>
              </a:tblPr>
              <a:tblGrid>
                <a:gridCol w="547691"/>
                <a:gridCol w="547691"/>
                <a:gridCol w="547691"/>
              </a:tblGrid>
              <a:tr h="547691">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r h="547691">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c>
                  <a:txBody>
                    <a:bodyPr/>
                    <a:lstStyle/>
                    <a:p>
                      <a:endParaRPr lang="fr-FR" dirty="0"/>
                    </a:p>
                  </a:txBody>
                  <a:tcPr>
                    <a:lnL w="38100" cap="flat" cmpd="sng" algn="ctr">
                      <a:solidFill>
                        <a:srgbClr val="FF0000"/>
                      </a:solidFill>
                      <a:prstDash val="solid"/>
                      <a:round/>
                      <a:headEnd type="none" w="med" len="med"/>
                      <a:tailEnd type="none" w="med" len="med"/>
                    </a:lnL>
                    <a:lnR w="38100" cap="flat" cmpd="sng" algn="ctr">
                      <a:solidFill>
                        <a:srgbClr val="FF0000"/>
                      </a:solidFill>
                      <a:prstDash val="solid"/>
                      <a:round/>
                      <a:headEnd type="none" w="med" len="med"/>
                      <a:tailEnd type="none" w="med" len="med"/>
                    </a:lnR>
                    <a:lnT w="38100" cap="flat" cmpd="sng" algn="ctr">
                      <a:solidFill>
                        <a:srgbClr val="FF0000"/>
                      </a:solidFill>
                      <a:prstDash val="solid"/>
                      <a:round/>
                      <a:headEnd type="none" w="med" len="med"/>
                      <a:tailEnd type="none" w="med" len="med"/>
                    </a:lnT>
                    <a:lnB w="38100" cap="flat" cmpd="sng" algn="ctr">
                      <a:solidFill>
                        <a:srgbClr val="FF0000"/>
                      </a:solidFill>
                      <a:prstDash val="solid"/>
                      <a:round/>
                      <a:headEnd type="none" w="med" len="med"/>
                      <a:tailEnd type="none" w="med" len="med"/>
                    </a:lnB>
                    <a:noFill/>
                  </a:tcPr>
                </a:tc>
              </a:tr>
            </a:tbl>
          </a:graphicData>
        </a:graphic>
      </p:graphicFrame>
      <p:sp>
        <p:nvSpPr>
          <p:cNvPr id="52" name="Rectangle à coins arrondis 51"/>
          <p:cNvSpPr/>
          <p:nvPr/>
        </p:nvSpPr>
        <p:spPr>
          <a:xfrm>
            <a:off x="3971908" y="657196"/>
            <a:ext cx="7929618" cy="2714644"/>
          </a:xfrm>
          <a:prstGeom prst="roundRect">
            <a:avLst/>
          </a:prstGeom>
          <a:noFill/>
          <a:ln w="5715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4"/>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3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3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0"/>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41"/>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2"/>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4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45"/>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4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4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49"/>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2:</a:t>
            </a:r>
            <a:endParaRPr lang="fr-FR" sz="3200" b="1" u="sng" dirty="0">
              <a:solidFill>
                <a:schemeClr val="accent6"/>
              </a:solidFill>
              <a:latin typeface="Roboto"/>
            </a:endParaRPr>
          </a:p>
        </p:txBody>
      </p:sp>
      <p:pic>
        <p:nvPicPr>
          <p:cNvPr id="3" name="Image 2"/>
          <p:cNvPicPr>
            <a:picLocks noChangeAspect="1"/>
          </p:cNvPicPr>
          <p:nvPr/>
        </p:nvPicPr>
        <p:blipFill>
          <a:blip r:embed="rId2"/>
          <a:stretch>
            <a:fillRect/>
          </a:stretch>
        </p:blipFill>
        <p:spPr>
          <a:xfrm>
            <a:off x="1072208" y="1560240"/>
            <a:ext cx="10513168" cy="6935074"/>
          </a:xfrm>
          <a:prstGeom prst="rect">
            <a:avLst/>
          </a:prstGeom>
        </p:spPr>
      </p:pic>
    </p:spTree>
    <p:extLst>
      <p:ext uri="{BB962C8B-B14F-4D97-AF65-F5344CB8AC3E}">
        <p14:creationId xmlns:p14="http://schemas.microsoft.com/office/powerpoint/2010/main" val="27256417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2:</a:t>
            </a:r>
            <a:endParaRPr lang="fr-FR" sz="3200" b="1" u="sng" dirty="0">
              <a:solidFill>
                <a:schemeClr val="accent6"/>
              </a:solidFill>
              <a:latin typeface="Roboto"/>
            </a:endParaRPr>
          </a:p>
        </p:txBody>
      </p:sp>
      <p:sp>
        <p:nvSpPr>
          <p:cNvPr id="3" name="ZoneTexte 2"/>
          <p:cNvSpPr txBox="1"/>
          <p:nvPr/>
        </p:nvSpPr>
        <p:spPr>
          <a:xfrm>
            <a:off x="280120" y="1056184"/>
            <a:ext cx="12097344" cy="8217634"/>
          </a:xfrm>
          <a:prstGeom prst="rect">
            <a:avLst/>
          </a:prstGeom>
          <a:noFill/>
        </p:spPr>
        <p:txBody>
          <a:bodyPr wrap="square" rtlCol="0">
            <a:spAutoFit/>
          </a:bodyPr>
          <a:lstStyle/>
          <a:p>
            <a:r>
              <a:rPr lang="fr-FR" dirty="0"/>
              <a:t>1)-</a:t>
            </a:r>
          </a:p>
          <a:p>
            <a:r>
              <a:rPr lang="fr-FR" dirty="0"/>
              <a:t>Déterminons la taille d'un descripteur local de type "</a:t>
            </a:r>
            <a:r>
              <a:rPr lang="fr-FR" dirty="0" err="1"/>
              <a:t>color</a:t>
            </a:r>
            <a:r>
              <a:rPr lang="fr-FR" dirty="0"/>
              <a:t> SIFT </a:t>
            </a:r>
            <a:r>
              <a:rPr lang="fr-FR" dirty="0" smtClean="0"/>
              <a:t>:</a:t>
            </a:r>
          </a:p>
          <a:p>
            <a:endParaRPr lang="fr-FR" dirty="0" smtClean="0"/>
          </a:p>
          <a:p>
            <a:endParaRPr lang="fr-FR" dirty="0"/>
          </a:p>
          <a:p>
            <a:r>
              <a:rPr lang="fr-FR" dirty="0"/>
              <a:t>D’après l’énoncé de l’exercice, un descripteur SIFT utilise des histogrammes de gradients selon 8 directions et est découpé en 4x4 </a:t>
            </a:r>
            <a:r>
              <a:rPr lang="fr-FR" dirty="0" smtClean="0"/>
              <a:t>régions.</a:t>
            </a:r>
          </a:p>
          <a:p>
            <a:endParaRPr lang="fr-FR" dirty="0" smtClean="0"/>
          </a:p>
          <a:p>
            <a:r>
              <a:rPr lang="fr-FR" dirty="0" smtClean="0"/>
              <a:t>On </a:t>
            </a:r>
            <a:r>
              <a:rPr lang="fr-FR" dirty="0"/>
              <a:t>doit donc multiplier le nombre de directions fois le découpage du voisinage : c’est à dire </a:t>
            </a:r>
            <a:endParaRPr lang="fr-FR" dirty="0" smtClean="0"/>
          </a:p>
          <a:p>
            <a:endParaRPr lang="fr-FR" dirty="0" smtClean="0"/>
          </a:p>
          <a:p>
            <a:r>
              <a:rPr lang="fr-FR" dirty="0"/>
              <a:t>	</a:t>
            </a:r>
            <a:r>
              <a:rPr lang="fr-FR" dirty="0" smtClean="0"/>
              <a:t>		8*4*4 </a:t>
            </a:r>
            <a:r>
              <a:rPr lang="fr-FR" dirty="0"/>
              <a:t>= 128 valeurs par chaque canal de couleur.</a:t>
            </a:r>
          </a:p>
          <a:p>
            <a:endParaRPr lang="fr-FR" dirty="0" smtClean="0"/>
          </a:p>
          <a:p>
            <a:r>
              <a:rPr lang="fr-FR" dirty="0" smtClean="0"/>
              <a:t>Et </a:t>
            </a:r>
            <a:r>
              <a:rPr lang="fr-FR" dirty="0"/>
              <a:t>puisque le calcul se fait séparément pour les 3 canaux, donc la taille totale d’un descripteur </a:t>
            </a:r>
            <a:endParaRPr lang="fr-FR" dirty="0" smtClean="0"/>
          </a:p>
          <a:p>
            <a:endParaRPr lang="fr-FR" dirty="0"/>
          </a:p>
          <a:p>
            <a:r>
              <a:rPr lang="fr-FR" dirty="0" smtClean="0"/>
              <a:t>			local </a:t>
            </a:r>
            <a:r>
              <a:rPr lang="fr-FR" dirty="0"/>
              <a:t>serait : 3*128 = 384</a:t>
            </a:r>
          </a:p>
          <a:p>
            <a:endParaRPr lang="fr-FR" dirty="0" smtClean="0"/>
          </a:p>
          <a:p>
            <a:endParaRPr lang="fr-FR" dirty="0"/>
          </a:p>
          <a:p>
            <a:r>
              <a:rPr lang="fr-FR" dirty="0" smtClean="0"/>
              <a:t>Pour </a:t>
            </a:r>
            <a:r>
              <a:rPr lang="fr-FR" dirty="0"/>
              <a:t>trouver l’espace d’un descripteur occupé en mémoire en supposant que chaque valeur est stockée en flottant simple précision (4 octets par flottant) </a:t>
            </a:r>
          </a:p>
          <a:p>
            <a:r>
              <a:rPr lang="fr-FR" dirty="0" smtClean="0"/>
              <a:t>on </a:t>
            </a:r>
            <a:r>
              <a:rPr lang="fr-FR" dirty="0"/>
              <a:t>ne doit que multiplier la taille du descripteur fois </a:t>
            </a:r>
            <a:r>
              <a:rPr lang="fr-FR" dirty="0" smtClean="0"/>
              <a:t>4 :</a:t>
            </a:r>
          </a:p>
          <a:p>
            <a:endParaRPr lang="fr-FR" dirty="0"/>
          </a:p>
          <a:p>
            <a:r>
              <a:rPr lang="fr-FR" dirty="0" smtClean="0"/>
              <a:t>				 </a:t>
            </a:r>
            <a:r>
              <a:rPr lang="fr-FR" dirty="0"/>
              <a:t>384*4 = 1536</a:t>
            </a: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5" y="-33"/>
            <a:ext cx="5700753" cy="615828"/>
          </a:xfrm>
          <a:prstGeom prst="rect">
            <a:avLst/>
          </a:prstGeom>
          <a:noFill/>
        </p:spPr>
        <p:txBody>
          <a:bodyPr wrap="square" lIns="122191" tIns="61096" rIns="122191" bIns="61096" rtlCol="0">
            <a:spAutoFit/>
          </a:bodyPr>
          <a:lstStyle/>
          <a:p>
            <a:pPr marL="458217" indent="-458217"/>
            <a:r>
              <a:rPr lang="fr-FR" sz="3200" b="1" u="sng" dirty="0" smtClean="0">
                <a:solidFill>
                  <a:schemeClr val="accent6"/>
                </a:solidFill>
                <a:latin typeface="Roboto"/>
              </a:rPr>
              <a:t>Exo 2:</a:t>
            </a:r>
            <a:endParaRPr lang="fr-FR" sz="3200" b="1" u="sng" dirty="0">
              <a:solidFill>
                <a:schemeClr val="accent6"/>
              </a:solidFill>
              <a:latin typeface="Roboto"/>
            </a:endParaRPr>
          </a:p>
        </p:txBody>
      </p:sp>
      <p:sp>
        <p:nvSpPr>
          <p:cNvPr id="3" name="ZoneTexte 2"/>
          <p:cNvSpPr txBox="1"/>
          <p:nvPr/>
        </p:nvSpPr>
        <p:spPr>
          <a:xfrm>
            <a:off x="280120" y="1056184"/>
            <a:ext cx="12097344" cy="4524315"/>
          </a:xfrm>
          <a:prstGeom prst="rect">
            <a:avLst/>
          </a:prstGeom>
          <a:noFill/>
        </p:spPr>
        <p:txBody>
          <a:bodyPr wrap="square" rtlCol="0">
            <a:spAutoFit/>
          </a:bodyPr>
          <a:lstStyle/>
          <a:p>
            <a:r>
              <a:rPr lang="fr-FR" dirty="0"/>
              <a:t>2</a:t>
            </a:r>
            <a:r>
              <a:rPr lang="fr-FR" dirty="0" smtClean="0"/>
              <a:t>)-</a:t>
            </a:r>
          </a:p>
          <a:p>
            <a:endParaRPr lang="fr-FR" dirty="0"/>
          </a:p>
          <a:p>
            <a:r>
              <a:rPr lang="fr-FR" dirty="0"/>
              <a:t>La taille de la représentation complète d’une image par un ensemble de descripteurs SIFT locaux sachant que le programme qui filtre les points d’intérêt sélectionne en moyenne 500 (par image) est obtenue par multiplier ce nombre de points d’intérêt fois la taille d’un descripteur </a:t>
            </a:r>
            <a:r>
              <a:rPr lang="fr-FR" dirty="0" smtClean="0"/>
              <a:t>local </a:t>
            </a:r>
          </a:p>
          <a:p>
            <a:endParaRPr lang="fr-FR" dirty="0"/>
          </a:p>
          <a:p>
            <a:r>
              <a:rPr lang="fr-FR" dirty="0" smtClean="0"/>
              <a:t>			taille </a:t>
            </a:r>
            <a:r>
              <a:rPr lang="fr-FR" dirty="0"/>
              <a:t>= 500*1536 = 768000</a:t>
            </a:r>
          </a:p>
          <a:p>
            <a:endParaRPr lang="fr-FR" dirty="0"/>
          </a:p>
          <a:p>
            <a:r>
              <a:rPr lang="fr-FR" dirty="0"/>
              <a:t>La taille de la représentation complète d’une base d’un million d’images = 768000*1000000 </a:t>
            </a:r>
            <a:endParaRPr lang="fr-FR" dirty="0" smtClean="0"/>
          </a:p>
          <a:p>
            <a:endParaRPr lang="fr-FR" dirty="0"/>
          </a:p>
          <a:p>
            <a:r>
              <a:rPr lang="fr-FR" dirty="0" smtClean="0"/>
              <a:t>			= </a:t>
            </a:r>
            <a:r>
              <a:rPr lang="fr-FR" dirty="0"/>
              <a:t>768000000000 = 7.68*1011</a:t>
            </a:r>
          </a:p>
        </p:txBody>
      </p:sp>
    </p:spTree>
    <p:extLst>
      <p:ext uri="{BB962C8B-B14F-4D97-AF65-F5344CB8AC3E}">
        <p14:creationId xmlns:p14="http://schemas.microsoft.com/office/powerpoint/2010/main" val="274024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8575">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4732</TotalTime>
  <Words>714</Words>
  <Application>Microsoft Office PowerPoint</Application>
  <PresentationFormat>A3 (297 x 420 mm)</PresentationFormat>
  <Paragraphs>447</Paragraphs>
  <Slides>12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Roboto</vt:lpstr>
      <vt:lpstr>Roboto Black</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Neo</dc:creator>
  <cp:lastModifiedBy>HP</cp:lastModifiedBy>
  <cp:revision>767</cp:revision>
  <dcterms:created xsi:type="dcterms:W3CDTF">2023-10-23T05:28:53Z</dcterms:created>
  <dcterms:modified xsi:type="dcterms:W3CDTF">2024-12-14T13:40:25Z</dcterms:modified>
</cp:coreProperties>
</file>