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308" r:id="rId3"/>
    <p:sldId id="309" r:id="rId4"/>
    <p:sldId id="300" r:id="rId5"/>
    <p:sldId id="311" r:id="rId6"/>
    <p:sldId id="317" r:id="rId7"/>
    <p:sldId id="316" r:id="rId8"/>
    <p:sldId id="310" r:id="rId9"/>
    <p:sldId id="318" r:id="rId10"/>
    <p:sldId id="307" r:id="rId11"/>
    <p:sldId id="319" r:id="rId12"/>
    <p:sldId id="320" r:id="rId13"/>
    <p:sldId id="321" r:id="rId14"/>
    <p:sldId id="322" r:id="rId15"/>
    <p:sldId id="329" r:id="rId16"/>
    <p:sldId id="330" r:id="rId17"/>
    <p:sldId id="331" r:id="rId18"/>
    <p:sldId id="332" r:id="rId19"/>
    <p:sldId id="333" r:id="rId20"/>
    <p:sldId id="327" r:id="rId21"/>
    <p:sldId id="336" r:id="rId22"/>
    <p:sldId id="335" r:id="rId23"/>
    <p:sldId id="337" r:id="rId24"/>
    <p:sldId id="338" r:id="rId25"/>
    <p:sldId id="340" r:id="rId26"/>
    <p:sldId id="339" r:id="rId27"/>
    <p:sldId id="346" r:id="rId28"/>
    <p:sldId id="342" r:id="rId29"/>
    <p:sldId id="343" r:id="rId30"/>
    <p:sldId id="344" r:id="rId31"/>
    <p:sldId id="347" r:id="rId32"/>
    <p:sldId id="348" r:id="rId33"/>
    <p:sldId id="349" r:id="rId34"/>
  </p:sldIdLst>
  <p:sldSz cx="12801600" cy="9601200" type="A3"/>
  <p:notesSz cx="6858000" cy="9144000"/>
  <p:defaultTextStyle>
    <a:defPPr>
      <a:defRPr lang="fr-FR"/>
    </a:defPPr>
    <a:lvl1pPr marL="0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0B0F0"/>
    <a:srgbClr val="FFFFFF"/>
    <a:srgbClr val="254061"/>
    <a:srgbClr val="D7E4BD"/>
    <a:srgbClr val="000000"/>
    <a:srgbClr val="FF0D0D"/>
    <a:srgbClr val="FFABAB"/>
    <a:srgbClr val="FFC000"/>
    <a:srgbClr val="FF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62" autoAdjust="0"/>
    <p:restoredTop sz="96595" autoAdjust="0"/>
  </p:normalViewPr>
  <p:slideViewPr>
    <p:cSldViewPr>
      <p:cViewPr>
        <p:scale>
          <a:sx n="50" d="100"/>
          <a:sy n="50" d="100"/>
        </p:scale>
        <p:origin x="-1284" y="-18"/>
      </p:cViewPr>
      <p:guideLst>
        <p:guide orient="horz" pos="3024"/>
        <p:guide pos="40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9314D-6B09-49A3-9307-1ED5EB6C6A57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07B5B-23FB-4845-A655-B6CE8E1B95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60120" y="2982597"/>
            <a:ext cx="10881360" cy="205803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0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1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2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38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4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65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76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876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11239" y="6169662"/>
            <a:ext cx="10881360" cy="190690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11239" y="4069399"/>
            <a:ext cx="10881360" cy="2100262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095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21913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3286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4382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5478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6573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7669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8765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40080" y="2240282"/>
            <a:ext cx="5654040" cy="633634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7480" y="2240282"/>
            <a:ext cx="5654040" cy="633634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0080" y="2149158"/>
            <a:ext cx="5656263" cy="89566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0956" indent="0">
              <a:buNone/>
              <a:defRPr sz="2700" b="1"/>
            </a:lvl2pPr>
            <a:lvl3pPr marL="1221913" indent="0">
              <a:buNone/>
              <a:defRPr sz="2400" b="1"/>
            </a:lvl3pPr>
            <a:lvl4pPr marL="1832869" indent="0">
              <a:buNone/>
              <a:defRPr sz="2100" b="1"/>
            </a:lvl4pPr>
            <a:lvl5pPr marL="2443825" indent="0">
              <a:buNone/>
              <a:defRPr sz="2100" b="1"/>
            </a:lvl5pPr>
            <a:lvl6pPr marL="3054782" indent="0">
              <a:buNone/>
              <a:defRPr sz="2100" b="1"/>
            </a:lvl6pPr>
            <a:lvl7pPr marL="3665738" indent="0">
              <a:buNone/>
              <a:defRPr sz="2100" b="1"/>
            </a:lvl7pPr>
            <a:lvl8pPr marL="4276695" indent="0">
              <a:buNone/>
              <a:defRPr sz="2100" b="1"/>
            </a:lvl8pPr>
            <a:lvl9pPr marL="4887651" indent="0">
              <a:buNone/>
              <a:defRPr sz="21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0080" y="3044825"/>
            <a:ext cx="5656263" cy="55318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503036" y="2149158"/>
            <a:ext cx="5658486" cy="89566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0956" indent="0">
              <a:buNone/>
              <a:defRPr sz="2700" b="1"/>
            </a:lvl2pPr>
            <a:lvl3pPr marL="1221913" indent="0">
              <a:buNone/>
              <a:defRPr sz="2400" b="1"/>
            </a:lvl3pPr>
            <a:lvl4pPr marL="1832869" indent="0">
              <a:buNone/>
              <a:defRPr sz="2100" b="1"/>
            </a:lvl4pPr>
            <a:lvl5pPr marL="2443825" indent="0">
              <a:buNone/>
              <a:defRPr sz="2100" b="1"/>
            </a:lvl5pPr>
            <a:lvl6pPr marL="3054782" indent="0">
              <a:buNone/>
              <a:defRPr sz="2100" b="1"/>
            </a:lvl6pPr>
            <a:lvl7pPr marL="3665738" indent="0">
              <a:buNone/>
              <a:defRPr sz="2100" b="1"/>
            </a:lvl7pPr>
            <a:lvl8pPr marL="4276695" indent="0">
              <a:buNone/>
              <a:defRPr sz="2100" b="1"/>
            </a:lvl8pPr>
            <a:lvl9pPr marL="4887651" indent="0">
              <a:buNone/>
              <a:defRPr sz="21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3036" y="3044825"/>
            <a:ext cx="5658486" cy="55318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0080" y="382270"/>
            <a:ext cx="4211639" cy="162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5071" y="382272"/>
            <a:ext cx="7156450" cy="8194358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40080" y="2009142"/>
            <a:ext cx="4211639" cy="6567488"/>
          </a:xfrm>
        </p:spPr>
        <p:txBody>
          <a:bodyPr/>
          <a:lstStyle>
            <a:lvl1pPr marL="0" indent="0">
              <a:buNone/>
              <a:defRPr sz="1900"/>
            </a:lvl1pPr>
            <a:lvl2pPr marL="610956" indent="0">
              <a:buNone/>
              <a:defRPr sz="1600"/>
            </a:lvl2pPr>
            <a:lvl3pPr marL="1221913" indent="0">
              <a:buNone/>
              <a:defRPr sz="1300"/>
            </a:lvl3pPr>
            <a:lvl4pPr marL="1832869" indent="0">
              <a:buNone/>
              <a:defRPr sz="1200"/>
            </a:lvl4pPr>
            <a:lvl5pPr marL="2443825" indent="0">
              <a:buNone/>
              <a:defRPr sz="1200"/>
            </a:lvl5pPr>
            <a:lvl6pPr marL="3054782" indent="0">
              <a:buNone/>
              <a:defRPr sz="1200"/>
            </a:lvl6pPr>
            <a:lvl7pPr marL="3665738" indent="0">
              <a:buNone/>
              <a:defRPr sz="1200"/>
            </a:lvl7pPr>
            <a:lvl8pPr marL="4276695" indent="0">
              <a:buNone/>
              <a:defRPr sz="1200"/>
            </a:lvl8pPr>
            <a:lvl9pPr marL="4887651" indent="0">
              <a:buNone/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09203" y="6720840"/>
            <a:ext cx="7680960" cy="793433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4300"/>
            </a:lvl1pPr>
            <a:lvl2pPr marL="610956" indent="0">
              <a:buNone/>
              <a:defRPr sz="3700"/>
            </a:lvl2pPr>
            <a:lvl3pPr marL="1221913" indent="0">
              <a:buNone/>
              <a:defRPr sz="3200"/>
            </a:lvl3pPr>
            <a:lvl4pPr marL="1832869" indent="0">
              <a:buNone/>
              <a:defRPr sz="2700"/>
            </a:lvl4pPr>
            <a:lvl5pPr marL="2443825" indent="0">
              <a:buNone/>
              <a:defRPr sz="2700"/>
            </a:lvl5pPr>
            <a:lvl6pPr marL="3054782" indent="0">
              <a:buNone/>
              <a:defRPr sz="2700"/>
            </a:lvl6pPr>
            <a:lvl7pPr marL="3665738" indent="0">
              <a:buNone/>
              <a:defRPr sz="2700"/>
            </a:lvl7pPr>
            <a:lvl8pPr marL="4276695" indent="0">
              <a:buNone/>
              <a:defRPr sz="2700"/>
            </a:lvl8pPr>
            <a:lvl9pPr marL="4887651" indent="0">
              <a:buNone/>
              <a:defRPr sz="27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09203" y="7514273"/>
            <a:ext cx="7680960" cy="1126807"/>
          </a:xfrm>
        </p:spPr>
        <p:txBody>
          <a:bodyPr/>
          <a:lstStyle>
            <a:lvl1pPr marL="0" indent="0">
              <a:buNone/>
              <a:defRPr sz="1900"/>
            </a:lvl1pPr>
            <a:lvl2pPr marL="610956" indent="0">
              <a:buNone/>
              <a:defRPr sz="1600"/>
            </a:lvl2pPr>
            <a:lvl3pPr marL="1221913" indent="0">
              <a:buNone/>
              <a:defRPr sz="1300"/>
            </a:lvl3pPr>
            <a:lvl4pPr marL="1832869" indent="0">
              <a:buNone/>
              <a:defRPr sz="1200"/>
            </a:lvl4pPr>
            <a:lvl5pPr marL="2443825" indent="0">
              <a:buNone/>
              <a:defRPr sz="1200"/>
            </a:lvl5pPr>
            <a:lvl6pPr marL="3054782" indent="0">
              <a:buNone/>
              <a:defRPr sz="1200"/>
            </a:lvl6pPr>
            <a:lvl7pPr marL="3665738" indent="0">
              <a:buNone/>
              <a:defRPr sz="1200"/>
            </a:lvl7pPr>
            <a:lvl8pPr marL="4276695" indent="0">
              <a:buNone/>
              <a:defRPr sz="1200"/>
            </a:lvl8pPr>
            <a:lvl9pPr marL="4887651" indent="0">
              <a:buNone/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281160" y="384495"/>
            <a:ext cx="2880360" cy="819213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40080" y="384495"/>
            <a:ext cx="8427720" cy="819213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vert="horz" lIns="122191" tIns="61096" rIns="122191" bIns="61096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0080" y="2240282"/>
            <a:ext cx="11521440" cy="6336348"/>
          </a:xfrm>
          <a:prstGeom prst="rect">
            <a:avLst/>
          </a:prstGeom>
        </p:spPr>
        <p:txBody>
          <a:bodyPr vert="horz" lIns="122191" tIns="61096" rIns="122191" bIns="61096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40080" y="8898892"/>
            <a:ext cx="2987040" cy="511175"/>
          </a:xfrm>
          <a:prstGeom prst="rect">
            <a:avLst/>
          </a:prstGeom>
        </p:spPr>
        <p:txBody>
          <a:bodyPr vert="horz" lIns="122191" tIns="61096" rIns="122191" bIns="61096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053A1-DE9F-468E-9F09-DD5DC5BA1446}" type="datetimeFigureOut">
              <a:rPr lang="fr-FR" smtClean="0"/>
              <a:pPr/>
              <a:t>27/11/2023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373880" y="8898892"/>
            <a:ext cx="4053840" cy="511175"/>
          </a:xfrm>
          <a:prstGeom prst="rect">
            <a:avLst/>
          </a:prstGeom>
        </p:spPr>
        <p:txBody>
          <a:bodyPr vert="horz" lIns="122191" tIns="61096" rIns="122191" bIns="61096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74480" y="8898892"/>
            <a:ext cx="2987040" cy="511175"/>
          </a:xfrm>
          <a:prstGeom prst="rect">
            <a:avLst/>
          </a:prstGeom>
        </p:spPr>
        <p:txBody>
          <a:bodyPr vert="horz" lIns="122191" tIns="61096" rIns="122191" bIns="6109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21913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8217" indent="-458217" algn="l" defTabSz="1221913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2804" indent="-381848" algn="l" defTabSz="1221913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7391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8347" indent="-305478" algn="l" defTabSz="1221913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9304" indent="-305478" algn="l" defTabSz="1221913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60260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71216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82173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93129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0956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1913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32869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3825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4782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65738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76695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87651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8.png"/><Relationship Id="rId7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200113" y="3737219"/>
            <a:ext cx="10101333" cy="1108270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sz="6400" b="1" dirty="0" smtClean="0">
                <a:solidFill>
                  <a:schemeClr val="accent1">
                    <a:lumMod val="75000"/>
                  </a:schemeClr>
                </a:solidFill>
                <a:latin typeface="Roboto"/>
                <a:ea typeface="Roboto Black" pitchFamily="2" charset="0"/>
              </a:rPr>
              <a:t>TAI: Série d’exercices 3 </a:t>
            </a:r>
            <a:endParaRPr lang="fr-FR" sz="6400" b="1" dirty="0">
              <a:solidFill>
                <a:schemeClr val="accent1">
                  <a:lumMod val="75000"/>
                </a:schemeClr>
              </a:solidFill>
              <a:latin typeface="Roboto"/>
              <a:ea typeface="Roboto Black" pitchFamily="2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300391" y="8684116"/>
            <a:ext cx="6200818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N. </a:t>
            </a:r>
            <a:r>
              <a:rPr lang="fr-FR" dirty="0" err="1" smtClean="0">
                <a:solidFill>
                  <a:schemeClr val="accent1">
                    <a:lumMod val="75000"/>
                  </a:schemeClr>
                </a:solidFill>
              </a:rPr>
              <a:t>Mebtouche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  novembre2023</a:t>
            </a: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4000484" y="1600178"/>
          <a:ext cx="4000525" cy="4000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5"/>
                <a:gridCol w="800105"/>
                <a:gridCol w="800105"/>
                <a:gridCol w="800105"/>
                <a:gridCol w="800105"/>
              </a:tblGrid>
              <a:tr h="800106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0010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</a:tr>
              <a:tr h="80010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0010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0010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4200512" y="1700191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800063" y="1900217"/>
          <a:ext cx="2000265" cy="1800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1" y="700059"/>
            <a:ext cx="3600430" cy="560154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r>
              <a:rPr lang="fr-FR" sz="2700" b="1" dirty="0" smtClean="0">
                <a:solidFill>
                  <a:schemeClr val="accent3"/>
                </a:solidFill>
                <a:latin typeface="Roboto"/>
              </a:rPr>
              <a:t>Exemple:</a:t>
            </a:r>
            <a:endParaRPr lang="fr-FR" sz="2700" b="1" dirty="0">
              <a:solidFill>
                <a:schemeClr val="accent3"/>
              </a:solidFill>
              <a:latin typeface="Roboto"/>
            </a:endParaRPr>
          </a:p>
        </p:txBody>
      </p:sp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9381195" y="2500296"/>
          <a:ext cx="2220291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b="1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4500550" y="5700719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Image</a:t>
            </a:r>
            <a:endParaRPr lang="fr-FR" dirty="0">
              <a:latin typeface="Roboto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8901130" y="4983628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Résultat</a:t>
            </a:r>
            <a:endParaRPr lang="fr-FR" dirty="0">
              <a:latin typeface="Roboto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199983" y="3800468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Filtre</a:t>
            </a:r>
            <a:endParaRPr lang="fr-FR" dirty="0">
              <a:latin typeface="Roboto"/>
            </a:endParaRPr>
          </a:p>
        </p:txBody>
      </p:sp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800062" y="4500560"/>
          <a:ext cx="2000265" cy="1800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" name="ZoneTexte 19"/>
          <p:cNvSpPr txBox="1"/>
          <p:nvPr/>
        </p:nvSpPr>
        <p:spPr>
          <a:xfrm>
            <a:off x="199983" y="6383812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Flip vertical</a:t>
            </a:r>
            <a:endParaRPr lang="fr-FR" dirty="0">
              <a:latin typeface="Roboto"/>
            </a:endParaRPr>
          </a:p>
        </p:txBody>
      </p:sp>
      <p:cxnSp>
        <p:nvCxnSpPr>
          <p:cNvPr id="22" name="Connecteur droit 21"/>
          <p:cNvCxnSpPr>
            <a:endCxn id="20" idx="2"/>
          </p:cNvCxnSpPr>
          <p:nvPr/>
        </p:nvCxnSpPr>
        <p:spPr>
          <a:xfrm rot="5400000">
            <a:off x="513309" y="5588532"/>
            <a:ext cx="2574883" cy="1111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800062" y="7100903"/>
          <a:ext cx="2000265" cy="1800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5" name="ZoneTexte 24"/>
          <p:cNvSpPr txBox="1"/>
          <p:nvPr/>
        </p:nvSpPr>
        <p:spPr>
          <a:xfrm>
            <a:off x="199983" y="8984156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Flip horizontal</a:t>
            </a:r>
            <a:endParaRPr lang="fr-FR" dirty="0">
              <a:latin typeface="Roboto"/>
            </a:endParaRPr>
          </a:p>
        </p:txBody>
      </p:sp>
      <p:cxnSp>
        <p:nvCxnSpPr>
          <p:cNvPr id="26" name="Connecteur droit 25"/>
          <p:cNvCxnSpPr/>
          <p:nvPr/>
        </p:nvCxnSpPr>
        <p:spPr>
          <a:xfrm>
            <a:off x="500021" y="8001023"/>
            <a:ext cx="2600343" cy="2223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au 26"/>
          <p:cNvGraphicFramePr>
            <a:graphicFrameLocks noGrp="1"/>
          </p:cNvGraphicFramePr>
          <p:nvPr/>
        </p:nvGraphicFramePr>
        <p:xfrm>
          <a:off x="4900603" y="1700191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au 28"/>
          <p:cNvGraphicFramePr>
            <a:graphicFrameLocks noGrp="1"/>
          </p:cNvGraphicFramePr>
          <p:nvPr/>
        </p:nvGraphicFramePr>
        <p:xfrm>
          <a:off x="9381195" y="2500296"/>
          <a:ext cx="2220291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b="1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5800724" y="1700191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au 30"/>
          <p:cNvGraphicFramePr>
            <a:graphicFrameLocks noGrp="1"/>
          </p:cNvGraphicFramePr>
          <p:nvPr/>
        </p:nvGraphicFramePr>
        <p:xfrm>
          <a:off x="9381195" y="2500296"/>
          <a:ext cx="2220291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b="1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au 31"/>
          <p:cNvGraphicFramePr>
            <a:graphicFrameLocks noGrp="1"/>
          </p:cNvGraphicFramePr>
          <p:nvPr/>
        </p:nvGraphicFramePr>
        <p:xfrm>
          <a:off x="4200512" y="2500297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9381195" y="2500296"/>
          <a:ext cx="2220291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b="1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5100632" y="2500297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9381195" y="2500296"/>
          <a:ext cx="2220291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b="1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au 35"/>
          <p:cNvGraphicFramePr>
            <a:graphicFrameLocks noGrp="1"/>
          </p:cNvGraphicFramePr>
          <p:nvPr/>
        </p:nvGraphicFramePr>
        <p:xfrm>
          <a:off x="5800724" y="2500297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9381195" y="2500296"/>
          <a:ext cx="2220291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b="1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4200511" y="3300402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au 39"/>
          <p:cNvGraphicFramePr>
            <a:graphicFrameLocks noGrp="1"/>
          </p:cNvGraphicFramePr>
          <p:nvPr/>
        </p:nvGraphicFramePr>
        <p:xfrm>
          <a:off x="9381195" y="2500296"/>
          <a:ext cx="2220291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b="1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au 40"/>
          <p:cNvGraphicFramePr>
            <a:graphicFrameLocks noGrp="1"/>
          </p:cNvGraphicFramePr>
          <p:nvPr/>
        </p:nvGraphicFramePr>
        <p:xfrm>
          <a:off x="5100632" y="3300402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" name="Tableau 41"/>
          <p:cNvGraphicFramePr>
            <a:graphicFrameLocks noGrp="1"/>
          </p:cNvGraphicFramePr>
          <p:nvPr/>
        </p:nvGraphicFramePr>
        <p:xfrm>
          <a:off x="9381195" y="2500296"/>
          <a:ext cx="2220291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b="1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b="1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au 42"/>
          <p:cNvGraphicFramePr>
            <a:graphicFrameLocks noGrp="1"/>
          </p:cNvGraphicFramePr>
          <p:nvPr/>
        </p:nvGraphicFramePr>
        <p:xfrm>
          <a:off x="5800724" y="3300402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au 43"/>
          <p:cNvGraphicFramePr>
            <a:graphicFrameLocks noGrp="1"/>
          </p:cNvGraphicFramePr>
          <p:nvPr/>
        </p:nvGraphicFramePr>
        <p:xfrm>
          <a:off x="9381195" y="2500296"/>
          <a:ext cx="2220291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b="1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b="1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5" name="ZoneTexte 44"/>
          <p:cNvSpPr txBox="1"/>
          <p:nvPr/>
        </p:nvSpPr>
        <p:spPr>
          <a:xfrm>
            <a:off x="3600430" y="7400945"/>
            <a:ext cx="8901175" cy="1600713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>
              <a:buFont typeface="+mj-lt"/>
              <a:buAutoNum type="arabicPeriod"/>
            </a:pPr>
            <a:r>
              <a:rPr lang="fr-FR" b="1" dirty="0" smtClean="0">
                <a:solidFill>
                  <a:srgbClr val="FF0000"/>
                </a:solidFill>
                <a:latin typeface="Roboto"/>
              </a:rPr>
              <a:t>On inverse le filtre dans le deux axes.</a:t>
            </a:r>
          </a:p>
          <a:p>
            <a:pPr marL="458217" indent="-458217">
              <a:buFont typeface="+mj-lt"/>
              <a:buAutoNum type="arabicPeriod"/>
            </a:pPr>
            <a:r>
              <a:rPr lang="fr-FR" b="1" dirty="0" smtClean="0">
                <a:solidFill>
                  <a:srgbClr val="FF0000"/>
                </a:solidFill>
                <a:latin typeface="Roboto"/>
              </a:rPr>
              <a:t>La convolution est plus petite que la taille originale de l’image.</a:t>
            </a:r>
          </a:p>
          <a:p>
            <a:pPr marL="458217" indent="-458217"/>
            <a:r>
              <a:rPr lang="fr-FR" b="1" dirty="0" smtClean="0">
                <a:solidFill>
                  <a:srgbClr val="FF0000"/>
                </a:solidFill>
                <a:latin typeface="Roboto"/>
              </a:rPr>
              <a:t>Solution: Le </a:t>
            </a:r>
            <a:r>
              <a:rPr lang="fr-FR" b="1" dirty="0" err="1" smtClean="0">
                <a:solidFill>
                  <a:srgbClr val="FF0000"/>
                </a:solidFill>
                <a:latin typeface="Roboto"/>
              </a:rPr>
              <a:t>padding</a:t>
            </a:r>
            <a:r>
              <a:rPr lang="fr-FR" b="1" dirty="0" smtClean="0">
                <a:solidFill>
                  <a:srgbClr val="FF0000"/>
                </a:solidFill>
                <a:latin typeface="Roboto"/>
              </a:rPr>
              <a:t>!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3600431" y="1500165"/>
          <a:ext cx="4200555" cy="4300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111"/>
                <a:gridCol w="840111"/>
                <a:gridCol w="840111"/>
                <a:gridCol w="840111"/>
                <a:gridCol w="840111"/>
              </a:tblGrid>
              <a:tr h="86011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6011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</a:tr>
              <a:tr h="86011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6011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6011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2800324" y="600047"/>
          <a:ext cx="5800767" cy="6000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681"/>
                <a:gridCol w="828681"/>
                <a:gridCol w="828681"/>
                <a:gridCol w="828681"/>
                <a:gridCol w="828681"/>
                <a:gridCol w="828681"/>
                <a:gridCol w="828681"/>
              </a:tblGrid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400011" y="1600177"/>
          <a:ext cx="2000265" cy="1800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4000484" y="6783865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Image</a:t>
            </a:r>
            <a:endParaRPr lang="fr-FR" dirty="0">
              <a:latin typeface="Roboto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-300084" y="3500428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Filtre</a:t>
            </a:r>
            <a:endParaRPr lang="fr-FR" dirty="0">
              <a:latin typeface="Roboto"/>
            </a:endParaRPr>
          </a:p>
        </p:txBody>
      </p:sp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400010" y="4200521"/>
          <a:ext cx="2000265" cy="1800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" name="ZoneTexte 19"/>
          <p:cNvSpPr txBox="1"/>
          <p:nvPr/>
        </p:nvSpPr>
        <p:spPr>
          <a:xfrm>
            <a:off x="-300084" y="6083773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Flip vertical</a:t>
            </a:r>
            <a:endParaRPr lang="fr-FR" dirty="0">
              <a:latin typeface="Roboto"/>
            </a:endParaRPr>
          </a:p>
        </p:txBody>
      </p:sp>
      <p:cxnSp>
        <p:nvCxnSpPr>
          <p:cNvPr id="22" name="Connecteur droit 21"/>
          <p:cNvCxnSpPr/>
          <p:nvPr/>
        </p:nvCxnSpPr>
        <p:spPr>
          <a:xfrm rot="5400000">
            <a:off x="99969" y="5300666"/>
            <a:ext cx="2600343" cy="2223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400010" y="6800864"/>
          <a:ext cx="2000265" cy="1800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60007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5" name="ZoneTexte 24"/>
          <p:cNvSpPr txBox="1"/>
          <p:nvPr/>
        </p:nvSpPr>
        <p:spPr>
          <a:xfrm>
            <a:off x="-300084" y="8684116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Flip horizontal</a:t>
            </a:r>
            <a:endParaRPr lang="fr-FR" dirty="0">
              <a:latin typeface="Roboto"/>
            </a:endParaRPr>
          </a:p>
        </p:txBody>
      </p:sp>
      <p:cxnSp>
        <p:nvCxnSpPr>
          <p:cNvPr id="26" name="Connecteur droit 25"/>
          <p:cNvCxnSpPr/>
          <p:nvPr/>
        </p:nvCxnSpPr>
        <p:spPr>
          <a:xfrm>
            <a:off x="99969" y="7700983"/>
            <a:ext cx="2600343" cy="2223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au 22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2800324" y="600043"/>
          <a:ext cx="5800767" cy="6000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681"/>
                <a:gridCol w="828681"/>
                <a:gridCol w="828681"/>
                <a:gridCol w="828681"/>
                <a:gridCol w="828681"/>
                <a:gridCol w="828681"/>
                <a:gridCol w="828681"/>
              </a:tblGrid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  <a:tr h="857256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30" name="ZoneTexte 29"/>
          <p:cNvSpPr txBox="1"/>
          <p:nvPr/>
        </p:nvSpPr>
        <p:spPr>
          <a:xfrm>
            <a:off x="9201171" y="5227298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Résultat</a:t>
            </a:r>
            <a:endParaRPr lang="fr-FR" dirty="0">
              <a:latin typeface="Roboto"/>
            </a:endParaRPr>
          </a:p>
        </p:txBody>
      </p:sp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3100365" y="800072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au 35"/>
          <p:cNvGraphicFramePr>
            <a:graphicFrameLocks noGrp="1"/>
          </p:cNvGraphicFramePr>
          <p:nvPr/>
        </p:nvGraphicFramePr>
        <p:xfrm>
          <a:off x="3800458" y="800072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4700577" y="800072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au 39"/>
          <p:cNvGraphicFramePr>
            <a:graphicFrameLocks noGrp="1"/>
          </p:cNvGraphicFramePr>
          <p:nvPr/>
        </p:nvGraphicFramePr>
        <p:xfrm>
          <a:off x="5600697" y="800072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au 40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" name="Tableau 41"/>
          <p:cNvGraphicFramePr>
            <a:graphicFrameLocks noGrp="1"/>
          </p:cNvGraphicFramePr>
          <p:nvPr/>
        </p:nvGraphicFramePr>
        <p:xfrm>
          <a:off x="6300789" y="800072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au 42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au 43"/>
          <p:cNvGraphicFramePr>
            <a:graphicFrameLocks noGrp="1"/>
          </p:cNvGraphicFramePr>
          <p:nvPr/>
        </p:nvGraphicFramePr>
        <p:xfrm>
          <a:off x="3100365" y="1600178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au 44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Tableau 46"/>
          <p:cNvGraphicFramePr>
            <a:graphicFrameLocks noGrp="1"/>
          </p:cNvGraphicFramePr>
          <p:nvPr/>
        </p:nvGraphicFramePr>
        <p:xfrm>
          <a:off x="3900473" y="1600178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Tableau 47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au 48"/>
          <p:cNvGraphicFramePr>
            <a:graphicFrameLocks noGrp="1"/>
          </p:cNvGraphicFramePr>
          <p:nvPr/>
        </p:nvGraphicFramePr>
        <p:xfrm>
          <a:off x="4700577" y="1600178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" name="Tableau 49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au 50"/>
          <p:cNvGraphicFramePr>
            <a:graphicFrameLocks noGrp="1"/>
          </p:cNvGraphicFramePr>
          <p:nvPr/>
        </p:nvGraphicFramePr>
        <p:xfrm>
          <a:off x="5500682" y="1600178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Tableau 51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au 52"/>
          <p:cNvGraphicFramePr>
            <a:graphicFrameLocks noGrp="1"/>
          </p:cNvGraphicFramePr>
          <p:nvPr/>
        </p:nvGraphicFramePr>
        <p:xfrm>
          <a:off x="6300789" y="1600178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" name="Tableau 53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au 54"/>
          <p:cNvGraphicFramePr>
            <a:graphicFrameLocks noGrp="1"/>
          </p:cNvGraphicFramePr>
          <p:nvPr/>
        </p:nvGraphicFramePr>
        <p:xfrm>
          <a:off x="3100365" y="2700323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Tableau 55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au 56"/>
          <p:cNvGraphicFramePr>
            <a:graphicFrameLocks noGrp="1"/>
          </p:cNvGraphicFramePr>
          <p:nvPr/>
        </p:nvGraphicFramePr>
        <p:xfrm>
          <a:off x="3900473" y="2700323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Tableau 57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Tableau 58"/>
          <p:cNvGraphicFramePr>
            <a:graphicFrameLocks noGrp="1"/>
          </p:cNvGraphicFramePr>
          <p:nvPr/>
        </p:nvGraphicFramePr>
        <p:xfrm>
          <a:off x="4700577" y="2700323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" name="Tableau 59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au 60"/>
          <p:cNvGraphicFramePr>
            <a:graphicFrameLocks noGrp="1"/>
          </p:cNvGraphicFramePr>
          <p:nvPr/>
        </p:nvGraphicFramePr>
        <p:xfrm>
          <a:off x="5500682" y="2700323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Tableau 61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Tableau 62"/>
          <p:cNvGraphicFramePr>
            <a:graphicFrameLocks noGrp="1"/>
          </p:cNvGraphicFramePr>
          <p:nvPr/>
        </p:nvGraphicFramePr>
        <p:xfrm>
          <a:off x="6300789" y="2700323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Tableau 63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Tableau 64"/>
          <p:cNvGraphicFramePr>
            <a:graphicFrameLocks noGrp="1"/>
          </p:cNvGraphicFramePr>
          <p:nvPr/>
        </p:nvGraphicFramePr>
        <p:xfrm>
          <a:off x="3100367" y="3400415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" name="Tableau 65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" name="Tableau 66"/>
          <p:cNvGraphicFramePr>
            <a:graphicFrameLocks noGrp="1"/>
          </p:cNvGraphicFramePr>
          <p:nvPr/>
        </p:nvGraphicFramePr>
        <p:xfrm>
          <a:off x="3900472" y="3400415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Tableau 67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au 68"/>
          <p:cNvGraphicFramePr>
            <a:graphicFrameLocks noGrp="1"/>
          </p:cNvGraphicFramePr>
          <p:nvPr/>
        </p:nvGraphicFramePr>
        <p:xfrm>
          <a:off x="4700578" y="3400415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Tableau 69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au 70"/>
          <p:cNvGraphicFramePr>
            <a:graphicFrameLocks noGrp="1"/>
          </p:cNvGraphicFramePr>
          <p:nvPr/>
        </p:nvGraphicFramePr>
        <p:xfrm>
          <a:off x="5500682" y="3400415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Tableau 71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Tableau 72"/>
          <p:cNvGraphicFramePr>
            <a:graphicFrameLocks noGrp="1"/>
          </p:cNvGraphicFramePr>
          <p:nvPr/>
        </p:nvGraphicFramePr>
        <p:xfrm>
          <a:off x="6300789" y="3400415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Tableau 73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Tableau 74"/>
          <p:cNvGraphicFramePr>
            <a:graphicFrameLocks noGrp="1"/>
          </p:cNvGraphicFramePr>
          <p:nvPr/>
        </p:nvGraphicFramePr>
        <p:xfrm>
          <a:off x="3100367" y="4200521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au 75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au 76"/>
          <p:cNvGraphicFramePr>
            <a:graphicFrameLocks noGrp="1"/>
          </p:cNvGraphicFramePr>
          <p:nvPr/>
        </p:nvGraphicFramePr>
        <p:xfrm>
          <a:off x="3900473" y="4200521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" name="Tableau 77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Tableau 78"/>
          <p:cNvGraphicFramePr>
            <a:graphicFrameLocks noGrp="1"/>
          </p:cNvGraphicFramePr>
          <p:nvPr/>
        </p:nvGraphicFramePr>
        <p:xfrm>
          <a:off x="4700577" y="4200521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au 79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Tableau 80"/>
          <p:cNvGraphicFramePr>
            <a:graphicFrameLocks noGrp="1"/>
          </p:cNvGraphicFramePr>
          <p:nvPr/>
        </p:nvGraphicFramePr>
        <p:xfrm>
          <a:off x="5600697" y="4200521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Tableau 81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au 82"/>
          <p:cNvGraphicFramePr>
            <a:graphicFrameLocks noGrp="1"/>
          </p:cNvGraphicFramePr>
          <p:nvPr/>
        </p:nvGraphicFramePr>
        <p:xfrm>
          <a:off x="6300789" y="4200521"/>
          <a:ext cx="2000265" cy="210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Tableau 83"/>
          <p:cNvGraphicFramePr>
            <a:graphicFrameLocks noGrp="1"/>
          </p:cNvGraphicFramePr>
          <p:nvPr/>
        </p:nvGraphicFramePr>
        <p:xfrm>
          <a:off x="8951138" y="1373506"/>
          <a:ext cx="3700485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097"/>
                <a:gridCol w="740097"/>
                <a:gridCol w="740097"/>
                <a:gridCol w="740097"/>
                <a:gridCol w="740097"/>
              </a:tblGrid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9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fr-FR" sz="3900" dirty="0"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5" name="ZoneTexte 84"/>
          <p:cNvSpPr txBox="1"/>
          <p:nvPr/>
        </p:nvSpPr>
        <p:spPr>
          <a:xfrm>
            <a:off x="3600430" y="8284127"/>
            <a:ext cx="8901175" cy="1600713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>
              <a:buFont typeface="+mj-lt"/>
              <a:buAutoNum type="arabicPeriod"/>
            </a:pPr>
            <a:r>
              <a:rPr lang="fr-FR" b="1" dirty="0" smtClean="0">
                <a:solidFill>
                  <a:srgbClr val="FF0000"/>
                </a:solidFill>
                <a:latin typeface="Roboto"/>
              </a:rPr>
              <a:t>La convolution à la même taille que l’image d’origine</a:t>
            </a:r>
          </a:p>
          <a:p>
            <a:pPr marL="458217" indent="-458217">
              <a:buFont typeface="+mj-lt"/>
              <a:buAutoNum type="arabicPeriod"/>
            </a:pPr>
            <a:r>
              <a:rPr lang="fr-FR" b="1" dirty="0" smtClean="0">
                <a:solidFill>
                  <a:srgbClr val="FF0000"/>
                </a:solidFill>
                <a:latin typeface="Roboto"/>
              </a:rPr>
              <a:t>Les informations aux bords de l’image sont préservées</a:t>
            </a:r>
          </a:p>
          <a:p>
            <a:pPr marL="458217" indent="-458217">
              <a:buFont typeface="+mj-lt"/>
              <a:buAutoNum type="arabicPeriod"/>
            </a:pPr>
            <a:r>
              <a:rPr lang="fr-FR" b="1" dirty="0" smtClean="0">
                <a:solidFill>
                  <a:srgbClr val="FF0000"/>
                </a:solidFill>
                <a:latin typeface="Roboto"/>
              </a:rPr>
              <a:t>Le </a:t>
            </a:r>
            <a:r>
              <a:rPr lang="fr-FR" b="1" dirty="0" err="1" smtClean="0">
                <a:solidFill>
                  <a:srgbClr val="FF0000"/>
                </a:solidFill>
                <a:latin typeface="Roboto"/>
              </a:rPr>
              <a:t>padding</a:t>
            </a:r>
            <a:r>
              <a:rPr lang="fr-FR" b="1" smtClean="0">
                <a:solidFill>
                  <a:srgbClr val="FF0000"/>
                </a:solidFill>
                <a:latin typeface="Roboto"/>
              </a:rPr>
              <a:t>: K/2</a:t>
            </a:r>
            <a:endParaRPr lang="fr-FR" b="1" dirty="0" smtClean="0">
              <a:solidFill>
                <a:srgbClr val="FF0000"/>
              </a:solidFill>
              <a:latin typeface="Roboto"/>
            </a:endParaRPr>
          </a:p>
          <a:p>
            <a:pPr marL="458217" indent="-458217">
              <a:buFont typeface="+mj-lt"/>
              <a:buAutoNum type="arabicPeriod"/>
            </a:pP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2700312" y="1000101"/>
          <a:ext cx="8701140" cy="79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076"/>
                <a:gridCol w="580076"/>
                <a:gridCol w="580076"/>
                <a:gridCol w="580076"/>
                <a:gridCol w="580076"/>
                <a:gridCol w="580076"/>
                <a:gridCol w="580076"/>
                <a:gridCol w="580076"/>
                <a:gridCol w="580076"/>
                <a:gridCol w="580076"/>
                <a:gridCol w="580076"/>
                <a:gridCol w="580076"/>
                <a:gridCol w="580076"/>
                <a:gridCol w="580076"/>
                <a:gridCol w="580076"/>
              </a:tblGrid>
              <a:tr h="526736"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26736"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2257396" y="328651"/>
          <a:ext cx="5214968" cy="904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</a:tblGrid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2828900" y="1303953"/>
          <a:ext cx="4117080" cy="713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</a:tblGrid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542886" y="884234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2257396" y="38416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2543150" y="371444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au 13"/>
          <p:cNvGraphicFramePr>
            <a:graphicFrameLocks noGrp="1"/>
          </p:cNvGraphicFramePr>
          <p:nvPr/>
        </p:nvGraphicFramePr>
        <p:xfrm>
          <a:off x="2828902" y="371444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3114654" y="38416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au 16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au 17"/>
          <p:cNvGraphicFramePr>
            <a:graphicFrameLocks noGrp="1"/>
          </p:cNvGraphicFramePr>
          <p:nvPr/>
        </p:nvGraphicFramePr>
        <p:xfrm>
          <a:off x="3400406" y="371444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3686158" y="38416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Tableau 21"/>
          <p:cNvGraphicFramePr>
            <a:graphicFrameLocks noGrp="1"/>
          </p:cNvGraphicFramePr>
          <p:nvPr/>
        </p:nvGraphicFramePr>
        <p:xfrm>
          <a:off x="3971910" y="38416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au 22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4257662" y="38416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au 24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Tableau 25"/>
          <p:cNvGraphicFramePr>
            <a:graphicFrameLocks noGrp="1"/>
          </p:cNvGraphicFramePr>
          <p:nvPr/>
        </p:nvGraphicFramePr>
        <p:xfrm>
          <a:off x="4471974" y="38416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au 26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4757726" y="38416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au 28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5043480" y="371444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au 30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Tableau 31"/>
          <p:cNvGraphicFramePr>
            <a:graphicFrameLocks noGrp="1"/>
          </p:cNvGraphicFramePr>
          <p:nvPr/>
        </p:nvGraphicFramePr>
        <p:xfrm>
          <a:off x="5329232" y="38416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5614984" y="38416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Tableau 35"/>
          <p:cNvGraphicFramePr>
            <a:graphicFrameLocks noGrp="1"/>
          </p:cNvGraphicFramePr>
          <p:nvPr/>
        </p:nvGraphicFramePr>
        <p:xfrm>
          <a:off x="5829296" y="38416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6115050" y="371444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0" name="Tableau 39"/>
          <p:cNvGraphicFramePr>
            <a:graphicFrameLocks noGrp="1"/>
          </p:cNvGraphicFramePr>
          <p:nvPr/>
        </p:nvGraphicFramePr>
        <p:xfrm>
          <a:off x="2257396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au 40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2" name="Tableau 41"/>
          <p:cNvGraphicFramePr>
            <a:graphicFrameLocks noGrp="1"/>
          </p:cNvGraphicFramePr>
          <p:nvPr/>
        </p:nvGraphicFramePr>
        <p:xfrm>
          <a:off x="2543148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au 42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Tableau 43"/>
          <p:cNvGraphicFramePr>
            <a:graphicFrameLocks noGrp="1"/>
          </p:cNvGraphicFramePr>
          <p:nvPr/>
        </p:nvGraphicFramePr>
        <p:xfrm>
          <a:off x="2828900" y="812796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au 44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6" name="Tableau 45"/>
          <p:cNvGraphicFramePr>
            <a:graphicFrameLocks noGrp="1"/>
          </p:cNvGraphicFramePr>
          <p:nvPr/>
        </p:nvGraphicFramePr>
        <p:xfrm>
          <a:off x="3114652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Tableau 46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8" name="Tableau 47"/>
          <p:cNvGraphicFramePr>
            <a:graphicFrameLocks noGrp="1"/>
          </p:cNvGraphicFramePr>
          <p:nvPr/>
        </p:nvGraphicFramePr>
        <p:xfrm>
          <a:off x="3400404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au 48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0" name="Tableau 49"/>
          <p:cNvGraphicFramePr>
            <a:graphicFrameLocks noGrp="1"/>
          </p:cNvGraphicFramePr>
          <p:nvPr/>
        </p:nvGraphicFramePr>
        <p:xfrm>
          <a:off x="3686156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au 50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2" name="Tableau 51"/>
          <p:cNvGraphicFramePr>
            <a:graphicFrameLocks noGrp="1"/>
          </p:cNvGraphicFramePr>
          <p:nvPr/>
        </p:nvGraphicFramePr>
        <p:xfrm>
          <a:off x="3971910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au 52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Tableau 53"/>
          <p:cNvGraphicFramePr>
            <a:graphicFrameLocks noGrp="1"/>
          </p:cNvGraphicFramePr>
          <p:nvPr/>
        </p:nvGraphicFramePr>
        <p:xfrm>
          <a:off x="4257662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au 54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6" name="Tableau 55"/>
          <p:cNvGraphicFramePr>
            <a:graphicFrameLocks noGrp="1"/>
          </p:cNvGraphicFramePr>
          <p:nvPr/>
        </p:nvGraphicFramePr>
        <p:xfrm>
          <a:off x="4543414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au 56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Tableau 57"/>
          <p:cNvGraphicFramePr>
            <a:graphicFrameLocks noGrp="1"/>
          </p:cNvGraphicFramePr>
          <p:nvPr/>
        </p:nvGraphicFramePr>
        <p:xfrm>
          <a:off x="4829166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Tableau 58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0" name="Tableau 59"/>
          <p:cNvGraphicFramePr>
            <a:graphicFrameLocks noGrp="1"/>
          </p:cNvGraphicFramePr>
          <p:nvPr/>
        </p:nvGraphicFramePr>
        <p:xfrm>
          <a:off x="5114916" y="812796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au 60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2" name="Tableau 61"/>
          <p:cNvGraphicFramePr>
            <a:graphicFrameLocks noGrp="1"/>
          </p:cNvGraphicFramePr>
          <p:nvPr/>
        </p:nvGraphicFramePr>
        <p:xfrm>
          <a:off x="5329230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Tableau 62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4" name="Tableau 63"/>
          <p:cNvGraphicFramePr>
            <a:graphicFrameLocks noGrp="1"/>
          </p:cNvGraphicFramePr>
          <p:nvPr/>
        </p:nvGraphicFramePr>
        <p:xfrm>
          <a:off x="5614982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Tableau 64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Tableau 65"/>
          <p:cNvGraphicFramePr>
            <a:graphicFrameLocks noGrp="1"/>
          </p:cNvGraphicFramePr>
          <p:nvPr/>
        </p:nvGraphicFramePr>
        <p:xfrm>
          <a:off x="5900736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" name="Tableau 66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8" name="Tableau 67"/>
          <p:cNvGraphicFramePr>
            <a:graphicFrameLocks noGrp="1"/>
          </p:cNvGraphicFramePr>
          <p:nvPr/>
        </p:nvGraphicFramePr>
        <p:xfrm>
          <a:off x="6115050" y="80007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au 68"/>
          <p:cNvGraphicFramePr>
            <a:graphicFrameLocks noGrp="1"/>
          </p:cNvGraphicFramePr>
          <p:nvPr/>
        </p:nvGraphicFramePr>
        <p:xfrm>
          <a:off x="8043874" y="1287467"/>
          <a:ext cx="4267200" cy="5143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0" name="Tableau 69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1" name="ZoneTexte 70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884" y="942948"/>
            <a:ext cx="5968398" cy="5902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>
            <a:off x="1400140" y="7086616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Roboto"/>
              </a:rPr>
              <a:t>Image originale</a:t>
            </a:r>
            <a:endParaRPr lang="fr-FR" sz="2800" dirty="0">
              <a:latin typeface="Roboto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00800" y="963687"/>
            <a:ext cx="6143668" cy="5837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7329494" y="7086616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Roboto"/>
              </a:rPr>
              <a:t>Convolution 1</a:t>
            </a:r>
            <a:endParaRPr lang="fr-FR" sz="2800" dirty="0"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757198" y="8399614"/>
            <a:ext cx="11644394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r>
              <a:rPr lang="fr-FR" sz="3200" dirty="0" smtClean="0">
                <a:latin typeface="Roboto"/>
              </a:rPr>
              <a:t>Filtre 1: c’est l’identité! La convolution produit l’image d’origine</a:t>
            </a:r>
            <a:endParaRPr lang="fr-FR" sz="3200" dirty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2257396" y="328651"/>
          <a:ext cx="5214968" cy="904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</a:tblGrid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2828900" y="1303953"/>
          <a:ext cx="4117080" cy="713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</a:tblGrid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542886" y="514320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au 70"/>
          <p:cNvGraphicFramePr>
            <a:graphicFrameLocks noGrp="1"/>
          </p:cNvGraphicFramePr>
          <p:nvPr/>
        </p:nvGraphicFramePr>
        <p:xfrm>
          <a:off x="542886" y="3313126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Tableau 71"/>
          <p:cNvGraphicFramePr>
            <a:graphicFrameLocks noGrp="1"/>
          </p:cNvGraphicFramePr>
          <p:nvPr/>
        </p:nvGraphicFramePr>
        <p:xfrm>
          <a:off x="542884" y="609920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73" name="Connecteur droit 72"/>
          <p:cNvCxnSpPr/>
          <p:nvPr/>
        </p:nvCxnSpPr>
        <p:spPr>
          <a:xfrm rot="5400000">
            <a:off x="-54000" y="4456586"/>
            <a:ext cx="2600343" cy="2223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400008" y="7229492"/>
            <a:ext cx="1643074" cy="158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Tableau 76"/>
          <p:cNvGraphicFramePr>
            <a:graphicFrameLocks noGrp="1"/>
          </p:cNvGraphicFramePr>
          <p:nvPr/>
        </p:nvGraphicFramePr>
        <p:xfrm>
          <a:off x="3400406" y="222883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79" name="Connecteur droit 78"/>
          <p:cNvCxnSpPr/>
          <p:nvPr/>
        </p:nvCxnSpPr>
        <p:spPr>
          <a:xfrm>
            <a:off x="4757726" y="2228832"/>
            <a:ext cx="4572032" cy="92869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 flipV="1">
            <a:off x="4757726" y="3586154"/>
            <a:ext cx="4572032" cy="100013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Flèche droite 83"/>
          <p:cNvSpPr/>
          <p:nvPr/>
        </p:nvSpPr>
        <p:spPr>
          <a:xfrm rot="3746740">
            <a:off x="2943259" y="2774599"/>
            <a:ext cx="1005803" cy="50006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Ellipse 84"/>
          <p:cNvSpPr/>
          <p:nvPr/>
        </p:nvSpPr>
        <p:spPr>
          <a:xfrm>
            <a:off x="3829032" y="3157526"/>
            <a:ext cx="428628" cy="428628"/>
          </a:xfrm>
          <a:prstGeom prst="ellipse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Ellipse 85"/>
          <p:cNvSpPr/>
          <p:nvPr/>
        </p:nvSpPr>
        <p:spPr>
          <a:xfrm>
            <a:off x="9115444" y="3157526"/>
            <a:ext cx="428628" cy="428628"/>
          </a:xfrm>
          <a:prstGeom prst="ellipse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87" name="Tableau 86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57924" y="1014387"/>
            <a:ext cx="6000792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08" y="1014386"/>
            <a:ext cx="5968398" cy="5902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10"/>
          <p:cNvSpPr txBox="1"/>
          <p:nvPr/>
        </p:nvSpPr>
        <p:spPr>
          <a:xfrm>
            <a:off x="1257264" y="7158054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Roboto"/>
              </a:rPr>
              <a:t>Image originale</a:t>
            </a:r>
            <a:endParaRPr lang="fr-FR" sz="2800" dirty="0">
              <a:latin typeface="Roboto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7186618" y="7158054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Roboto"/>
              </a:rPr>
              <a:t>Convolution 2</a:t>
            </a:r>
            <a:endParaRPr lang="fr-FR" sz="2800" dirty="0">
              <a:latin typeface="Roboto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471446" y="8301062"/>
            <a:ext cx="11644394" cy="1108270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just"/>
            <a:r>
              <a:rPr lang="fr-FR" sz="3200" dirty="0" smtClean="0">
                <a:latin typeface="Roboto"/>
              </a:rPr>
              <a:t>Filtre 2: La convolution produit une translation de l’image d’origine vers le bas à droite</a:t>
            </a:r>
            <a:endParaRPr lang="fr-FR" sz="3200" dirty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2257396" y="328651"/>
          <a:ext cx="5214968" cy="904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</a:tblGrid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2828900" y="1303953"/>
          <a:ext cx="4117080" cy="713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</a:tblGrid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542886" y="514320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au 70"/>
          <p:cNvGraphicFramePr>
            <a:graphicFrameLocks noGrp="1"/>
          </p:cNvGraphicFramePr>
          <p:nvPr/>
        </p:nvGraphicFramePr>
        <p:xfrm>
          <a:off x="542886" y="3313126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Tableau 71"/>
          <p:cNvGraphicFramePr>
            <a:graphicFrameLocks noGrp="1"/>
          </p:cNvGraphicFramePr>
          <p:nvPr/>
        </p:nvGraphicFramePr>
        <p:xfrm>
          <a:off x="542884" y="609920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73" name="Connecteur droit 72"/>
          <p:cNvCxnSpPr/>
          <p:nvPr/>
        </p:nvCxnSpPr>
        <p:spPr>
          <a:xfrm rot="5400000">
            <a:off x="-54000" y="4456586"/>
            <a:ext cx="2600343" cy="2223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400008" y="7229492"/>
            <a:ext cx="1643074" cy="158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Tableau 76"/>
          <p:cNvGraphicFramePr>
            <a:graphicFrameLocks noGrp="1"/>
          </p:cNvGraphicFramePr>
          <p:nvPr/>
        </p:nvGraphicFramePr>
        <p:xfrm>
          <a:off x="3400406" y="2228832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79" name="Connecteur droit 78"/>
          <p:cNvCxnSpPr/>
          <p:nvPr/>
        </p:nvCxnSpPr>
        <p:spPr>
          <a:xfrm>
            <a:off x="4757726" y="2228832"/>
            <a:ext cx="4572032" cy="92869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 flipV="1">
            <a:off x="4757726" y="3586154"/>
            <a:ext cx="4572032" cy="100013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Ellipse 84"/>
          <p:cNvSpPr/>
          <p:nvPr/>
        </p:nvSpPr>
        <p:spPr>
          <a:xfrm>
            <a:off x="3900470" y="3157526"/>
            <a:ext cx="428628" cy="428628"/>
          </a:xfrm>
          <a:prstGeom prst="ellipse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87" name="Tableau 86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6" name="Ellipse 85"/>
          <p:cNvSpPr/>
          <p:nvPr/>
        </p:nvSpPr>
        <p:spPr>
          <a:xfrm>
            <a:off x="9115444" y="3157526"/>
            <a:ext cx="428628" cy="428628"/>
          </a:xfrm>
          <a:prstGeom prst="ellipse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/>
          <p:cNvSpPr txBox="1"/>
          <p:nvPr/>
        </p:nvSpPr>
        <p:spPr>
          <a:xfrm>
            <a:off x="257132" y="8729690"/>
            <a:ext cx="192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 smtClean="0">
                <a:solidFill>
                  <a:srgbClr val="FF0000"/>
                </a:solidFill>
                <a:latin typeface="Roboto"/>
              </a:rPr>
              <a:t>Symétrie!</a:t>
            </a:r>
            <a:endParaRPr lang="fr-FR" sz="2000" b="1" dirty="0">
              <a:solidFill>
                <a:srgbClr val="FF0000"/>
              </a:solidFill>
              <a:latin typeface="Roboto"/>
            </a:endParaRPr>
          </a:p>
        </p:txBody>
      </p:sp>
      <p:graphicFrame>
        <p:nvGraphicFramePr>
          <p:cNvPr id="22" name="Tableau 21"/>
          <p:cNvGraphicFramePr>
            <a:graphicFrameLocks noGrp="1"/>
          </p:cNvGraphicFramePr>
          <p:nvPr/>
        </p:nvGraphicFramePr>
        <p:xfrm>
          <a:off x="3400406" y="2728898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23" name="Connecteur droit 22"/>
          <p:cNvCxnSpPr/>
          <p:nvPr/>
        </p:nvCxnSpPr>
        <p:spPr>
          <a:xfrm>
            <a:off x="4757726" y="2728898"/>
            <a:ext cx="4572032" cy="92869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 flipV="1">
            <a:off x="4757726" y="4086220"/>
            <a:ext cx="4572032" cy="100013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lipse 24"/>
          <p:cNvSpPr/>
          <p:nvPr/>
        </p:nvSpPr>
        <p:spPr>
          <a:xfrm>
            <a:off x="3900470" y="3657592"/>
            <a:ext cx="428628" cy="428628"/>
          </a:xfrm>
          <a:prstGeom prst="ellipse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7" name="Tableau 26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Ellipse 25"/>
          <p:cNvSpPr/>
          <p:nvPr/>
        </p:nvSpPr>
        <p:spPr>
          <a:xfrm>
            <a:off x="9115444" y="3657592"/>
            <a:ext cx="428628" cy="428628"/>
          </a:xfrm>
          <a:prstGeom prst="ellipse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2" name="Tableau 31"/>
          <p:cNvGraphicFramePr>
            <a:graphicFrameLocks noGrp="1"/>
          </p:cNvGraphicFramePr>
          <p:nvPr/>
        </p:nvGraphicFramePr>
        <p:xfrm>
          <a:off x="3400404" y="3228964"/>
          <a:ext cx="1357320" cy="234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33" name="Connecteur droit 32"/>
          <p:cNvCxnSpPr/>
          <p:nvPr/>
        </p:nvCxnSpPr>
        <p:spPr>
          <a:xfrm>
            <a:off x="4757724" y="3228964"/>
            <a:ext cx="4572032" cy="92869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V="1">
            <a:off x="4757724" y="4586286"/>
            <a:ext cx="4572032" cy="100013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3900468" y="4157658"/>
            <a:ext cx="428628" cy="428628"/>
          </a:xfrm>
          <a:prstGeom prst="ellipse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Ellipse 35"/>
          <p:cNvSpPr/>
          <p:nvPr/>
        </p:nvSpPr>
        <p:spPr>
          <a:xfrm>
            <a:off x="9115442" y="4157658"/>
            <a:ext cx="428628" cy="428628"/>
          </a:xfrm>
          <a:prstGeom prst="ellipse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8043874" y="1287467"/>
          <a:ext cx="4267200" cy="701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  <a:gridCol w="284480"/>
              </a:tblGrid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57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5" grpId="1" animBg="1"/>
      <p:bldP spid="86" grpId="0" animBg="1"/>
      <p:bldP spid="86" grpId="1" animBg="1"/>
      <p:bldP spid="25" grpId="0" animBg="1"/>
      <p:bldP spid="25" grpId="1" animBg="1"/>
      <p:bldP spid="26" grpId="0" animBg="1"/>
      <p:bldP spid="26" grpId="1" animBg="1"/>
      <p:bldP spid="35" grpId="0" animBg="1"/>
      <p:bldP spid="35" grpId="1" animBg="1"/>
      <p:bldP spid="36" grpId="0" animBg="1"/>
      <p:bldP spid="3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08" y="1014386"/>
            <a:ext cx="5968398" cy="5902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>
            <a:off x="1257264" y="7158054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Roboto"/>
              </a:rPr>
              <a:t>Image originale</a:t>
            </a:r>
            <a:endParaRPr lang="fr-FR" sz="2800" dirty="0">
              <a:latin typeface="Robo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7186618" y="7158054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Roboto"/>
              </a:rPr>
              <a:t>Convolution 3</a:t>
            </a:r>
            <a:endParaRPr lang="fr-FR" sz="2800" dirty="0"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71446" y="8301062"/>
            <a:ext cx="11644394" cy="1108270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just"/>
            <a:r>
              <a:rPr lang="fr-FR" sz="3200" dirty="0" smtClean="0">
                <a:latin typeface="Roboto"/>
              </a:rPr>
              <a:t>Filtre 3: La convolution produit une moyenne (des voisins) de l’image d’origine. </a:t>
            </a:r>
            <a:endParaRPr lang="fr-FR" sz="3200" dirty="0">
              <a:latin typeface="Roboto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9362" y="1009507"/>
            <a:ext cx="6000792" cy="5934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2257396" y="328651"/>
          <a:ext cx="5214968" cy="9043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</a:tblGrid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2828900" y="1303953"/>
          <a:ext cx="4117080" cy="713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  <a:gridCol w="274472"/>
              </a:tblGrid>
              <a:tr h="47599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75999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7615248" y="1157269"/>
          <a:ext cx="5043480" cy="7429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</a:tblGrid>
              <a:tr h="49530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142877" y="514320"/>
          <a:ext cx="1900205" cy="2571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1"/>
                <a:gridCol w="380041"/>
                <a:gridCol w="380041"/>
                <a:gridCol w="380041"/>
                <a:gridCol w="380041"/>
              </a:tblGrid>
              <a:tr h="467776"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700665">
                <a:tc>
                  <a:txBody>
                    <a:bodyPr/>
                    <a:lstStyle/>
                    <a:p>
                      <a:endParaRPr lang="fr-FR" sz="20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7776">
                <a:tc>
                  <a:txBody>
                    <a:bodyPr/>
                    <a:lstStyle/>
                    <a:p>
                      <a:endParaRPr lang="fr-FR" sz="20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7776">
                <a:tc>
                  <a:txBody>
                    <a:bodyPr/>
                    <a:lstStyle/>
                    <a:p>
                      <a:endParaRPr lang="fr-FR" sz="20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7776">
                <a:tc>
                  <a:txBody>
                    <a:bodyPr/>
                    <a:lstStyle/>
                    <a:p>
                      <a:endParaRPr lang="fr-FR" sz="20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au 76"/>
          <p:cNvGraphicFramePr>
            <a:graphicFrameLocks noGrp="1"/>
          </p:cNvGraphicFramePr>
          <p:nvPr/>
        </p:nvGraphicFramePr>
        <p:xfrm>
          <a:off x="3400406" y="2157394"/>
          <a:ext cx="1357320" cy="2492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"/>
                <a:gridCol w="271464"/>
                <a:gridCol w="271464"/>
                <a:gridCol w="271464"/>
                <a:gridCol w="271464"/>
              </a:tblGrid>
              <a:tr h="468946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sz="1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sz="1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.5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  <a:tr h="468946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5098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79" name="Connecteur droit 78"/>
          <p:cNvCxnSpPr/>
          <p:nvPr/>
        </p:nvCxnSpPr>
        <p:spPr>
          <a:xfrm>
            <a:off x="4757726" y="2228832"/>
            <a:ext cx="4572032" cy="92869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 flipV="1">
            <a:off x="4757726" y="3586154"/>
            <a:ext cx="4572032" cy="100013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Ellipse 84"/>
          <p:cNvSpPr/>
          <p:nvPr/>
        </p:nvSpPr>
        <p:spPr>
          <a:xfrm>
            <a:off x="3900470" y="3157526"/>
            <a:ext cx="428628" cy="428628"/>
          </a:xfrm>
          <a:prstGeom prst="ellipse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Ellipse 85"/>
          <p:cNvSpPr/>
          <p:nvPr/>
        </p:nvSpPr>
        <p:spPr>
          <a:xfrm>
            <a:off x="8901130" y="3157526"/>
            <a:ext cx="428628" cy="428628"/>
          </a:xfrm>
          <a:prstGeom prst="ellipse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/>
          <p:cNvSpPr txBox="1"/>
          <p:nvPr/>
        </p:nvSpPr>
        <p:spPr>
          <a:xfrm>
            <a:off x="114256" y="3157526"/>
            <a:ext cx="192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 smtClean="0">
                <a:solidFill>
                  <a:srgbClr val="FF0000"/>
                </a:solidFill>
                <a:latin typeface="Roboto"/>
              </a:rPr>
              <a:t>Symétrie!</a:t>
            </a:r>
            <a:endParaRPr lang="fr-FR" sz="2000" b="1" dirty="0">
              <a:solidFill>
                <a:srgbClr val="FF0000"/>
              </a:solidFill>
              <a:latin typeface="Roboto"/>
            </a:endParaRPr>
          </a:p>
        </p:txBody>
      </p:sp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7615246" y="1157269"/>
          <a:ext cx="5043480" cy="7452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  <a:gridCol w="336232"/>
              </a:tblGrid>
              <a:tr h="495303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3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5" grpId="1" animBg="1"/>
      <p:bldP spid="86" grpId="0" animBg="1"/>
      <p:bldP spid="8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08" y="1014386"/>
            <a:ext cx="5968398" cy="5902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>
            <a:off x="1257264" y="7158054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Roboto"/>
              </a:rPr>
              <a:t>Image originale</a:t>
            </a:r>
            <a:endParaRPr lang="fr-FR" sz="2800" dirty="0">
              <a:latin typeface="Robo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7400932" y="7206338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Roboto"/>
              </a:rPr>
              <a:t>Convolution 4</a:t>
            </a:r>
            <a:endParaRPr lang="fr-FR" sz="2800" dirty="0"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57132" y="8407238"/>
            <a:ext cx="11858708" cy="1108270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r>
              <a:rPr lang="fr-FR" sz="3200" dirty="0" smtClean="0">
                <a:latin typeface="Roboto"/>
              </a:rPr>
              <a:t>Filtre 4: La convolution produit une moyenne pondérée (la moitié de l’effet du filtre 3) de l’image d’origine. </a:t>
            </a:r>
            <a:endParaRPr lang="fr-FR" sz="3200" dirty="0">
              <a:latin typeface="Roboto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9362" y="1009507"/>
            <a:ext cx="6000792" cy="5934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6972304" y="7729558"/>
            <a:ext cx="4938746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FF0000"/>
                </a:solidFill>
                <a:latin typeface="Roboto"/>
              </a:rPr>
              <a:t>Normalisation!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257264" y="7586682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Roboto"/>
              </a:rPr>
              <a:t>Convolution 3</a:t>
            </a:r>
            <a:endParaRPr lang="fr-FR" sz="2800" dirty="0">
              <a:latin typeface="Robot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7400932" y="7634966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Roboto"/>
              </a:rPr>
              <a:t>Convolution 4</a:t>
            </a:r>
            <a:endParaRPr lang="fr-FR" sz="2800" dirty="0"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57132" y="8407238"/>
            <a:ext cx="11858708" cy="1108270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r>
              <a:rPr lang="fr-FR" sz="3200" dirty="0" smtClean="0">
                <a:latin typeface="Roboto"/>
              </a:rPr>
              <a:t>Les valeurs des pixels dans la convolution 4 sont de moitiés par rapport à celles de la convolution 3</a:t>
            </a:r>
            <a:endParaRPr lang="fr-FR" sz="3200" dirty="0">
              <a:latin typeface="Roboto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828768" y="14254"/>
            <a:ext cx="10930014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r"/>
            <a:r>
              <a:rPr lang="fr-FR" dirty="0" smtClean="0">
                <a:solidFill>
                  <a:schemeClr val="accent3"/>
                </a:solidFill>
                <a:latin typeface="Roboto"/>
              </a:rPr>
              <a:t>Jetons un coup de d’œil de plus prés au niveau des pixels à l’aide d’</a:t>
            </a:r>
            <a:r>
              <a:rPr lang="fr-FR" dirty="0" err="1" smtClean="0">
                <a:solidFill>
                  <a:schemeClr val="accent3"/>
                </a:solidFill>
                <a:latin typeface="Roboto"/>
              </a:rPr>
              <a:t>openCV</a:t>
            </a:r>
            <a:endParaRPr lang="fr-FR" dirty="0">
              <a:solidFill>
                <a:schemeClr val="accent3"/>
              </a:solidFill>
              <a:latin typeface="Roboto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2805" y="1479817"/>
            <a:ext cx="5965463" cy="5463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694" y="1443014"/>
            <a:ext cx="6082651" cy="55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Ellipse 10"/>
          <p:cNvSpPr/>
          <p:nvPr/>
        </p:nvSpPr>
        <p:spPr>
          <a:xfrm>
            <a:off x="900074" y="2228832"/>
            <a:ext cx="285752" cy="285752"/>
          </a:xfrm>
          <a:prstGeom prst="ellipse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7186618" y="2157394"/>
            <a:ext cx="285752" cy="285752"/>
          </a:xfrm>
          <a:prstGeom prst="ellipse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1257264" y="4729162"/>
            <a:ext cx="285752" cy="285752"/>
          </a:xfrm>
          <a:prstGeom prst="ellipse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7686684" y="4729162"/>
            <a:ext cx="285752" cy="285752"/>
          </a:xfrm>
          <a:prstGeom prst="ellipse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/>
          <p:cNvSpPr/>
          <p:nvPr/>
        </p:nvSpPr>
        <p:spPr>
          <a:xfrm>
            <a:off x="2900338" y="5872170"/>
            <a:ext cx="285752" cy="285752"/>
          </a:xfrm>
          <a:prstGeom prst="ellipse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/>
          <p:cNvSpPr/>
          <p:nvPr/>
        </p:nvSpPr>
        <p:spPr>
          <a:xfrm>
            <a:off x="10044138" y="5800732"/>
            <a:ext cx="285752" cy="285752"/>
          </a:xfrm>
          <a:prstGeom prst="ellipse">
            <a:avLst/>
          </a:pr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23749" y="0"/>
            <a:ext cx="10177851" cy="942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72436" y="800072"/>
            <a:ext cx="4214842" cy="1296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1614454" y="2157396"/>
          <a:ext cx="8215368" cy="671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28"/>
                <a:gridCol w="1369228"/>
                <a:gridCol w="1369228"/>
                <a:gridCol w="1369228"/>
                <a:gridCol w="1381136"/>
                <a:gridCol w="1357320"/>
              </a:tblGrid>
              <a:tr h="1119195"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115576" y="4514848"/>
            <a:ext cx="2439882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370988" y="3443278"/>
            <a:ext cx="672358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829692" y="3443278"/>
            <a:ext cx="672358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829692" y="7943872"/>
            <a:ext cx="672358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328966" y="7872434"/>
            <a:ext cx="672358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86288" y="3514716"/>
            <a:ext cx="637312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758254" y="4657724"/>
            <a:ext cx="637312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29494" y="3514716"/>
            <a:ext cx="637312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86288" y="7929586"/>
            <a:ext cx="637312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328966" y="6872302"/>
            <a:ext cx="637312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328966" y="4586286"/>
            <a:ext cx="637312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758254" y="6872302"/>
            <a:ext cx="637312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472370" y="7929586"/>
            <a:ext cx="637312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972172" y="3443278"/>
            <a:ext cx="71438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043610" y="7943872"/>
            <a:ext cx="71438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829692" y="5657856"/>
            <a:ext cx="71438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328966" y="5657856"/>
            <a:ext cx="71438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748202" y="4514848"/>
            <a:ext cx="723904" cy="90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472370" y="4443410"/>
            <a:ext cx="723904" cy="90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819640" y="6729426"/>
            <a:ext cx="723904" cy="90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400932" y="6729426"/>
            <a:ext cx="723904" cy="90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043610" y="4657724"/>
            <a:ext cx="651936" cy="62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186486" y="6800864"/>
            <a:ext cx="651936" cy="62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757726" y="5800732"/>
            <a:ext cx="651936" cy="62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400932" y="5729294"/>
            <a:ext cx="651936" cy="62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186486" y="5657856"/>
            <a:ext cx="447677" cy="777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23749" y="0"/>
            <a:ext cx="10177851" cy="942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72436" y="800072"/>
            <a:ext cx="4214842" cy="1296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1614454" y="2157396"/>
          <a:ext cx="8215368" cy="671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28"/>
                <a:gridCol w="1369228"/>
                <a:gridCol w="1369228"/>
                <a:gridCol w="1369228"/>
                <a:gridCol w="1381136"/>
                <a:gridCol w="1357320"/>
              </a:tblGrid>
              <a:tr h="1119195"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112718" y="4300534"/>
            <a:ext cx="2360312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602492" y="3443278"/>
            <a:ext cx="941580" cy="842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57528" y="3443278"/>
            <a:ext cx="941580" cy="842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57528" y="7800996"/>
            <a:ext cx="941580" cy="842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686816" y="7800996"/>
            <a:ext cx="941580" cy="842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86618" y="3371840"/>
            <a:ext cx="1183627" cy="804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71974" y="3371840"/>
            <a:ext cx="1183627" cy="804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74759" y="4514848"/>
            <a:ext cx="1183627" cy="804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14652" y="4514848"/>
            <a:ext cx="1183627" cy="804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5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074033" y="6729426"/>
            <a:ext cx="1183627" cy="804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615378" y="6729426"/>
            <a:ext cx="1183627" cy="804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7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71974" y="7872434"/>
            <a:ext cx="1183627" cy="804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86618" y="7872434"/>
            <a:ext cx="1183627" cy="804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972172" y="3443278"/>
            <a:ext cx="862483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043610" y="7943872"/>
            <a:ext cx="862483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400404" y="5657856"/>
            <a:ext cx="862483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758254" y="5657856"/>
            <a:ext cx="862483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258056" y="4514848"/>
            <a:ext cx="1057281" cy="906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543412" y="4514848"/>
            <a:ext cx="1057281" cy="906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543412" y="6751879"/>
            <a:ext cx="1057281" cy="906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7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258056" y="6729426"/>
            <a:ext cx="1057281" cy="906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909581" y="4562475"/>
            <a:ext cx="991285" cy="738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0" name="Picture 1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543412" y="5729294"/>
            <a:ext cx="991285" cy="738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" name="Picture 1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329494" y="5729294"/>
            <a:ext cx="991285" cy="738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" name="Picture 1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972172" y="6800864"/>
            <a:ext cx="991285" cy="738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" name="Picture 10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186486" y="5657856"/>
            <a:ext cx="447677" cy="777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23749" y="0"/>
            <a:ext cx="10177851" cy="942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72436" y="800072"/>
            <a:ext cx="4214842" cy="1296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1614454" y="2157396"/>
          <a:ext cx="8215368" cy="671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28"/>
                <a:gridCol w="1369228"/>
                <a:gridCol w="1369228"/>
                <a:gridCol w="1369228"/>
                <a:gridCol w="1381136"/>
                <a:gridCol w="1357320"/>
              </a:tblGrid>
              <a:tr h="1119195"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187013" y="4514848"/>
            <a:ext cx="2460643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24179" y="3443278"/>
            <a:ext cx="1204919" cy="747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14652" y="7943872"/>
            <a:ext cx="1204919" cy="747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53467" y="7943872"/>
            <a:ext cx="1204919" cy="747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43940" y="3586154"/>
            <a:ext cx="1204919" cy="747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26650" y="3443278"/>
            <a:ext cx="1188332" cy="63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14652" y="6800864"/>
            <a:ext cx="1188332" cy="63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14652" y="4586286"/>
            <a:ext cx="1188332" cy="63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4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86618" y="3514716"/>
            <a:ext cx="1188332" cy="63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8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43940" y="4657724"/>
            <a:ext cx="1188332" cy="63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9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43940" y="6800864"/>
            <a:ext cx="1188332" cy="63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00536" y="7943872"/>
            <a:ext cx="1188332" cy="63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86618" y="7872434"/>
            <a:ext cx="1188332" cy="63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896840" y="3443278"/>
            <a:ext cx="1075464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114652" y="5657856"/>
            <a:ext cx="1075464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615378" y="5729294"/>
            <a:ext cx="1075464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8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900734" y="7943872"/>
            <a:ext cx="1075464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543412" y="4586286"/>
            <a:ext cx="1047758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9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329494" y="4586286"/>
            <a:ext cx="1047758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0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614850" y="6872302"/>
            <a:ext cx="1047758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329494" y="6800864"/>
            <a:ext cx="1047758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258056" y="5657856"/>
            <a:ext cx="1202924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2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829296" y="4586286"/>
            <a:ext cx="1202924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471974" y="5586418"/>
            <a:ext cx="1202924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4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900734" y="6800864"/>
            <a:ext cx="1202924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115048" y="5729294"/>
            <a:ext cx="642942" cy="600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72634" y="4371972"/>
            <a:ext cx="3286148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23749" y="0"/>
            <a:ext cx="10177851" cy="942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72436" y="800072"/>
            <a:ext cx="4214842" cy="1296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1614454" y="2157396"/>
          <a:ext cx="8215368" cy="671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28"/>
                <a:gridCol w="1369228"/>
                <a:gridCol w="1369228"/>
                <a:gridCol w="1369228"/>
                <a:gridCol w="1381136"/>
                <a:gridCol w="1357320"/>
              </a:tblGrid>
              <a:tr h="1119195">
                <a:tc>
                  <a:txBody>
                    <a:bodyPr/>
                    <a:lstStyle/>
                    <a:p>
                      <a:pPr algn="ctr"/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0.0029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0.0029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0.0585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0.0585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0.1591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0.0585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0.0585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0.0029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0.0029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32" y="1443014"/>
            <a:ext cx="12287336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ZoneTexte 2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23749" y="0"/>
            <a:ext cx="10177851" cy="942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3829032" y="624159"/>
            <a:ext cx="857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dirty="0" smtClean="0">
                <a:solidFill>
                  <a:schemeClr val="accent3"/>
                </a:solidFill>
                <a:latin typeface="Roboto"/>
              </a:rPr>
              <a:t>Avec Python et </a:t>
            </a:r>
            <a:r>
              <a:rPr lang="fr-FR" b="1" dirty="0" err="1" smtClean="0">
                <a:solidFill>
                  <a:schemeClr val="accent3"/>
                </a:solidFill>
                <a:latin typeface="Roboto"/>
              </a:rPr>
              <a:t>numpy</a:t>
            </a:r>
            <a:endParaRPr lang="fr-FR" b="1" dirty="0">
              <a:solidFill>
                <a:schemeClr val="accent3"/>
              </a:solidFill>
              <a:latin typeface="Roboto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57594" y="4800600"/>
            <a:ext cx="4953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829032" y="624159"/>
            <a:ext cx="857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dirty="0" smtClean="0">
                <a:solidFill>
                  <a:schemeClr val="accent3"/>
                </a:solidFill>
                <a:latin typeface="Roboto"/>
              </a:rPr>
              <a:t>Avec Python et </a:t>
            </a:r>
            <a:r>
              <a:rPr lang="fr-FR" b="1" dirty="0" err="1" smtClean="0">
                <a:solidFill>
                  <a:schemeClr val="accent3"/>
                </a:solidFill>
                <a:latin typeface="Roboto"/>
              </a:rPr>
              <a:t>numpy</a:t>
            </a:r>
            <a:r>
              <a:rPr lang="fr-FR" b="1" dirty="0" smtClean="0">
                <a:solidFill>
                  <a:schemeClr val="accent3"/>
                </a:solidFill>
                <a:latin typeface="Roboto"/>
              </a:rPr>
              <a:t> sigma=5</a:t>
            </a:r>
            <a:endParaRPr lang="fr-FR" b="1" dirty="0">
              <a:solidFill>
                <a:schemeClr val="accent3"/>
              </a:solidFill>
              <a:latin typeface="Roboto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416" y="1157262"/>
            <a:ext cx="11639424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71908" y="4729162"/>
            <a:ext cx="489585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8189" y="-9557"/>
            <a:ext cx="11563411" cy="952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614322" y="1014386"/>
            <a:ext cx="11715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le paramètre sigma (σ) contrôle l'étalement de la distribution gaussienne.</a:t>
            </a:r>
          </a:p>
          <a:p>
            <a:r>
              <a:rPr lang="fr-FR" dirty="0" smtClean="0">
                <a:latin typeface="Roboto"/>
              </a:rPr>
              <a:t> Augmenter la valeur de sigma dans le filtre gaussien a plusieurs effets :</a:t>
            </a:r>
          </a:p>
          <a:p>
            <a:r>
              <a:rPr lang="fr-FR" b="1" dirty="0" smtClean="0">
                <a:latin typeface="Roboto"/>
              </a:rPr>
              <a:t>Augmenter la distribution (étaler)-&gt; un plus grand flou, plus grand perte de détails.</a:t>
            </a:r>
            <a:endParaRPr lang="fr-FR" dirty="0">
              <a:latin typeface="Roboto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143008" y="8086748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5x5, sigma=1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7115180" y="7982273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11x11, sigma=2</a:t>
            </a:r>
            <a:endParaRPr lang="fr-FR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7198" y="3371840"/>
            <a:ext cx="462915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5048" y="2789868"/>
            <a:ext cx="5857916" cy="501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8189" y="-9557"/>
            <a:ext cx="11563411" cy="952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614322" y="1014386"/>
            <a:ext cx="11715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le paramètre sigma (σ) contrôle l'étalement de la distribution gaussienne.</a:t>
            </a:r>
          </a:p>
          <a:p>
            <a:r>
              <a:rPr lang="fr-FR" dirty="0" smtClean="0">
                <a:latin typeface="Roboto"/>
              </a:rPr>
              <a:t> Augmenter la valeur de sigma dans le filtre gaussien a plusieurs effets :</a:t>
            </a:r>
          </a:p>
          <a:p>
            <a:r>
              <a:rPr lang="fr-FR" b="1" dirty="0" smtClean="0">
                <a:latin typeface="Roboto"/>
              </a:rPr>
              <a:t>Augmenter la distribution (étaler)-&gt; un plus grand flou, plus grand perte de détails</a:t>
            </a:r>
            <a:endParaRPr lang="fr-FR" dirty="0">
              <a:latin typeface="Roboto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14322" y="6982141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Image originale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4757726" y="6943740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5x5, sigma=1</a:t>
            </a:r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570" y="2871774"/>
            <a:ext cx="4000500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8" y="2819400"/>
            <a:ext cx="408622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472502" y="2843226"/>
            <a:ext cx="3914775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ZoneTexte 11"/>
          <p:cNvSpPr txBox="1"/>
          <p:nvPr/>
        </p:nvSpPr>
        <p:spPr>
          <a:xfrm>
            <a:off x="8829692" y="6943740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11x11, sigma=2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8129" y="657196"/>
            <a:ext cx="11963463" cy="762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685760" y="1371576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Augmenter la valeur de sigma dans le filtre gaussien sans augmenter la valeur de K: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28570" y="7410769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5x5, sigma=1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8615378" y="7372368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5x5, sigma=5</a:t>
            </a:r>
            <a:endParaRPr lang="fr-FR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33" y="3514716"/>
            <a:ext cx="4158680" cy="3571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424866" y="3528074"/>
            <a:ext cx="4376734" cy="3701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88209" y="3514730"/>
            <a:ext cx="4212855" cy="3643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ZoneTexte 13"/>
          <p:cNvSpPr txBox="1"/>
          <p:nvPr/>
        </p:nvSpPr>
        <p:spPr>
          <a:xfrm>
            <a:off x="4329098" y="7410769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5x5, sigma=3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8129" y="657196"/>
            <a:ext cx="11963463" cy="762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685760" y="1371576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Augmenter la valeur de sigma dans le filtre gaussien sans augmenter la valeur de </a:t>
            </a:r>
            <a:r>
              <a:rPr lang="fr-FR" smtClean="0">
                <a:latin typeface="Roboto"/>
              </a:rPr>
              <a:t>K:</a:t>
            </a:r>
            <a:endParaRPr lang="fr-FR" dirty="0" smtClean="0">
              <a:latin typeface="Roboto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14322" y="6982141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Image originale</a:t>
            </a:r>
            <a:endParaRPr lang="fr-FR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570" y="2871774"/>
            <a:ext cx="4000500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ZoneTexte 13"/>
          <p:cNvSpPr txBox="1"/>
          <p:nvPr/>
        </p:nvSpPr>
        <p:spPr>
          <a:xfrm>
            <a:off x="4757726" y="6943740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5x5, sigma=1</a:t>
            </a:r>
            <a:endParaRPr lang="fr-FR" dirty="0"/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8" y="2819400"/>
            <a:ext cx="408622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401064" y="2800336"/>
            <a:ext cx="402907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ZoneTexte 15"/>
          <p:cNvSpPr txBox="1"/>
          <p:nvPr/>
        </p:nvSpPr>
        <p:spPr>
          <a:xfrm>
            <a:off x="8686816" y="6943740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5x5, sigma=1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57132" y="728634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latin typeface="Roboto"/>
              </a:rPr>
              <a:t>Filtre gaussien discret: 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185826" y="2157396"/>
          <a:ext cx="8215368" cy="671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28"/>
                <a:gridCol w="1369228"/>
                <a:gridCol w="1369228"/>
                <a:gridCol w="1369228"/>
                <a:gridCol w="1381136"/>
                <a:gridCol w="1357320"/>
              </a:tblGrid>
              <a:tr h="1119195">
                <a:tc>
                  <a:txBody>
                    <a:bodyPr/>
                    <a:lstStyle/>
                    <a:p>
                      <a:pPr algn="ctr"/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0.0029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0.0029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0.0585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0.0585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0.1591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0.0585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0.0585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0.0029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0.0215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0.0130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0.0029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15452" y="0"/>
            <a:ext cx="3286148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75630" y="5157790"/>
            <a:ext cx="2983152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57132" y="728634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latin typeface="Roboto"/>
              </a:rPr>
              <a:t>Filtre gaussien discret: 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185826" y="2157396"/>
          <a:ext cx="8215368" cy="671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28"/>
                <a:gridCol w="1369228"/>
                <a:gridCol w="1369228"/>
                <a:gridCol w="1369228"/>
                <a:gridCol w="1381136"/>
                <a:gridCol w="1357320"/>
              </a:tblGrid>
              <a:tr h="1119195">
                <a:tc>
                  <a:txBody>
                    <a:bodyPr/>
                    <a:lstStyle/>
                    <a:p>
                      <a:pPr algn="ctr"/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0.0211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0.0574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0.0947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0.0574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0.0211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0.0947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0.1562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0.0947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0.0211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0.0574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0.0947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0.0574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0.0211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0.0028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15452" y="0"/>
            <a:ext cx="3286148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75630" y="5157790"/>
            <a:ext cx="2983152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57132" y="728634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latin typeface="Roboto"/>
              </a:rPr>
              <a:t>Filtre gaussien discret: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884" y="3014650"/>
            <a:ext cx="4686288" cy="203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257132" y="1338539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Propriété de l’exponentielle: </a:t>
            </a:r>
            <a:endParaRPr lang="fr-FR" dirty="0" smtClean="0">
              <a:latin typeface="Roboto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43412" y="1157262"/>
            <a:ext cx="4477632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ZoneTexte 9"/>
          <p:cNvSpPr txBox="1"/>
          <p:nvPr/>
        </p:nvSpPr>
        <p:spPr>
          <a:xfrm>
            <a:off x="328570" y="2085956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L’équation précédente devient: </a:t>
            </a:r>
            <a:endParaRPr lang="fr-FR" dirty="0" smtClean="0">
              <a:latin typeface="Roboto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32685" y="3448381"/>
            <a:ext cx="5568841" cy="213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Flèche droite 12"/>
          <p:cNvSpPr/>
          <p:nvPr/>
        </p:nvSpPr>
        <p:spPr>
          <a:xfrm>
            <a:off x="5400668" y="4371972"/>
            <a:ext cx="714380" cy="35719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71842" y="5729294"/>
            <a:ext cx="4938540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ZoneTexte 14"/>
          <p:cNvSpPr txBox="1"/>
          <p:nvPr/>
        </p:nvSpPr>
        <p:spPr>
          <a:xfrm>
            <a:off x="42818" y="8910967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  <a:latin typeface="Roboto"/>
              </a:rPr>
              <a:t>Le filtre </a:t>
            </a:r>
            <a:r>
              <a:rPr lang="fr-FR" b="1" dirty="0" smtClean="0">
                <a:solidFill>
                  <a:srgbClr val="FF0000"/>
                </a:solidFill>
                <a:latin typeface="Roboto"/>
              </a:rPr>
              <a:t>gaussien </a:t>
            </a:r>
            <a:r>
              <a:rPr lang="fr-FR" b="1" dirty="0" smtClean="0">
                <a:solidFill>
                  <a:srgbClr val="FF0000"/>
                </a:solidFill>
                <a:latin typeface="Roboto"/>
              </a:rPr>
              <a:t>est séparable!</a:t>
            </a:r>
            <a:endParaRPr lang="fr-FR" b="1" dirty="0" smtClean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3" grpId="0" animBg="1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57132" y="728634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latin typeface="Roboto"/>
              </a:rPr>
              <a:t>Filtre gaussien discret: </a:t>
            </a:r>
          </a:p>
        </p:txBody>
      </p:sp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400008" y="2085956"/>
          <a:ext cx="85344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-2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-1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0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1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2</a:t>
                      </a:r>
                      <a:endParaRPr lang="fr-FR" sz="3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400008" y="2864158"/>
          <a:ext cx="85344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4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1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0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1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4</a:t>
                      </a:r>
                      <a:endParaRPr lang="fr-FR" sz="3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1262" y="2085956"/>
            <a:ext cx="785818" cy="712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36981" y="2728898"/>
            <a:ext cx="678661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400008" y="3792852"/>
          <a:ext cx="85344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-2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-0.5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0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0.5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2</a:t>
                      </a:r>
                      <a:endParaRPr lang="fr-FR" sz="3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758386" y="3657592"/>
            <a:ext cx="79057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400008" y="4729162"/>
          <a:ext cx="85344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0.1353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0.6065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1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0.6065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0.1353</a:t>
                      </a:r>
                      <a:endParaRPr lang="fr-FR" sz="3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29787" y="4443410"/>
            <a:ext cx="1228731" cy="11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400008" y="5578802"/>
          <a:ext cx="85344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0.2125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0.9527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1.5707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0.9527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0.2125</a:t>
                      </a:r>
                      <a:endParaRPr lang="fr-FR" sz="3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506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329758" y="5443542"/>
            <a:ext cx="1785950" cy="1062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400008" y="6793248"/>
          <a:ext cx="85344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1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4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7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4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1</a:t>
                      </a:r>
                      <a:endParaRPr lang="fr-FR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ZoneTexte 21"/>
          <p:cNvSpPr txBox="1"/>
          <p:nvPr/>
        </p:nvSpPr>
        <p:spPr>
          <a:xfrm>
            <a:off x="9186882" y="6657988"/>
            <a:ext cx="2214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Normaliser en divisant par le min</a:t>
            </a:r>
            <a:endParaRPr lang="fr-FR" dirty="0">
              <a:latin typeface="Roboto"/>
            </a:endParaRPr>
          </a:p>
        </p:txBody>
      </p:sp>
      <p:pic>
        <p:nvPicPr>
          <p:cNvPr id="4506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1330022" y="0"/>
            <a:ext cx="1428760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57132" y="728634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latin typeface="Roboto"/>
              </a:rPr>
              <a:t>Filtre gaussien discret: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46" y="2338671"/>
            <a:ext cx="5682433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ZoneTexte 13"/>
          <p:cNvSpPr txBox="1"/>
          <p:nvPr/>
        </p:nvSpPr>
        <p:spPr>
          <a:xfrm>
            <a:off x="828636" y="5696257"/>
            <a:ext cx="5072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Fonction Gaussienne 1dimension</a:t>
            </a:r>
            <a:endParaRPr lang="fr-FR" dirty="0" smtClean="0">
              <a:latin typeface="Roboto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828636" y="6482075"/>
            <a:ext cx="5072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C’est une fonction continue</a:t>
            </a:r>
            <a:endParaRPr lang="fr-FR" dirty="0" smtClean="0">
              <a:latin typeface="Roboto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7329494" y="6449038"/>
            <a:ext cx="5072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Approximation discrète </a:t>
            </a:r>
            <a:r>
              <a:rPr lang="fr-FR" dirty="0" smtClean="0">
                <a:latin typeface="Roboto"/>
              </a:rPr>
              <a:t>d’une fonction gaussienne</a:t>
            </a:r>
            <a:endParaRPr lang="fr-FR" dirty="0" smtClean="0">
              <a:latin typeface="Roboto"/>
            </a:endParaRPr>
          </a:p>
        </p:txBody>
      </p:sp>
      <p:pic>
        <p:nvPicPr>
          <p:cNvPr id="3077" name="Picture 5" descr="C:\Users\Neo\Desktop\Pascal's_triangle_5.svg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00932" y="2338671"/>
            <a:ext cx="4500554" cy="3240399"/>
          </a:xfrm>
          <a:prstGeom prst="rect">
            <a:avLst/>
          </a:prstGeom>
          <a:noFill/>
        </p:spPr>
      </p:pic>
      <p:sp>
        <p:nvSpPr>
          <p:cNvPr id="18" name="ZoneTexte 17"/>
          <p:cNvSpPr txBox="1"/>
          <p:nvPr/>
        </p:nvSpPr>
        <p:spPr>
          <a:xfrm>
            <a:off x="7258056" y="5734658"/>
            <a:ext cx="5072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Le triangle de pascal</a:t>
            </a:r>
            <a:endParaRPr lang="fr-FR" dirty="0" smtClean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57132" y="728634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latin typeface="Roboto"/>
              </a:rPr>
              <a:t>Filtre gaussien discret: </a:t>
            </a:r>
          </a:p>
        </p:txBody>
      </p:sp>
      <p:pic>
        <p:nvPicPr>
          <p:cNvPr id="3077" name="Picture 5" descr="C:\Users\Neo\Desktop\Pascal's_triangle_5.sv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1974" y="1514452"/>
            <a:ext cx="4500554" cy="3240399"/>
          </a:xfrm>
          <a:prstGeom prst="rect">
            <a:avLst/>
          </a:prstGeom>
          <a:noFill/>
        </p:spPr>
      </p:pic>
      <p:sp>
        <p:nvSpPr>
          <p:cNvPr id="18" name="ZoneTexte 17"/>
          <p:cNvSpPr txBox="1"/>
          <p:nvPr/>
        </p:nvSpPr>
        <p:spPr>
          <a:xfrm>
            <a:off x="4257660" y="5157790"/>
            <a:ext cx="5072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Le triangle de pascal</a:t>
            </a:r>
            <a:endParaRPr lang="fr-FR" dirty="0" smtClean="0">
              <a:latin typeface="Roboto"/>
            </a:endParaRPr>
          </a:p>
        </p:txBody>
      </p:sp>
      <p:sp>
        <p:nvSpPr>
          <p:cNvPr id="10" name="Flèche droite 9"/>
          <p:cNvSpPr/>
          <p:nvPr/>
        </p:nvSpPr>
        <p:spPr>
          <a:xfrm>
            <a:off x="3328966" y="3657592"/>
            <a:ext cx="928694" cy="42862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2652746" y="6793248"/>
          <a:ext cx="85344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1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4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/>
                        <a:t>7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4</a:t>
                      </a:r>
                      <a:endParaRPr lang="fr-FR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200" dirty="0" smtClean="0"/>
                        <a:t>1</a:t>
                      </a:r>
                      <a:endParaRPr lang="fr-FR" sz="3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322" y="6515112"/>
            <a:ext cx="1428760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57132" y="728634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latin typeface="Roboto"/>
              </a:rPr>
              <a:t>Filtre gaussien discret: </a:t>
            </a:r>
          </a:p>
        </p:txBody>
      </p:sp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2400272" y="2371710"/>
          <a:ext cx="8215368" cy="671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28"/>
                <a:gridCol w="1369228"/>
                <a:gridCol w="1369228"/>
                <a:gridCol w="1369228"/>
                <a:gridCol w="1381136"/>
                <a:gridCol w="1357320"/>
              </a:tblGrid>
              <a:tr h="1119195">
                <a:tc>
                  <a:txBody>
                    <a:bodyPr/>
                    <a:lstStyle/>
                    <a:p>
                      <a:pPr algn="ctr"/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9" name="ZoneTexte 8"/>
          <p:cNvSpPr txBox="1"/>
          <p:nvPr/>
        </p:nvSpPr>
        <p:spPr>
          <a:xfrm>
            <a:off x="257132" y="1514452"/>
            <a:ext cx="5072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  <a:latin typeface="Roboto"/>
              </a:rPr>
              <a:t>Le produit tensoriel</a:t>
            </a:r>
            <a:endParaRPr lang="fr-FR" b="1" dirty="0" smtClean="0">
              <a:solidFill>
                <a:srgbClr val="FF0000"/>
              </a:solidFill>
              <a:latin typeface="Roboto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784" y="3670580"/>
            <a:ext cx="714380" cy="844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86222" y="8086748"/>
            <a:ext cx="714380" cy="844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44072" y="8086748"/>
            <a:ext cx="714380" cy="844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15510" y="3657592"/>
            <a:ext cx="714380" cy="844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72106" y="3657592"/>
            <a:ext cx="684422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14784" y="4729162"/>
            <a:ext cx="684422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86222" y="7015178"/>
            <a:ext cx="684422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30626" y="8158186"/>
            <a:ext cx="684422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88146" y="8158186"/>
            <a:ext cx="684422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15510" y="7015178"/>
            <a:ext cx="684422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44072" y="4872038"/>
            <a:ext cx="684422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58188" y="3729030"/>
            <a:ext cx="684422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38645" y="3657592"/>
            <a:ext cx="705163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14784" y="5943608"/>
            <a:ext cx="705163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00866" y="8158186"/>
            <a:ext cx="705163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44072" y="5872170"/>
            <a:ext cx="705163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757989" y="6015045"/>
            <a:ext cx="857257" cy="50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258188" y="4800600"/>
            <a:ext cx="831687" cy="752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26237" y="4729162"/>
            <a:ext cx="831687" cy="752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00668" y="7015178"/>
            <a:ext cx="831687" cy="752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212319" y="6977079"/>
            <a:ext cx="831687" cy="752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751184" y="4729162"/>
            <a:ext cx="80827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878414" y="7015178"/>
            <a:ext cx="80827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29230" y="5943608"/>
            <a:ext cx="80827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115312" y="5943608"/>
            <a:ext cx="80827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0" name="ZoneTexte 39"/>
          <p:cNvSpPr txBox="1"/>
          <p:nvPr/>
        </p:nvSpPr>
        <p:spPr>
          <a:xfrm>
            <a:off x="542884" y="4943476"/>
            <a:ext cx="2428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Somme=256</a:t>
            </a:r>
            <a:endParaRPr lang="fr-FR" dirty="0">
              <a:latin typeface="Roboto"/>
            </a:endParaRPr>
          </a:p>
        </p:txBody>
      </p:sp>
      <p:pic>
        <p:nvPicPr>
          <p:cNvPr id="41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863060" y="0"/>
            <a:ext cx="4938540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57132" y="728634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latin typeface="Roboto"/>
              </a:rPr>
              <a:t>Filtre gaussien discret: </a:t>
            </a:r>
          </a:p>
        </p:txBody>
      </p:sp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2400272" y="2371710"/>
          <a:ext cx="8215368" cy="671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28"/>
                <a:gridCol w="1369228"/>
                <a:gridCol w="1369228"/>
                <a:gridCol w="1369228"/>
                <a:gridCol w="1381136"/>
                <a:gridCol w="1357320"/>
              </a:tblGrid>
              <a:tr h="1119195">
                <a:tc>
                  <a:txBody>
                    <a:bodyPr/>
                    <a:lstStyle/>
                    <a:p>
                      <a:pPr algn="ctr"/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28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28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49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28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28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9" name="ZoneTexte 8"/>
          <p:cNvSpPr txBox="1"/>
          <p:nvPr/>
        </p:nvSpPr>
        <p:spPr>
          <a:xfrm>
            <a:off x="257132" y="1514452"/>
            <a:ext cx="5072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  <a:latin typeface="Roboto"/>
              </a:rPr>
              <a:t>Le produit tensoriel</a:t>
            </a:r>
            <a:endParaRPr lang="fr-FR" b="1" dirty="0" smtClean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400008" y="5410505"/>
            <a:ext cx="2428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Somme=289</a:t>
            </a:r>
            <a:endParaRPr lang="fr-FR" dirty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57132" y="728634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latin typeface="Roboto"/>
              </a:rPr>
              <a:t>Filtre gaussien discret: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57132" y="1514452"/>
            <a:ext cx="5072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  <a:latin typeface="Roboto"/>
              </a:rPr>
              <a:t>Compromis</a:t>
            </a:r>
            <a:endParaRPr lang="fr-FR" b="1" dirty="0" smtClean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400008" y="5410505"/>
            <a:ext cx="2428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289-256=33</a:t>
            </a:r>
            <a:endParaRPr lang="fr-FR" dirty="0">
              <a:latin typeface="Roboto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142876" y="6124885"/>
            <a:ext cx="2828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Change=33/2=16</a:t>
            </a:r>
            <a:endParaRPr lang="fr-FR" dirty="0">
              <a:latin typeface="Roboto"/>
            </a:endParaRPr>
          </a:p>
        </p:txBody>
      </p:sp>
      <p:graphicFrame>
        <p:nvGraphicFramePr>
          <p:cNvPr id="29" name="Tableau 28"/>
          <p:cNvGraphicFramePr>
            <a:graphicFrameLocks noGrp="1"/>
          </p:cNvGraphicFramePr>
          <p:nvPr/>
        </p:nvGraphicFramePr>
        <p:xfrm>
          <a:off x="2400272" y="2085958"/>
          <a:ext cx="8215368" cy="671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28"/>
                <a:gridCol w="1369228"/>
                <a:gridCol w="1369228"/>
                <a:gridCol w="1369228"/>
                <a:gridCol w="1381136"/>
                <a:gridCol w="1357320"/>
              </a:tblGrid>
              <a:tr h="1119195">
                <a:tc>
                  <a:txBody>
                    <a:bodyPr/>
                    <a:lstStyle/>
                    <a:p>
                      <a:pPr algn="ctr"/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28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28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49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28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28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2400272" y="2085958"/>
          <a:ext cx="8215368" cy="671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28"/>
                <a:gridCol w="1369228"/>
                <a:gridCol w="1369228"/>
                <a:gridCol w="1369228"/>
                <a:gridCol w="1381136"/>
                <a:gridCol w="1357320"/>
              </a:tblGrid>
              <a:tr h="1119195">
                <a:tc>
                  <a:txBody>
                    <a:bodyPr/>
                    <a:lstStyle/>
                    <a:p>
                      <a:pPr algn="ctr"/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b="1" dirty="0" smtClean="0">
                          <a:solidFill>
                            <a:srgbClr val="FFC000"/>
                          </a:solidFill>
                        </a:rPr>
                        <a:t>26</a:t>
                      </a:r>
                      <a:endParaRPr lang="fr-FR" sz="40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rgbClr val="FFC000"/>
                          </a:solidFill>
                        </a:rPr>
                        <a:t>26</a:t>
                      </a:r>
                      <a:endParaRPr lang="fr-FR" sz="40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rgbClr val="FFC000"/>
                          </a:solidFill>
                        </a:rPr>
                        <a:t>41</a:t>
                      </a:r>
                      <a:endParaRPr lang="fr-FR" sz="40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rgbClr val="FFC000"/>
                          </a:solidFill>
                        </a:rPr>
                        <a:t>26</a:t>
                      </a:r>
                      <a:endParaRPr lang="fr-FR" sz="40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rgbClr val="FFC000"/>
                          </a:solidFill>
                        </a:rPr>
                        <a:t>26</a:t>
                      </a:r>
                      <a:endParaRPr lang="fr-FR" sz="4000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119195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fr-FR" sz="4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5" grpId="0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0338" y="2356210"/>
            <a:ext cx="6357982" cy="5301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ZoneTexte 2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57132" y="728634"/>
            <a:ext cx="11715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  <a:latin typeface="Roboto"/>
              </a:rPr>
              <a:t>Filtre gaussien discret: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257132" y="1514452"/>
            <a:ext cx="6143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  <a:latin typeface="Roboto"/>
              </a:rPr>
              <a:t>Le </a:t>
            </a:r>
            <a:r>
              <a:rPr lang="fr-FR" b="1" dirty="0" err="1" smtClean="0">
                <a:solidFill>
                  <a:srgbClr val="FF0000"/>
                </a:solidFill>
                <a:latin typeface="Roboto"/>
              </a:rPr>
              <a:t>kernel</a:t>
            </a:r>
            <a:r>
              <a:rPr lang="fr-FR" b="1" dirty="0" smtClean="0">
                <a:solidFill>
                  <a:srgbClr val="FF0000"/>
                </a:solidFill>
                <a:latin typeface="Roboto"/>
              </a:rPr>
              <a:t> gaussien utilisé dans </a:t>
            </a:r>
            <a:r>
              <a:rPr lang="fr-FR" b="1" dirty="0" err="1" smtClean="0">
                <a:solidFill>
                  <a:srgbClr val="FF0000"/>
                </a:solidFill>
                <a:latin typeface="Roboto"/>
              </a:rPr>
              <a:t>OpenCV</a:t>
            </a:r>
            <a:endParaRPr lang="fr-FR" b="1" dirty="0" smtClean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2371</TotalTime>
  <Words>2561</Words>
  <Application>Microsoft Office PowerPoint</Application>
  <PresentationFormat>A3 (297 x 420 mm)</PresentationFormat>
  <Paragraphs>1929</Paragraphs>
  <Slides>33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4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Neo</dc:creator>
  <cp:lastModifiedBy>Neo</cp:lastModifiedBy>
  <cp:revision>478</cp:revision>
  <dcterms:created xsi:type="dcterms:W3CDTF">2023-10-23T05:28:53Z</dcterms:created>
  <dcterms:modified xsi:type="dcterms:W3CDTF">2023-11-27T15:07:31Z</dcterms:modified>
</cp:coreProperties>
</file>