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308" r:id="rId3"/>
    <p:sldId id="352" r:id="rId4"/>
    <p:sldId id="356" r:id="rId5"/>
    <p:sldId id="353" r:id="rId6"/>
    <p:sldId id="354" r:id="rId7"/>
    <p:sldId id="357" r:id="rId8"/>
    <p:sldId id="355" r:id="rId9"/>
    <p:sldId id="358" r:id="rId10"/>
    <p:sldId id="359" r:id="rId11"/>
    <p:sldId id="360" r:id="rId12"/>
    <p:sldId id="361" r:id="rId13"/>
    <p:sldId id="362" r:id="rId14"/>
    <p:sldId id="363" r:id="rId15"/>
    <p:sldId id="364" r:id="rId16"/>
    <p:sldId id="365" r:id="rId17"/>
    <p:sldId id="366" r:id="rId18"/>
    <p:sldId id="369" r:id="rId19"/>
    <p:sldId id="367" r:id="rId20"/>
    <p:sldId id="368" r:id="rId21"/>
    <p:sldId id="371" r:id="rId22"/>
    <p:sldId id="370" r:id="rId23"/>
    <p:sldId id="372" r:id="rId24"/>
    <p:sldId id="373" r:id="rId25"/>
    <p:sldId id="374" r:id="rId26"/>
    <p:sldId id="375" r:id="rId27"/>
    <p:sldId id="376" r:id="rId28"/>
    <p:sldId id="380" r:id="rId29"/>
    <p:sldId id="381" r:id="rId30"/>
    <p:sldId id="382" r:id="rId31"/>
    <p:sldId id="377" r:id="rId32"/>
    <p:sldId id="387" r:id="rId33"/>
    <p:sldId id="384" r:id="rId34"/>
    <p:sldId id="385" r:id="rId35"/>
    <p:sldId id="388" r:id="rId36"/>
    <p:sldId id="389" r:id="rId37"/>
    <p:sldId id="386" r:id="rId38"/>
  </p:sldIdLst>
  <p:sldSz cx="12801600" cy="9601200" type="A3"/>
  <p:notesSz cx="6858000" cy="9144000"/>
  <p:defaultTextStyle>
    <a:defPPr>
      <a:defRPr lang="fr-FR"/>
    </a:defPPr>
    <a:lvl1pPr marL="0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10956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21913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32869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43825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54782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65738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76695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87651" algn="l" defTabSz="122191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FF0000"/>
    <a:srgbClr val="00B0F0"/>
    <a:srgbClr val="000000"/>
    <a:srgbClr val="FFFFFF"/>
    <a:srgbClr val="254061"/>
    <a:srgbClr val="D7E4BD"/>
    <a:srgbClr val="FF0D0D"/>
    <a:srgbClr val="FFABAB"/>
    <a:srgbClr val="FFC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62" autoAdjust="0"/>
    <p:restoredTop sz="96595" autoAdjust="0"/>
  </p:normalViewPr>
  <p:slideViewPr>
    <p:cSldViewPr>
      <p:cViewPr varScale="1">
        <p:scale>
          <a:sx n="47" d="100"/>
          <a:sy n="47" d="100"/>
        </p:scale>
        <p:origin x="-858" y="-114"/>
      </p:cViewPr>
      <p:guideLst>
        <p:guide orient="horz" pos="3024"/>
        <p:guide pos="403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12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B9314D-6B09-49A3-9307-1ED5EB6C6A57}" type="datetimeFigureOut">
              <a:rPr lang="fr-FR" smtClean="0"/>
              <a:pPr/>
              <a:t>10/12/2023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07B5B-23FB-4845-A655-B6CE8E1B950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10956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21913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32869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43825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54782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65738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76695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87651" algn="l" defTabSz="122191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B07B5B-23FB-4845-A655-B6CE8E1B950E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B07B5B-23FB-4845-A655-B6CE8E1B950E}" type="slidenum">
              <a:rPr lang="fr-FR" smtClean="0"/>
              <a:pPr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B07B5B-23FB-4845-A655-B6CE8E1B950E}" type="slidenum">
              <a:rPr lang="fr-FR" smtClean="0"/>
              <a:pPr/>
              <a:t>32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B07B5B-23FB-4845-A655-B6CE8E1B950E}" type="slidenum">
              <a:rPr lang="fr-FR" smtClean="0"/>
              <a:pPr/>
              <a:t>33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60120" y="2982597"/>
            <a:ext cx="10881360" cy="205803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20240" y="5440680"/>
            <a:ext cx="8961120" cy="2453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10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219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32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438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547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657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76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876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10/12/2023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10/12/2023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11239" y="6169662"/>
            <a:ext cx="10881360" cy="190690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11239" y="4069399"/>
            <a:ext cx="10881360" cy="2100262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10956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21913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32869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4382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5478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6573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7669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8765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10/12/2023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40080" y="2240282"/>
            <a:ext cx="5654040" cy="6336348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07480" y="2240282"/>
            <a:ext cx="5654040" cy="6336348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10/12/2023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40080" y="2149158"/>
            <a:ext cx="5656263" cy="89566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10956" indent="0">
              <a:buNone/>
              <a:defRPr sz="2700" b="1"/>
            </a:lvl2pPr>
            <a:lvl3pPr marL="1221913" indent="0">
              <a:buNone/>
              <a:defRPr sz="2400" b="1"/>
            </a:lvl3pPr>
            <a:lvl4pPr marL="1832869" indent="0">
              <a:buNone/>
              <a:defRPr sz="2100" b="1"/>
            </a:lvl4pPr>
            <a:lvl5pPr marL="2443825" indent="0">
              <a:buNone/>
              <a:defRPr sz="2100" b="1"/>
            </a:lvl5pPr>
            <a:lvl6pPr marL="3054782" indent="0">
              <a:buNone/>
              <a:defRPr sz="2100" b="1"/>
            </a:lvl6pPr>
            <a:lvl7pPr marL="3665738" indent="0">
              <a:buNone/>
              <a:defRPr sz="2100" b="1"/>
            </a:lvl7pPr>
            <a:lvl8pPr marL="4276695" indent="0">
              <a:buNone/>
              <a:defRPr sz="2100" b="1"/>
            </a:lvl8pPr>
            <a:lvl9pPr marL="4887651" indent="0">
              <a:buNone/>
              <a:defRPr sz="21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40080" y="3044825"/>
            <a:ext cx="5656263" cy="55318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503036" y="2149158"/>
            <a:ext cx="5658486" cy="89566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10956" indent="0">
              <a:buNone/>
              <a:defRPr sz="2700" b="1"/>
            </a:lvl2pPr>
            <a:lvl3pPr marL="1221913" indent="0">
              <a:buNone/>
              <a:defRPr sz="2400" b="1"/>
            </a:lvl3pPr>
            <a:lvl4pPr marL="1832869" indent="0">
              <a:buNone/>
              <a:defRPr sz="2100" b="1"/>
            </a:lvl4pPr>
            <a:lvl5pPr marL="2443825" indent="0">
              <a:buNone/>
              <a:defRPr sz="2100" b="1"/>
            </a:lvl5pPr>
            <a:lvl6pPr marL="3054782" indent="0">
              <a:buNone/>
              <a:defRPr sz="2100" b="1"/>
            </a:lvl6pPr>
            <a:lvl7pPr marL="3665738" indent="0">
              <a:buNone/>
              <a:defRPr sz="2100" b="1"/>
            </a:lvl7pPr>
            <a:lvl8pPr marL="4276695" indent="0">
              <a:buNone/>
              <a:defRPr sz="2100" b="1"/>
            </a:lvl8pPr>
            <a:lvl9pPr marL="4887651" indent="0">
              <a:buNone/>
              <a:defRPr sz="21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503036" y="3044825"/>
            <a:ext cx="5658486" cy="55318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10/12/2023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10/12/2023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10/12/2023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0080" y="382270"/>
            <a:ext cx="4211639" cy="1626870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5071" y="382272"/>
            <a:ext cx="7156450" cy="8194358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40080" y="2009142"/>
            <a:ext cx="4211639" cy="6567488"/>
          </a:xfrm>
        </p:spPr>
        <p:txBody>
          <a:bodyPr/>
          <a:lstStyle>
            <a:lvl1pPr marL="0" indent="0">
              <a:buNone/>
              <a:defRPr sz="1900"/>
            </a:lvl1pPr>
            <a:lvl2pPr marL="610956" indent="0">
              <a:buNone/>
              <a:defRPr sz="1600"/>
            </a:lvl2pPr>
            <a:lvl3pPr marL="1221913" indent="0">
              <a:buNone/>
              <a:defRPr sz="1300"/>
            </a:lvl3pPr>
            <a:lvl4pPr marL="1832869" indent="0">
              <a:buNone/>
              <a:defRPr sz="1200"/>
            </a:lvl4pPr>
            <a:lvl5pPr marL="2443825" indent="0">
              <a:buNone/>
              <a:defRPr sz="1200"/>
            </a:lvl5pPr>
            <a:lvl6pPr marL="3054782" indent="0">
              <a:buNone/>
              <a:defRPr sz="1200"/>
            </a:lvl6pPr>
            <a:lvl7pPr marL="3665738" indent="0">
              <a:buNone/>
              <a:defRPr sz="1200"/>
            </a:lvl7pPr>
            <a:lvl8pPr marL="4276695" indent="0">
              <a:buNone/>
              <a:defRPr sz="1200"/>
            </a:lvl8pPr>
            <a:lvl9pPr marL="4887651" indent="0">
              <a:buNone/>
              <a:defRPr sz="12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10/12/2023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09203" y="6720840"/>
            <a:ext cx="7680960" cy="793433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509203" y="857885"/>
            <a:ext cx="7680960" cy="5760720"/>
          </a:xfrm>
        </p:spPr>
        <p:txBody>
          <a:bodyPr/>
          <a:lstStyle>
            <a:lvl1pPr marL="0" indent="0">
              <a:buNone/>
              <a:defRPr sz="4300"/>
            </a:lvl1pPr>
            <a:lvl2pPr marL="610956" indent="0">
              <a:buNone/>
              <a:defRPr sz="3700"/>
            </a:lvl2pPr>
            <a:lvl3pPr marL="1221913" indent="0">
              <a:buNone/>
              <a:defRPr sz="3200"/>
            </a:lvl3pPr>
            <a:lvl4pPr marL="1832869" indent="0">
              <a:buNone/>
              <a:defRPr sz="2700"/>
            </a:lvl4pPr>
            <a:lvl5pPr marL="2443825" indent="0">
              <a:buNone/>
              <a:defRPr sz="2700"/>
            </a:lvl5pPr>
            <a:lvl6pPr marL="3054782" indent="0">
              <a:buNone/>
              <a:defRPr sz="2700"/>
            </a:lvl6pPr>
            <a:lvl7pPr marL="3665738" indent="0">
              <a:buNone/>
              <a:defRPr sz="2700"/>
            </a:lvl7pPr>
            <a:lvl8pPr marL="4276695" indent="0">
              <a:buNone/>
              <a:defRPr sz="2700"/>
            </a:lvl8pPr>
            <a:lvl9pPr marL="4887651" indent="0">
              <a:buNone/>
              <a:defRPr sz="27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09203" y="7514273"/>
            <a:ext cx="7680960" cy="1126807"/>
          </a:xfrm>
        </p:spPr>
        <p:txBody>
          <a:bodyPr/>
          <a:lstStyle>
            <a:lvl1pPr marL="0" indent="0">
              <a:buNone/>
              <a:defRPr sz="1900"/>
            </a:lvl1pPr>
            <a:lvl2pPr marL="610956" indent="0">
              <a:buNone/>
              <a:defRPr sz="1600"/>
            </a:lvl2pPr>
            <a:lvl3pPr marL="1221913" indent="0">
              <a:buNone/>
              <a:defRPr sz="1300"/>
            </a:lvl3pPr>
            <a:lvl4pPr marL="1832869" indent="0">
              <a:buNone/>
              <a:defRPr sz="1200"/>
            </a:lvl4pPr>
            <a:lvl5pPr marL="2443825" indent="0">
              <a:buNone/>
              <a:defRPr sz="1200"/>
            </a:lvl5pPr>
            <a:lvl6pPr marL="3054782" indent="0">
              <a:buNone/>
              <a:defRPr sz="1200"/>
            </a:lvl6pPr>
            <a:lvl7pPr marL="3665738" indent="0">
              <a:buNone/>
              <a:defRPr sz="1200"/>
            </a:lvl7pPr>
            <a:lvl8pPr marL="4276695" indent="0">
              <a:buNone/>
              <a:defRPr sz="1200"/>
            </a:lvl8pPr>
            <a:lvl9pPr marL="4887651" indent="0">
              <a:buNone/>
              <a:defRPr sz="12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10/12/2023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10/12/2023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281160" y="384495"/>
            <a:ext cx="2880360" cy="819213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40080" y="384495"/>
            <a:ext cx="8427720" cy="819213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053A1-DE9F-468E-9F09-DD5DC5BA1446}" type="datetimeFigureOut">
              <a:rPr lang="fr-FR" smtClean="0"/>
              <a:pPr/>
              <a:t>10/12/2023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40080" y="384493"/>
            <a:ext cx="11521440" cy="1600200"/>
          </a:xfrm>
          <a:prstGeom prst="rect">
            <a:avLst/>
          </a:prstGeom>
        </p:spPr>
        <p:txBody>
          <a:bodyPr vert="horz" lIns="122191" tIns="61096" rIns="122191" bIns="61096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40080" y="2240282"/>
            <a:ext cx="11521440" cy="6336348"/>
          </a:xfrm>
          <a:prstGeom prst="rect">
            <a:avLst/>
          </a:prstGeom>
        </p:spPr>
        <p:txBody>
          <a:bodyPr vert="horz" lIns="122191" tIns="61096" rIns="122191" bIns="61096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40080" y="8898892"/>
            <a:ext cx="2987040" cy="511175"/>
          </a:xfrm>
          <a:prstGeom prst="rect">
            <a:avLst/>
          </a:prstGeom>
        </p:spPr>
        <p:txBody>
          <a:bodyPr vert="horz" lIns="122191" tIns="61096" rIns="122191" bIns="61096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053A1-DE9F-468E-9F09-DD5DC5BA1446}" type="datetimeFigureOut">
              <a:rPr lang="fr-FR" smtClean="0"/>
              <a:pPr/>
              <a:t>10/12/2023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373880" y="8898892"/>
            <a:ext cx="4053840" cy="511175"/>
          </a:xfrm>
          <a:prstGeom prst="rect">
            <a:avLst/>
          </a:prstGeom>
        </p:spPr>
        <p:txBody>
          <a:bodyPr vert="horz" lIns="122191" tIns="61096" rIns="122191" bIns="61096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174480" y="8898892"/>
            <a:ext cx="2987040" cy="511175"/>
          </a:xfrm>
          <a:prstGeom prst="rect">
            <a:avLst/>
          </a:prstGeom>
        </p:spPr>
        <p:txBody>
          <a:bodyPr vert="horz" lIns="122191" tIns="61096" rIns="122191" bIns="6109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5A7BF-C4F4-4907-A222-05A5D8F2639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21913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8217" indent="-458217" algn="l" defTabSz="1221913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2804" indent="-381848" algn="l" defTabSz="1221913" rtl="0" eaLnBrk="1" latinLnBrk="0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7391" indent="-305478" algn="l" defTabSz="1221913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8347" indent="-305478" algn="l" defTabSz="1221913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9304" indent="-305478" algn="l" defTabSz="1221913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60260" indent="-305478" algn="l" defTabSz="1221913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71216" indent="-305478" algn="l" defTabSz="1221913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82173" indent="-305478" algn="l" defTabSz="1221913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93129" indent="-305478" algn="l" defTabSz="1221913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10956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21913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32869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3825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54782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65738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76695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87651" algn="l" defTabSz="122191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0.png"/><Relationship Id="rId7" Type="http://schemas.openxmlformats.org/officeDocument/2006/relationships/image" Target="../media/image1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0.png"/><Relationship Id="rId7" Type="http://schemas.openxmlformats.org/officeDocument/2006/relationships/image" Target="../media/image1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26.png"/><Relationship Id="rId4" Type="http://schemas.openxmlformats.org/officeDocument/2006/relationships/image" Target="../media/image28.pn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200113" y="3737219"/>
            <a:ext cx="10101333" cy="1108270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sz="6400" b="1" dirty="0" smtClean="0">
                <a:solidFill>
                  <a:schemeClr val="accent1">
                    <a:lumMod val="75000"/>
                  </a:schemeClr>
                </a:solidFill>
                <a:latin typeface="Roboto"/>
                <a:ea typeface="Roboto Black" pitchFamily="2" charset="0"/>
              </a:rPr>
              <a:t>TAI: Série d’exercices 4</a:t>
            </a:r>
            <a:endParaRPr lang="fr-FR" sz="6400" b="1" dirty="0">
              <a:solidFill>
                <a:schemeClr val="accent1">
                  <a:lumMod val="75000"/>
                </a:schemeClr>
              </a:solidFill>
              <a:latin typeface="Roboto"/>
              <a:ea typeface="Roboto Black" pitchFamily="2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300391" y="8684116"/>
            <a:ext cx="6200818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N. </a:t>
            </a:r>
            <a:r>
              <a:rPr lang="fr-FR" dirty="0" err="1" smtClean="0">
                <a:solidFill>
                  <a:schemeClr val="accent1">
                    <a:lumMod val="75000"/>
                  </a:schemeClr>
                </a:solidFill>
              </a:rPr>
              <a:t>Mebtouche</a:t>
            </a:r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  Décembre 2023</a:t>
            </a:r>
            <a:endParaRPr lang="fr-FR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3202" y="1728766"/>
            <a:ext cx="5860283" cy="1204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3202" y="3086088"/>
            <a:ext cx="6004788" cy="1076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29626" y="1081064"/>
            <a:ext cx="2924188" cy="3022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467879" y="652436"/>
            <a:ext cx="10763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900998" y="1938320"/>
            <a:ext cx="419100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31164" y="4976818"/>
            <a:ext cx="2412872" cy="2181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617246" y="4943476"/>
            <a:ext cx="2569240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6" name="ZoneTexte 45"/>
          <p:cNvSpPr txBox="1"/>
          <p:nvPr/>
        </p:nvSpPr>
        <p:spPr>
          <a:xfrm>
            <a:off x="542884" y="8229624"/>
            <a:ext cx="8901175" cy="862049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>
              <a:buFont typeface="+mj-lt"/>
              <a:buAutoNum type="arabicPeriod"/>
            </a:pPr>
            <a:r>
              <a:rPr lang="fr-FR" b="1" dirty="0" smtClean="0">
                <a:solidFill>
                  <a:srgbClr val="FF0000"/>
                </a:solidFill>
                <a:latin typeface="Roboto"/>
              </a:rPr>
              <a:t>Il s’agit des dérivés horizontales et verticales</a:t>
            </a:r>
          </a:p>
          <a:p>
            <a:pPr marL="458217" indent="-458217">
              <a:buFont typeface="+mj-lt"/>
              <a:buAutoNum type="arabicPeriod"/>
            </a:pPr>
            <a:r>
              <a:rPr lang="fr-FR" b="1" dirty="0" smtClean="0">
                <a:solidFill>
                  <a:srgbClr val="FF0000"/>
                </a:solidFill>
                <a:latin typeface="Roboto"/>
              </a:rPr>
              <a:t>Les gradients -&gt; </a:t>
            </a:r>
            <a:r>
              <a:rPr lang="fr-FR" b="1" dirty="0" smtClean="0">
                <a:solidFill>
                  <a:srgbClr val="FF0000"/>
                </a:solidFill>
                <a:latin typeface="Roboto"/>
              </a:rPr>
              <a:t>calculés </a:t>
            </a:r>
            <a:r>
              <a:rPr lang="fr-FR" b="1" dirty="0" smtClean="0">
                <a:solidFill>
                  <a:srgbClr val="FF0000"/>
                </a:solidFill>
                <a:latin typeface="Roboto"/>
              </a:rPr>
              <a:t>comme une Convolution</a:t>
            </a:r>
            <a:endParaRPr lang="fr-FR" b="1" dirty="0">
              <a:solidFill>
                <a:srgbClr val="FF0000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542884" y="1228700"/>
          <a:ext cx="1333510" cy="1400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-371522" y="2800336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Filtre </a:t>
            </a:r>
            <a:r>
              <a:rPr lang="fr-FR" dirty="0" err="1" smtClean="0">
                <a:latin typeface="Roboto"/>
              </a:rPr>
              <a:t>Grad</a:t>
            </a:r>
            <a:r>
              <a:rPr lang="fr-FR" dirty="0" smtClean="0">
                <a:latin typeface="Roboto"/>
              </a:rPr>
              <a:t> x</a:t>
            </a:r>
            <a:endParaRPr lang="fr-FR" dirty="0">
              <a:latin typeface="Roboto"/>
            </a:endParaRPr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2847980" y="1157262"/>
          <a:ext cx="4481514" cy="6988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919"/>
                <a:gridCol w="746919"/>
                <a:gridCol w="746919"/>
                <a:gridCol w="746919"/>
                <a:gridCol w="746919"/>
                <a:gridCol w="746919"/>
              </a:tblGrid>
              <a:tr h="873526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/>
                        <a:t>50</a:t>
                      </a:r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/>
                        <a:t>150</a:t>
                      </a:r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8095493" y="1614876"/>
          <a:ext cx="3734595" cy="6114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919"/>
                <a:gridCol w="746919"/>
                <a:gridCol w="746919"/>
                <a:gridCol w="746919"/>
                <a:gridCol w="746919"/>
              </a:tblGrid>
              <a:tr h="873526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ZoneTexte 6"/>
          <p:cNvSpPr txBox="1"/>
          <p:nvPr/>
        </p:nvSpPr>
        <p:spPr>
          <a:xfrm>
            <a:off x="3400404" y="8372500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Image</a:t>
            </a:r>
            <a:endParaRPr lang="fr-FR" dirty="0">
              <a:latin typeface="Roboto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8401064" y="8372500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err="1" smtClean="0">
                <a:latin typeface="Roboto"/>
              </a:rPr>
              <a:t>Grad</a:t>
            </a:r>
            <a:r>
              <a:rPr lang="fr-FR" dirty="0" smtClean="0">
                <a:latin typeface="Roboto"/>
              </a:rPr>
              <a:t> X</a:t>
            </a:r>
            <a:endParaRPr lang="fr-FR" dirty="0">
              <a:latin typeface="Roboto"/>
            </a:endParaRPr>
          </a:p>
        </p:txBody>
      </p:sp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2828900" y="1228700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8115312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au 10"/>
          <p:cNvGraphicFramePr>
            <a:graphicFrameLocks noGrp="1"/>
          </p:cNvGraphicFramePr>
          <p:nvPr/>
        </p:nvGraphicFramePr>
        <p:xfrm>
          <a:off x="3543280" y="1228700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8901130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Tableau 12"/>
          <p:cNvGraphicFramePr>
            <a:graphicFrameLocks noGrp="1"/>
          </p:cNvGraphicFramePr>
          <p:nvPr/>
        </p:nvGraphicFramePr>
        <p:xfrm>
          <a:off x="4329098" y="1228700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au 13"/>
          <p:cNvGraphicFramePr>
            <a:graphicFrameLocks noGrp="1"/>
          </p:cNvGraphicFramePr>
          <p:nvPr/>
        </p:nvGraphicFramePr>
        <p:xfrm>
          <a:off x="9686948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Tableau 14"/>
          <p:cNvGraphicFramePr>
            <a:graphicFrameLocks noGrp="1"/>
          </p:cNvGraphicFramePr>
          <p:nvPr/>
        </p:nvGraphicFramePr>
        <p:xfrm>
          <a:off x="5043478" y="1228700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au 15"/>
          <p:cNvGraphicFramePr>
            <a:graphicFrameLocks noGrp="1"/>
          </p:cNvGraphicFramePr>
          <p:nvPr/>
        </p:nvGraphicFramePr>
        <p:xfrm>
          <a:off x="10401328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Tableau 16"/>
          <p:cNvGraphicFramePr>
            <a:graphicFrameLocks noGrp="1"/>
          </p:cNvGraphicFramePr>
          <p:nvPr/>
        </p:nvGraphicFramePr>
        <p:xfrm>
          <a:off x="5781670" y="1228700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au 17"/>
          <p:cNvGraphicFramePr>
            <a:graphicFrameLocks noGrp="1"/>
          </p:cNvGraphicFramePr>
          <p:nvPr/>
        </p:nvGraphicFramePr>
        <p:xfrm>
          <a:off x="11115708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Tableau 18"/>
          <p:cNvGraphicFramePr>
            <a:graphicFrameLocks noGrp="1"/>
          </p:cNvGraphicFramePr>
          <p:nvPr/>
        </p:nvGraphicFramePr>
        <p:xfrm>
          <a:off x="2828900" y="2085956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au 19"/>
          <p:cNvGraphicFramePr>
            <a:graphicFrameLocks noGrp="1"/>
          </p:cNvGraphicFramePr>
          <p:nvPr/>
        </p:nvGraphicFramePr>
        <p:xfrm>
          <a:off x="8186750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1" name="Tableau 20"/>
          <p:cNvGraphicFramePr>
            <a:graphicFrameLocks noGrp="1"/>
          </p:cNvGraphicFramePr>
          <p:nvPr/>
        </p:nvGraphicFramePr>
        <p:xfrm>
          <a:off x="3543280" y="2085956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au 21"/>
          <p:cNvGraphicFramePr>
            <a:graphicFrameLocks noGrp="1"/>
          </p:cNvGraphicFramePr>
          <p:nvPr/>
        </p:nvGraphicFramePr>
        <p:xfrm>
          <a:off x="8901130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3" name="Tableau 22"/>
          <p:cNvGraphicFramePr>
            <a:graphicFrameLocks noGrp="1"/>
          </p:cNvGraphicFramePr>
          <p:nvPr/>
        </p:nvGraphicFramePr>
        <p:xfrm>
          <a:off x="4329098" y="2085956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Tableau 23"/>
          <p:cNvGraphicFramePr>
            <a:graphicFrameLocks noGrp="1"/>
          </p:cNvGraphicFramePr>
          <p:nvPr/>
        </p:nvGraphicFramePr>
        <p:xfrm>
          <a:off x="9686948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Tableau 24"/>
          <p:cNvGraphicFramePr>
            <a:graphicFrameLocks noGrp="1"/>
          </p:cNvGraphicFramePr>
          <p:nvPr/>
        </p:nvGraphicFramePr>
        <p:xfrm>
          <a:off x="5043478" y="2085956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leau 25"/>
          <p:cNvGraphicFramePr>
            <a:graphicFrameLocks noGrp="1"/>
          </p:cNvGraphicFramePr>
          <p:nvPr/>
        </p:nvGraphicFramePr>
        <p:xfrm>
          <a:off x="10401328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7" name="Tableau 26"/>
          <p:cNvGraphicFramePr>
            <a:graphicFrameLocks noGrp="1"/>
          </p:cNvGraphicFramePr>
          <p:nvPr/>
        </p:nvGraphicFramePr>
        <p:xfrm>
          <a:off x="5757858" y="2085956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au 27"/>
          <p:cNvGraphicFramePr>
            <a:graphicFrameLocks noGrp="1"/>
          </p:cNvGraphicFramePr>
          <p:nvPr/>
        </p:nvGraphicFramePr>
        <p:xfrm>
          <a:off x="11115708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Tableau 28"/>
          <p:cNvGraphicFramePr>
            <a:graphicFrameLocks noGrp="1"/>
          </p:cNvGraphicFramePr>
          <p:nvPr/>
        </p:nvGraphicFramePr>
        <p:xfrm>
          <a:off x="2757462" y="2943212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Tableau 29"/>
          <p:cNvGraphicFramePr>
            <a:graphicFrameLocks noGrp="1"/>
          </p:cNvGraphicFramePr>
          <p:nvPr/>
        </p:nvGraphicFramePr>
        <p:xfrm>
          <a:off x="8115312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3" name="Tableau 32"/>
          <p:cNvGraphicFramePr>
            <a:graphicFrameLocks noGrp="1"/>
          </p:cNvGraphicFramePr>
          <p:nvPr/>
        </p:nvGraphicFramePr>
        <p:xfrm>
          <a:off x="3543280" y="2943212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au 33"/>
          <p:cNvGraphicFramePr>
            <a:graphicFrameLocks noGrp="1"/>
          </p:cNvGraphicFramePr>
          <p:nvPr/>
        </p:nvGraphicFramePr>
        <p:xfrm>
          <a:off x="8901130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5" name="Tableau 34"/>
          <p:cNvGraphicFramePr>
            <a:graphicFrameLocks noGrp="1"/>
          </p:cNvGraphicFramePr>
          <p:nvPr/>
        </p:nvGraphicFramePr>
        <p:xfrm>
          <a:off x="4257660" y="2943212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Tableau 35"/>
          <p:cNvGraphicFramePr>
            <a:graphicFrameLocks noGrp="1"/>
          </p:cNvGraphicFramePr>
          <p:nvPr/>
        </p:nvGraphicFramePr>
        <p:xfrm>
          <a:off x="9615510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7" name="Tableau 36"/>
          <p:cNvGraphicFramePr>
            <a:graphicFrameLocks noGrp="1"/>
          </p:cNvGraphicFramePr>
          <p:nvPr/>
        </p:nvGraphicFramePr>
        <p:xfrm>
          <a:off x="5043478" y="2943212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" name="Tableau 37"/>
          <p:cNvGraphicFramePr>
            <a:graphicFrameLocks noGrp="1"/>
          </p:cNvGraphicFramePr>
          <p:nvPr/>
        </p:nvGraphicFramePr>
        <p:xfrm>
          <a:off x="10401328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9" name="Tableau 38"/>
          <p:cNvGraphicFramePr>
            <a:graphicFrameLocks noGrp="1"/>
          </p:cNvGraphicFramePr>
          <p:nvPr/>
        </p:nvGraphicFramePr>
        <p:xfrm>
          <a:off x="5829296" y="2943212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Tableau 39"/>
          <p:cNvGraphicFramePr>
            <a:graphicFrameLocks noGrp="1"/>
          </p:cNvGraphicFramePr>
          <p:nvPr/>
        </p:nvGraphicFramePr>
        <p:xfrm>
          <a:off x="11115708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1" name="Tableau 40"/>
          <p:cNvGraphicFramePr>
            <a:graphicFrameLocks noGrp="1"/>
          </p:cNvGraphicFramePr>
          <p:nvPr/>
        </p:nvGraphicFramePr>
        <p:xfrm>
          <a:off x="2757462" y="3800468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" name="Tableau 41"/>
          <p:cNvGraphicFramePr>
            <a:graphicFrameLocks noGrp="1"/>
          </p:cNvGraphicFramePr>
          <p:nvPr/>
        </p:nvGraphicFramePr>
        <p:xfrm>
          <a:off x="8115312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3" name="Tableau 42"/>
          <p:cNvGraphicFramePr>
            <a:graphicFrameLocks noGrp="1"/>
          </p:cNvGraphicFramePr>
          <p:nvPr/>
        </p:nvGraphicFramePr>
        <p:xfrm>
          <a:off x="3543280" y="3800468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" name="Tableau 43"/>
          <p:cNvGraphicFramePr>
            <a:graphicFrameLocks noGrp="1"/>
          </p:cNvGraphicFramePr>
          <p:nvPr/>
        </p:nvGraphicFramePr>
        <p:xfrm>
          <a:off x="8901130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5" name="Tableau 44"/>
          <p:cNvGraphicFramePr>
            <a:graphicFrameLocks noGrp="1"/>
          </p:cNvGraphicFramePr>
          <p:nvPr/>
        </p:nvGraphicFramePr>
        <p:xfrm>
          <a:off x="4257660" y="3800468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" name="Tableau 45"/>
          <p:cNvGraphicFramePr>
            <a:graphicFrameLocks noGrp="1"/>
          </p:cNvGraphicFramePr>
          <p:nvPr/>
        </p:nvGraphicFramePr>
        <p:xfrm>
          <a:off x="9615510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7" name="Tableau 46"/>
          <p:cNvGraphicFramePr>
            <a:graphicFrameLocks noGrp="1"/>
          </p:cNvGraphicFramePr>
          <p:nvPr/>
        </p:nvGraphicFramePr>
        <p:xfrm>
          <a:off x="5043478" y="3800468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" name="Tableau 47"/>
          <p:cNvGraphicFramePr>
            <a:graphicFrameLocks noGrp="1"/>
          </p:cNvGraphicFramePr>
          <p:nvPr/>
        </p:nvGraphicFramePr>
        <p:xfrm>
          <a:off x="10401328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9" name="Tableau 48"/>
          <p:cNvGraphicFramePr>
            <a:graphicFrameLocks noGrp="1"/>
          </p:cNvGraphicFramePr>
          <p:nvPr/>
        </p:nvGraphicFramePr>
        <p:xfrm>
          <a:off x="5829296" y="3800468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" name="Tableau 49"/>
          <p:cNvGraphicFramePr>
            <a:graphicFrameLocks noGrp="1"/>
          </p:cNvGraphicFramePr>
          <p:nvPr/>
        </p:nvGraphicFramePr>
        <p:xfrm>
          <a:off x="11115708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1" name="Tableau 50"/>
          <p:cNvGraphicFramePr>
            <a:graphicFrameLocks noGrp="1"/>
          </p:cNvGraphicFramePr>
          <p:nvPr/>
        </p:nvGraphicFramePr>
        <p:xfrm>
          <a:off x="2757462" y="4657724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" name="Tableau 51"/>
          <p:cNvGraphicFramePr>
            <a:graphicFrameLocks noGrp="1"/>
          </p:cNvGraphicFramePr>
          <p:nvPr/>
        </p:nvGraphicFramePr>
        <p:xfrm>
          <a:off x="8115312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au 52"/>
          <p:cNvGraphicFramePr>
            <a:graphicFrameLocks noGrp="1"/>
          </p:cNvGraphicFramePr>
          <p:nvPr/>
        </p:nvGraphicFramePr>
        <p:xfrm>
          <a:off x="3471842" y="4657724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" name="Tableau 53"/>
          <p:cNvGraphicFramePr>
            <a:graphicFrameLocks noGrp="1"/>
          </p:cNvGraphicFramePr>
          <p:nvPr/>
        </p:nvGraphicFramePr>
        <p:xfrm>
          <a:off x="8829692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5" name="Tableau 54"/>
          <p:cNvGraphicFramePr>
            <a:graphicFrameLocks noGrp="1"/>
          </p:cNvGraphicFramePr>
          <p:nvPr/>
        </p:nvGraphicFramePr>
        <p:xfrm>
          <a:off x="4257660" y="4657724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" name="Tableau 55"/>
          <p:cNvGraphicFramePr>
            <a:graphicFrameLocks noGrp="1"/>
          </p:cNvGraphicFramePr>
          <p:nvPr/>
        </p:nvGraphicFramePr>
        <p:xfrm>
          <a:off x="9615510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7" name="Tableau 56"/>
          <p:cNvGraphicFramePr>
            <a:graphicFrameLocks noGrp="1"/>
          </p:cNvGraphicFramePr>
          <p:nvPr/>
        </p:nvGraphicFramePr>
        <p:xfrm>
          <a:off x="5043478" y="4657724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" name="Tableau 57"/>
          <p:cNvGraphicFramePr>
            <a:graphicFrameLocks noGrp="1"/>
          </p:cNvGraphicFramePr>
          <p:nvPr/>
        </p:nvGraphicFramePr>
        <p:xfrm>
          <a:off x="10401328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9" name="Tableau 58"/>
          <p:cNvGraphicFramePr>
            <a:graphicFrameLocks noGrp="1"/>
          </p:cNvGraphicFramePr>
          <p:nvPr/>
        </p:nvGraphicFramePr>
        <p:xfrm>
          <a:off x="5829296" y="4657724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" name="Tableau 59"/>
          <p:cNvGraphicFramePr>
            <a:graphicFrameLocks noGrp="1"/>
          </p:cNvGraphicFramePr>
          <p:nvPr/>
        </p:nvGraphicFramePr>
        <p:xfrm>
          <a:off x="11115708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Tableau 60"/>
          <p:cNvGraphicFramePr>
            <a:graphicFrameLocks noGrp="1"/>
          </p:cNvGraphicFramePr>
          <p:nvPr/>
        </p:nvGraphicFramePr>
        <p:xfrm>
          <a:off x="2757462" y="5657856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" name="Tableau 61"/>
          <p:cNvGraphicFramePr>
            <a:graphicFrameLocks noGrp="1"/>
          </p:cNvGraphicFramePr>
          <p:nvPr/>
        </p:nvGraphicFramePr>
        <p:xfrm>
          <a:off x="8115312" y="61579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3" name="Tableau 62"/>
          <p:cNvGraphicFramePr>
            <a:graphicFrameLocks noGrp="1"/>
          </p:cNvGraphicFramePr>
          <p:nvPr/>
        </p:nvGraphicFramePr>
        <p:xfrm>
          <a:off x="3543280" y="5657856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" name="Tableau 63"/>
          <p:cNvGraphicFramePr>
            <a:graphicFrameLocks noGrp="1"/>
          </p:cNvGraphicFramePr>
          <p:nvPr/>
        </p:nvGraphicFramePr>
        <p:xfrm>
          <a:off x="8901130" y="61579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5" name="Tableau 64"/>
          <p:cNvGraphicFramePr>
            <a:graphicFrameLocks noGrp="1"/>
          </p:cNvGraphicFramePr>
          <p:nvPr/>
        </p:nvGraphicFramePr>
        <p:xfrm>
          <a:off x="4257660" y="5657856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" name="Tableau 65"/>
          <p:cNvGraphicFramePr>
            <a:graphicFrameLocks noGrp="1"/>
          </p:cNvGraphicFramePr>
          <p:nvPr/>
        </p:nvGraphicFramePr>
        <p:xfrm>
          <a:off x="9615510" y="61579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7" name="Tableau 66"/>
          <p:cNvGraphicFramePr>
            <a:graphicFrameLocks noGrp="1"/>
          </p:cNvGraphicFramePr>
          <p:nvPr/>
        </p:nvGraphicFramePr>
        <p:xfrm>
          <a:off x="5043478" y="5657856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" name="Tableau 67"/>
          <p:cNvGraphicFramePr>
            <a:graphicFrameLocks noGrp="1"/>
          </p:cNvGraphicFramePr>
          <p:nvPr/>
        </p:nvGraphicFramePr>
        <p:xfrm>
          <a:off x="10401328" y="61579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9" name="Tableau 68"/>
          <p:cNvGraphicFramePr>
            <a:graphicFrameLocks noGrp="1"/>
          </p:cNvGraphicFramePr>
          <p:nvPr/>
        </p:nvGraphicFramePr>
        <p:xfrm>
          <a:off x="5829296" y="5657856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" name="Tableau 69"/>
          <p:cNvGraphicFramePr>
            <a:graphicFrameLocks noGrp="1"/>
          </p:cNvGraphicFramePr>
          <p:nvPr/>
        </p:nvGraphicFramePr>
        <p:xfrm>
          <a:off x="11115708" y="61579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1" name="Tableau 70"/>
          <p:cNvGraphicFramePr>
            <a:graphicFrameLocks noGrp="1"/>
          </p:cNvGraphicFramePr>
          <p:nvPr/>
        </p:nvGraphicFramePr>
        <p:xfrm>
          <a:off x="2757462" y="6515112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" name="Tableau 71"/>
          <p:cNvGraphicFramePr>
            <a:graphicFrameLocks noGrp="1"/>
          </p:cNvGraphicFramePr>
          <p:nvPr/>
        </p:nvGraphicFramePr>
        <p:xfrm>
          <a:off x="8115312" y="70151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3" name="Tableau 72"/>
          <p:cNvGraphicFramePr>
            <a:graphicFrameLocks noGrp="1"/>
          </p:cNvGraphicFramePr>
          <p:nvPr/>
        </p:nvGraphicFramePr>
        <p:xfrm>
          <a:off x="3543280" y="6515112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" name="Tableau 73"/>
          <p:cNvGraphicFramePr>
            <a:graphicFrameLocks noGrp="1"/>
          </p:cNvGraphicFramePr>
          <p:nvPr/>
        </p:nvGraphicFramePr>
        <p:xfrm>
          <a:off x="8901130" y="70151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5" name="Tableau 74"/>
          <p:cNvGraphicFramePr>
            <a:graphicFrameLocks noGrp="1"/>
          </p:cNvGraphicFramePr>
          <p:nvPr/>
        </p:nvGraphicFramePr>
        <p:xfrm>
          <a:off x="4329098" y="6515112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Tableau 75"/>
          <p:cNvGraphicFramePr>
            <a:graphicFrameLocks noGrp="1"/>
          </p:cNvGraphicFramePr>
          <p:nvPr/>
        </p:nvGraphicFramePr>
        <p:xfrm>
          <a:off x="9686948" y="70151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7" name="Tableau 76"/>
          <p:cNvGraphicFramePr>
            <a:graphicFrameLocks noGrp="1"/>
          </p:cNvGraphicFramePr>
          <p:nvPr/>
        </p:nvGraphicFramePr>
        <p:xfrm>
          <a:off x="5043478" y="6515112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" name="Tableau 77"/>
          <p:cNvGraphicFramePr>
            <a:graphicFrameLocks noGrp="1"/>
          </p:cNvGraphicFramePr>
          <p:nvPr/>
        </p:nvGraphicFramePr>
        <p:xfrm>
          <a:off x="10401328" y="70151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9" name="Tableau 78"/>
          <p:cNvGraphicFramePr>
            <a:graphicFrameLocks noGrp="1"/>
          </p:cNvGraphicFramePr>
          <p:nvPr/>
        </p:nvGraphicFramePr>
        <p:xfrm>
          <a:off x="5829296" y="6515112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Tableau 79"/>
          <p:cNvGraphicFramePr>
            <a:graphicFrameLocks noGrp="1"/>
          </p:cNvGraphicFramePr>
          <p:nvPr/>
        </p:nvGraphicFramePr>
        <p:xfrm>
          <a:off x="11115708" y="70151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542884" y="1228700"/>
          <a:ext cx="1333510" cy="1400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5"/>
                <a:gridCol w="666755"/>
              </a:tblGrid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700092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-371522" y="2800336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Filtre </a:t>
            </a:r>
            <a:r>
              <a:rPr lang="fr-FR" dirty="0" err="1" smtClean="0">
                <a:latin typeface="Roboto"/>
              </a:rPr>
              <a:t>Grad</a:t>
            </a:r>
            <a:r>
              <a:rPr lang="fr-FR" dirty="0" smtClean="0">
                <a:latin typeface="Roboto"/>
              </a:rPr>
              <a:t> y</a:t>
            </a:r>
            <a:endParaRPr lang="fr-FR" dirty="0">
              <a:latin typeface="Roboto"/>
            </a:endParaRPr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2847980" y="1157262"/>
          <a:ext cx="4481514" cy="6988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919"/>
                <a:gridCol w="746919"/>
                <a:gridCol w="746919"/>
                <a:gridCol w="746919"/>
                <a:gridCol w="746919"/>
                <a:gridCol w="746919"/>
              </a:tblGrid>
              <a:tr h="873526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/>
                        <a:t>50</a:t>
                      </a:r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/>
                        <a:t>150</a:t>
                      </a:r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8095493" y="1614876"/>
          <a:ext cx="3734595" cy="6114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919"/>
                <a:gridCol w="746919"/>
                <a:gridCol w="746919"/>
                <a:gridCol w="746919"/>
                <a:gridCol w="746919"/>
              </a:tblGrid>
              <a:tr h="873526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ZoneTexte 6"/>
          <p:cNvSpPr txBox="1"/>
          <p:nvPr/>
        </p:nvSpPr>
        <p:spPr>
          <a:xfrm>
            <a:off x="3400404" y="8372500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Image</a:t>
            </a:r>
            <a:endParaRPr lang="fr-FR" dirty="0">
              <a:latin typeface="Roboto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8401064" y="8372500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err="1" smtClean="0">
                <a:latin typeface="Roboto"/>
              </a:rPr>
              <a:t>Grad</a:t>
            </a:r>
            <a:r>
              <a:rPr lang="fr-FR" dirty="0" smtClean="0">
                <a:latin typeface="Roboto"/>
              </a:rPr>
              <a:t> Y</a:t>
            </a:r>
            <a:endParaRPr lang="fr-FR" dirty="0">
              <a:latin typeface="Roboto"/>
            </a:endParaRPr>
          </a:p>
        </p:txBody>
      </p:sp>
      <p:graphicFrame>
        <p:nvGraphicFramePr>
          <p:cNvPr id="82" name="Tableau 81"/>
          <p:cNvGraphicFramePr>
            <a:graphicFrameLocks noGrp="1"/>
          </p:cNvGraphicFramePr>
          <p:nvPr/>
        </p:nvGraphicFramePr>
        <p:xfrm>
          <a:off x="8115312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3" name="Tableau 82"/>
          <p:cNvGraphicFramePr>
            <a:graphicFrameLocks noGrp="1"/>
          </p:cNvGraphicFramePr>
          <p:nvPr/>
        </p:nvGraphicFramePr>
        <p:xfrm>
          <a:off x="2852712" y="1228700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Tableau 83"/>
          <p:cNvGraphicFramePr>
            <a:graphicFrameLocks noGrp="1"/>
          </p:cNvGraphicFramePr>
          <p:nvPr/>
        </p:nvGraphicFramePr>
        <p:xfrm>
          <a:off x="8877318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5" name="Tableau 84"/>
          <p:cNvGraphicFramePr>
            <a:graphicFrameLocks noGrp="1"/>
          </p:cNvGraphicFramePr>
          <p:nvPr/>
        </p:nvGraphicFramePr>
        <p:xfrm>
          <a:off x="3614718" y="1228700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8" name="Tableau 87"/>
          <p:cNvGraphicFramePr>
            <a:graphicFrameLocks noGrp="1"/>
          </p:cNvGraphicFramePr>
          <p:nvPr/>
        </p:nvGraphicFramePr>
        <p:xfrm>
          <a:off x="9615510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9" name="Tableau 88"/>
          <p:cNvGraphicFramePr>
            <a:graphicFrameLocks noGrp="1"/>
          </p:cNvGraphicFramePr>
          <p:nvPr/>
        </p:nvGraphicFramePr>
        <p:xfrm>
          <a:off x="4352910" y="1228700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" name="Tableau 89"/>
          <p:cNvGraphicFramePr>
            <a:graphicFrameLocks noGrp="1"/>
          </p:cNvGraphicFramePr>
          <p:nvPr/>
        </p:nvGraphicFramePr>
        <p:xfrm>
          <a:off x="10329890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1" name="Tableau 90"/>
          <p:cNvGraphicFramePr>
            <a:graphicFrameLocks noGrp="1"/>
          </p:cNvGraphicFramePr>
          <p:nvPr/>
        </p:nvGraphicFramePr>
        <p:xfrm>
          <a:off x="5067290" y="1228700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" name="Tableau 91"/>
          <p:cNvGraphicFramePr>
            <a:graphicFrameLocks noGrp="1"/>
          </p:cNvGraphicFramePr>
          <p:nvPr/>
        </p:nvGraphicFramePr>
        <p:xfrm>
          <a:off x="11091896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3" name="Tableau 92"/>
          <p:cNvGraphicFramePr>
            <a:graphicFrameLocks noGrp="1"/>
          </p:cNvGraphicFramePr>
          <p:nvPr/>
        </p:nvGraphicFramePr>
        <p:xfrm>
          <a:off x="5829296" y="1228700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" name="Tableau 93"/>
          <p:cNvGraphicFramePr>
            <a:graphicFrameLocks noGrp="1"/>
          </p:cNvGraphicFramePr>
          <p:nvPr/>
        </p:nvGraphicFramePr>
        <p:xfrm>
          <a:off x="8091500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5" name="Tableau 94"/>
          <p:cNvGraphicFramePr>
            <a:graphicFrameLocks noGrp="1"/>
          </p:cNvGraphicFramePr>
          <p:nvPr/>
        </p:nvGraphicFramePr>
        <p:xfrm>
          <a:off x="2828900" y="2085956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" name="Tableau 95"/>
          <p:cNvGraphicFramePr>
            <a:graphicFrameLocks noGrp="1"/>
          </p:cNvGraphicFramePr>
          <p:nvPr/>
        </p:nvGraphicFramePr>
        <p:xfrm>
          <a:off x="8829692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7" name="Tableau 96"/>
          <p:cNvGraphicFramePr>
            <a:graphicFrameLocks noGrp="1"/>
          </p:cNvGraphicFramePr>
          <p:nvPr/>
        </p:nvGraphicFramePr>
        <p:xfrm>
          <a:off x="3567092" y="2085956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8" name="Tableau 97"/>
          <p:cNvGraphicFramePr>
            <a:graphicFrameLocks noGrp="1"/>
          </p:cNvGraphicFramePr>
          <p:nvPr/>
        </p:nvGraphicFramePr>
        <p:xfrm>
          <a:off x="9591698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9" name="Tableau 98"/>
          <p:cNvGraphicFramePr>
            <a:graphicFrameLocks noGrp="1"/>
          </p:cNvGraphicFramePr>
          <p:nvPr/>
        </p:nvGraphicFramePr>
        <p:xfrm>
          <a:off x="4329098" y="2085956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" name="Tableau 99"/>
          <p:cNvGraphicFramePr>
            <a:graphicFrameLocks noGrp="1"/>
          </p:cNvGraphicFramePr>
          <p:nvPr/>
        </p:nvGraphicFramePr>
        <p:xfrm>
          <a:off x="10329890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1" name="Tableau 100"/>
          <p:cNvGraphicFramePr>
            <a:graphicFrameLocks noGrp="1"/>
          </p:cNvGraphicFramePr>
          <p:nvPr/>
        </p:nvGraphicFramePr>
        <p:xfrm>
          <a:off x="5067290" y="2085956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" name="Tableau 101"/>
          <p:cNvGraphicFramePr>
            <a:graphicFrameLocks noGrp="1"/>
          </p:cNvGraphicFramePr>
          <p:nvPr/>
        </p:nvGraphicFramePr>
        <p:xfrm>
          <a:off x="11115708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Tableau 102"/>
          <p:cNvGraphicFramePr>
            <a:graphicFrameLocks noGrp="1"/>
          </p:cNvGraphicFramePr>
          <p:nvPr/>
        </p:nvGraphicFramePr>
        <p:xfrm>
          <a:off x="5853108" y="2085956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4" name="Tableau 103"/>
          <p:cNvGraphicFramePr>
            <a:graphicFrameLocks noGrp="1"/>
          </p:cNvGraphicFramePr>
          <p:nvPr/>
        </p:nvGraphicFramePr>
        <p:xfrm>
          <a:off x="8115312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5" name="Tableau 104"/>
          <p:cNvGraphicFramePr>
            <a:graphicFrameLocks noGrp="1"/>
          </p:cNvGraphicFramePr>
          <p:nvPr/>
        </p:nvGraphicFramePr>
        <p:xfrm>
          <a:off x="2852712" y="2943212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6" name="Tableau 105"/>
          <p:cNvGraphicFramePr>
            <a:graphicFrameLocks noGrp="1"/>
          </p:cNvGraphicFramePr>
          <p:nvPr/>
        </p:nvGraphicFramePr>
        <p:xfrm>
          <a:off x="8877318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7" name="Tableau 106"/>
          <p:cNvGraphicFramePr>
            <a:graphicFrameLocks noGrp="1"/>
          </p:cNvGraphicFramePr>
          <p:nvPr/>
        </p:nvGraphicFramePr>
        <p:xfrm>
          <a:off x="3614718" y="2943212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" name="Tableau 107"/>
          <p:cNvGraphicFramePr>
            <a:graphicFrameLocks noGrp="1"/>
          </p:cNvGraphicFramePr>
          <p:nvPr/>
        </p:nvGraphicFramePr>
        <p:xfrm>
          <a:off x="9591698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9" name="Tableau 108"/>
          <p:cNvGraphicFramePr>
            <a:graphicFrameLocks noGrp="1"/>
          </p:cNvGraphicFramePr>
          <p:nvPr/>
        </p:nvGraphicFramePr>
        <p:xfrm>
          <a:off x="4329098" y="2943212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0" name="Tableau 109"/>
          <p:cNvGraphicFramePr>
            <a:graphicFrameLocks noGrp="1"/>
          </p:cNvGraphicFramePr>
          <p:nvPr/>
        </p:nvGraphicFramePr>
        <p:xfrm>
          <a:off x="10329890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1" name="Tableau 110"/>
          <p:cNvGraphicFramePr>
            <a:graphicFrameLocks noGrp="1"/>
          </p:cNvGraphicFramePr>
          <p:nvPr/>
        </p:nvGraphicFramePr>
        <p:xfrm>
          <a:off x="5067290" y="2943212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2" name="Tableau 111"/>
          <p:cNvGraphicFramePr>
            <a:graphicFrameLocks noGrp="1"/>
          </p:cNvGraphicFramePr>
          <p:nvPr/>
        </p:nvGraphicFramePr>
        <p:xfrm>
          <a:off x="11091896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3" name="Tableau 112"/>
          <p:cNvGraphicFramePr>
            <a:graphicFrameLocks noGrp="1"/>
          </p:cNvGraphicFramePr>
          <p:nvPr/>
        </p:nvGraphicFramePr>
        <p:xfrm>
          <a:off x="5829296" y="2943212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4" name="Tableau 113"/>
          <p:cNvGraphicFramePr>
            <a:graphicFrameLocks noGrp="1"/>
          </p:cNvGraphicFramePr>
          <p:nvPr/>
        </p:nvGraphicFramePr>
        <p:xfrm>
          <a:off x="8091500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5" name="Tableau 114"/>
          <p:cNvGraphicFramePr>
            <a:graphicFrameLocks noGrp="1"/>
          </p:cNvGraphicFramePr>
          <p:nvPr/>
        </p:nvGraphicFramePr>
        <p:xfrm>
          <a:off x="2828900" y="3800468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6" name="Tableau 115"/>
          <p:cNvGraphicFramePr>
            <a:graphicFrameLocks noGrp="1"/>
          </p:cNvGraphicFramePr>
          <p:nvPr/>
        </p:nvGraphicFramePr>
        <p:xfrm>
          <a:off x="8829692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7" name="Tableau 116"/>
          <p:cNvGraphicFramePr>
            <a:graphicFrameLocks noGrp="1"/>
          </p:cNvGraphicFramePr>
          <p:nvPr/>
        </p:nvGraphicFramePr>
        <p:xfrm>
          <a:off x="3567092" y="3800468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8" name="Tableau 117"/>
          <p:cNvGraphicFramePr>
            <a:graphicFrameLocks noGrp="1"/>
          </p:cNvGraphicFramePr>
          <p:nvPr/>
        </p:nvGraphicFramePr>
        <p:xfrm>
          <a:off x="9591698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9" name="Tableau 118"/>
          <p:cNvGraphicFramePr>
            <a:graphicFrameLocks noGrp="1"/>
          </p:cNvGraphicFramePr>
          <p:nvPr/>
        </p:nvGraphicFramePr>
        <p:xfrm>
          <a:off x="4329098" y="3800468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0" name="Tableau 119"/>
          <p:cNvGraphicFramePr>
            <a:graphicFrameLocks noGrp="1"/>
          </p:cNvGraphicFramePr>
          <p:nvPr/>
        </p:nvGraphicFramePr>
        <p:xfrm>
          <a:off x="10329890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21" name="Tableau 120"/>
          <p:cNvGraphicFramePr>
            <a:graphicFrameLocks noGrp="1"/>
          </p:cNvGraphicFramePr>
          <p:nvPr/>
        </p:nvGraphicFramePr>
        <p:xfrm>
          <a:off x="5067290" y="3800468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" name="Tableau 121"/>
          <p:cNvGraphicFramePr>
            <a:graphicFrameLocks noGrp="1"/>
          </p:cNvGraphicFramePr>
          <p:nvPr/>
        </p:nvGraphicFramePr>
        <p:xfrm>
          <a:off x="11091896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23" name="Tableau 122"/>
          <p:cNvGraphicFramePr>
            <a:graphicFrameLocks noGrp="1"/>
          </p:cNvGraphicFramePr>
          <p:nvPr/>
        </p:nvGraphicFramePr>
        <p:xfrm>
          <a:off x="5829296" y="3800468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" name="Tableau 123"/>
          <p:cNvGraphicFramePr>
            <a:graphicFrameLocks noGrp="1"/>
          </p:cNvGraphicFramePr>
          <p:nvPr/>
        </p:nvGraphicFramePr>
        <p:xfrm>
          <a:off x="8091500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25" name="Tableau 124"/>
          <p:cNvGraphicFramePr>
            <a:graphicFrameLocks noGrp="1"/>
          </p:cNvGraphicFramePr>
          <p:nvPr/>
        </p:nvGraphicFramePr>
        <p:xfrm>
          <a:off x="2828900" y="4657724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6" name="Tableau 125"/>
          <p:cNvGraphicFramePr>
            <a:graphicFrameLocks noGrp="1"/>
          </p:cNvGraphicFramePr>
          <p:nvPr/>
        </p:nvGraphicFramePr>
        <p:xfrm>
          <a:off x="8829692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27" name="Tableau 126"/>
          <p:cNvGraphicFramePr>
            <a:graphicFrameLocks noGrp="1"/>
          </p:cNvGraphicFramePr>
          <p:nvPr/>
        </p:nvGraphicFramePr>
        <p:xfrm>
          <a:off x="3567092" y="4657724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8" name="Tableau 127"/>
          <p:cNvGraphicFramePr>
            <a:graphicFrameLocks noGrp="1"/>
          </p:cNvGraphicFramePr>
          <p:nvPr/>
        </p:nvGraphicFramePr>
        <p:xfrm>
          <a:off x="9591698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29" name="Tableau 128"/>
          <p:cNvGraphicFramePr>
            <a:graphicFrameLocks noGrp="1"/>
          </p:cNvGraphicFramePr>
          <p:nvPr/>
        </p:nvGraphicFramePr>
        <p:xfrm>
          <a:off x="4329098" y="4657724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0" name="Tableau 129"/>
          <p:cNvGraphicFramePr>
            <a:graphicFrameLocks noGrp="1"/>
          </p:cNvGraphicFramePr>
          <p:nvPr/>
        </p:nvGraphicFramePr>
        <p:xfrm>
          <a:off x="10306078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31" name="Tableau 130"/>
          <p:cNvGraphicFramePr>
            <a:graphicFrameLocks noGrp="1"/>
          </p:cNvGraphicFramePr>
          <p:nvPr/>
        </p:nvGraphicFramePr>
        <p:xfrm>
          <a:off x="5043478" y="4657724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" name="Tableau 131"/>
          <p:cNvGraphicFramePr>
            <a:graphicFrameLocks noGrp="1"/>
          </p:cNvGraphicFramePr>
          <p:nvPr/>
        </p:nvGraphicFramePr>
        <p:xfrm>
          <a:off x="11044270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33" name="Tableau 132"/>
          <p:cNvGraphicFramePr>
            <a:graphicFrameLocks noGrp="1"/>
          </p:cNvGraphicFramePr>
          <p:nvPr/>
        </p:nvGraphicFramePr>
        <p:xfrm>
          <a:off x="5781670" y="4657724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4" name="Tableau 133"/>
          <p:cNvGraphicFramePr>
            <a:graphicFrameLocks noGrp="1"/>
          </p:cNvGraphicFramePr>
          <p:nvPr/>
        </p:nvGraphicFramePr>
        <p:xfrm>
          <a:off x="8091500" y="6015046"/>
          <a:ext cx="64294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-200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35" name="Tableau 134"/>
          <p:cNvGraphicFramePr>
            <a:graphicFrameLocks noGrp="1"/>
          </p:cNvGraphicFramePr>
          <p:nvPr/>
        </p:nvGraphicFramePr>
        <p:xfrm>
          <a:off x="2828900" y="5514980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au 135"/>
          <p:cNvGraphicFramePr>
            <a:graphicFrameLocks noGrp="1"/>
          </p:cNvGraphicFramePr>
          <p:nvPr/>
        </p:nvGraphicFramePr>
        <p:xfrm>
          <a:off x="8877318" y="6015046"/>
          <a:ext cx="64294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-200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37" name="Tableau 136"/>
          <p:cNvGraphicFramePr>
            <a:graphicFrameLocks noGrp="1"/>
          </p:cNvGraphicFramePr>
          <p:nvPr/>
        </p:nvGraphicFramePr>
        <p:xfrm>
          <a:off x="3614718" y="5514980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au 137"/>
          <p:cNvGraphicFramePr>
            <a:graphicFrameLocks noGrp="1"/>
          </p:cNvGraphicFramePr>
          <p:nvPr/>
        </p:nvGraphicFramePr>
        <p:xfrm>
          <a:off x="9615510" y="6015046"/>
          <a:ext cx="64294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-100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39" name="Tableau 138"/>
          <p:cNvGraphicFramePr>
            <a:graphicFrameLocks noGrp="1"/>
          </p:cNvGraphicFramePr>
          <p:nvPr/>
        </p:nvGraphicFramePr>
        <p:xfrm>
          <a:off x="4352910" y="5514980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0" name="Tableau 139"/>
          <p:cNvGraphicFramePr>
            <a:graphicFrameLocks noGrp="1"/>
          </p:cNvGraphicFramePr>
          <p:nvPr/>
        </p:nvGraphicFramePr>
        <p:xfrm>
          <a:off x="10329890" y="608648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41" name="Tableau 140"/>
          <p:cNvGraphicFramePr>
            <a:graphicFrameLocks noGrp="1"/>
          </p:cNvGraphicFramePr>
          <p:nvPr/>
        </p:nvGraphicFramePr>
        <p:xfrm>
          <a:off x="5114916" y="5514980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2" name="Tableau 141"/>
          <p:cNvGraphicFramePr>
            <a:graphicFrameLocks noGrp="1"/>
          </p:cNvGraphicFramePr>
          <p:nvPr/>
        </p:nvGraphicFramePr>
        <p:xfrm>
          <a:off x="11115708" y="608648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43" name="Tableau 142"/>
          <p:cNvGraphicFramePr>
            <a:graphicFrameLocks noGrp="1"/>
          </p:cNvGraphicFramePr>
          <p:nvPr/>
        </p:nvGraphicFramePr>
        <p:xfrm>
          <a:off x="5853108" y="5514980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6" name="Tableau 145"/>
          <p:cNvGraphicFramePr>
            <a:graphicFrameLocks noGrp="1"/>
          </p:cNvGraphicFramePr>
          <p:nvPr/>
        </p:nvGraphicFramePr>
        <p:xfrm>
          <a:off x="8186750" y="694374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47" name="Tableau 146"/>
          <p:cNvGraphicFramePr>
            <a:graphicFrameLocks noGrp="1"/>
          </p:cNvGraphicFramePr>
          <p:nvPr/>
        </p:nvGraphicFramePr>
        <p:xfrm>
          <a:off x="2828900" y="6443674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" name="Tableau 147"/>
          <p:cNvGraphicFramePr>
            <a:graphicFrameLocks noGrp="1"/>
          </p:cNvGraphicFramePr>
          <p:nvPr/>
        </p:nvGraphicFramePr>
        <p:xfrm>
          <a:off x="8901130" y="694374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49" name="Tableau 148"/>
          <p:cNvGraphicFramePr>
            <a:graphicFrameLocks noGrp="1"/>
          </p:cNvGraphicFramePr>
          <p:nvPr/>
        </p:nvGraphicFramePr>
        <p:xfrm>
          <a:off x="3543280" y="6443674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0" name="Tableau 149"/>
          <p:cNvGraphicFramePr>
            <a:graphicFrameLocks noGrp="1"/>
          </p:cNvGraphicFramePr>
          <p:nvPr/>
        </p:nvGraphicFramePr>
        <p:xfrm>
          <a:off x="9686948" y="694374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51" name="Tableau 150"/>
          <p:cNvGraphicFramePr>
            <a:graphicFrameLocks noGrp="1"/>
          </p:cNvGraphicFramePr>
          <p:nvPr/>
        </p:nvGraphicFramePr>
        <p:xfrm>
          <a:off x="4329098" y="6443674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2" name="Tableau 151"/>
          <p:cNvGraphicFramePr>
            <a:graphicFrameLocks noGrp="1"/>
          </p:cNvGraphicFramePr>
          <p:nvPr/>
        </p:nvGraphicFramePr>
        <p:xfrm>
          <a:off x="10401328" y="694374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53" name="Tableau 152"/>
          <p:cNvGraphicFramePr>
            <a:graphicFrameLocks noGrp="1"/>
          </p:cNvGraphicFramePr>
          <p:nvPr/>
        </p:nvGraphicFramePr>
        <p:xfrm>
          <a:off x="5043478" y="6443674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4" name="Tableau 153"/>
          <p:cNvGraphicFramePr>
            <a:graphicFrameLocks noGrp="1"/>
          </p:cNvGraphicFramePr>
          <p:nvPr/>
        </p:nvGraphicFramePr>
        <p:xfrm>
          <a:off x="11187146" y="694374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55" name="Tableau 154"/>
          <p:cNvGraphicFramePr>
            <a:graphicFrameLocks noGrp="1"/>
          </p:cNvGraphicFramePr>
          <p:nvPr/>
        </p:nvGraphicFramePr>
        <p:xfrm>
          <a:off x="5829296" y="6443674"/>
          <a:ext cx="1547824" cy="16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12"/>
                <a:gridCol w="773912"/>
              </a:tblGrid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fr-FR" sz="2800" dirty="0">
                        <a:solidFill>
                          <a:schemeClr val="tx1"/>
                        </a:solidFill>
                      </a:endParaRPr>
                    </a:p>
                  </a:txBody>
                  <a:tcPr marL="128016" marR="128016" marT="64008" marB="64008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7843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57396" y="0"/>
            <a:ext cx="6951413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43016" y="1657328"/>
            <a:ext cx="3400442" cy="5717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14916" y="1728766"/>
            <a:ext cx="3742749" cy="5572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ZoneTexte 5"/>
          <p:cNvSpPr txBox="1"/>
          <p:nvPr/>
        </p:nvSpPr>
        <p:spPr>
          <a:xfrm>
            <a:off x="1771618" y="7586682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err="1" smtClean="0">
                <a:latin typeface="Roboto"/>
              </a:rPr>
              <a:t>Grad</a:t>
            </a:r>
            <a:r>
              <a:rPr lang="fr-FR" dirty="0" smtClean="0">
                <a:latin typeface="Roboto"/>
              </a:rPr>
              <a:t> X</a:t>
            </a:r>
            <a:endParaRPr lang="fr-FR" dirty="0">
              <a:latin typeface="Roboto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5414956" y="7594031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err="1" smtClean="0">
                <a:latin typeface="Roboto"/>
              </a:rPr>
              <a:t>Grad</a:t>
            </a:r>
            <a:r>
              <a:rPr lang="fr-FR" dirty="0" smtClean="0">
                <a:latin typeface="Roboto"/>
              </a:rPr>
              <a:t> Y</a:t>
            </a:r>
            <a:endParaRPr lang="fr-FR" dirty="0"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1328702" y="1614876"/>
          <a:ext cx="3734595" cy="6114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919"/>
                <a:gridCol w="746919"/>
                <a:gridCol w="746919"/>
                <a:gridCol w="746919"/>
                <a:gridCol w="746919"/>
              </a:tblGrid>
              <a:tr h="873526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1634273" y="8372500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err="1" smtClean="0">
                <a:latin typeface="Roboto"/>
              </a:rPr>
              <a:t>Grad</a:t>
            </a:r>
            <a:r>
              <a:rPr lang="fr-FR" dirty="0" smtClean="0">
                <a:latin typeface="Roboto"/>
              </a:rPr>
              <a:t> X</a:t>
            </a:r>
            <a:r>
              <a:rPr lang="fr-FR" baseline="30000" dirty="0" smtClean="0">
                <a:latin typeface="Roboto"/>
              </a:rPr>
              <a:t>2</a:t>
            </a:r>
            <a:endParaRPr lang="fr-FR" baseline="30000" dirty="0">
              <a:latin typeface="Roboto"/>
            </a:endParaRPr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348521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2134339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2828900" y="1728766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(200)</a:t>
                      </a:r>
                      <a:r>
                        <a:rPr lang="fr-FR" sz="180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/>
        </p:nvGraphicFramePr>
        <p:xfrm>
          <a:off x="3634537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4348917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1419959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au 10"/>
          <p:cNvGraphicFramePr>
            <a:graphicFrameLocks noGrp="1"/>
          </p:cNvGraphicFramePr>
          <p:nvPr/>
        </p:nvGraphicFramePr>
        <p:xfrm>
          <a:off x="2134339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Tableau 12"/>
          <p:cNvGraphicFramePr>
            <a:graphicFrameLocks noGrp="1"/>
          </p:cNvGraphicFramePr>
          <p:nvPr/>
        </p:nvGraphicFramePr>
        <p:xfrm>
          <a:off x="3634537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au 13"/>
          <p:cNvGraphicFramePr>
            <a:graphicFrameLocks noGrp="1"/>
          </p:cNvGraphicFramePr>
          <p:nvPr/>
        </p:nvGraphicFramePr>
        <p:xfrm>
          <a:off x="4348917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Tableau 14"/>
          <p:cNvGraphicFramePr>
            <a:graphicFrameLocks noGrp="1"/>
          </p:cNvGraphicFramePr>
          <p:nvPr/>
        </p:nvGraphicFramePr>
        <p:xfrm>
          <a:off x="1348521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au 15"/>
          <p:cNvGraphicFramePr>
            <a:graphicFrameLocks noGrp="1"/>
          </p:cNvGraphicFramePr>
          <p:nvPr/>
        </p:nvGraphicFramePr>
        <p:xfrm>
          <a:off x="2134339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Tableau 17"/>
          <p:cNvGraphicFramePr>
            <a:graphicFrameLocks noGrp="1"/>
          </p:cNvGraphicFramePr>
          <p:nvPr/>
        </p:nvGraphicFramePr>
        <p:xfrm>
          <a:off x="3634537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Tableau 18"/>
          <p:cNvGraphicFramePr>
            <a:graphicFrameLocks noGrp="1"/>
          </p:cNvGraphicFramePr>
          <p:nvPr/>
        </p:nvGraphicFramePr>
        <p:xfrm>
          <a:off x="4348917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Tableau 19"/>
          <p:cNvGraphicFramePr>
            <a:graphicFrameLocks noGrp="1"/>
          </p:cNvGraphicFramePr>
          <p:nvPr/>
        </p:nvGraphicFramePr>
        <p:xfrm>
          <a:off x="1348521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1" name="Tableau 20"/>
          <p:cNvGraphicFramePr>
            <a:graphicFrameLocks noGrp="1"/>
          </p:cNvGraphicFramePr>
          <p:nvPr/>
        </p:nvGraphicFramePr>
        <p:xfrm>
          <a:off x="2134339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3" name="Tableau 22"/>
          <p:cNvGraphicFramePr>
            <a:graphicFrameLocks noGrp="1"/>
          </p:cNvGraphicFramePr>
          <p:nvPr/>
        </p:nvGraphicFramePr>
        <p:xfrm>
          <a:off x="3634537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Tableau 23"/>
          <p:cNvGraphicFramePr>
            <a:graphicFrameLocks noGrp="1"/>
          </p:cNvGraphicFramePr>
          <p:nvPr/>
        </p:nvGraphicFramePr>
        <p:xfrm>
          <a:off x="4348917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Tableau 24"/>
          <p:cNvGraphicFramePr>
            <a:graphicFrameLocks noGrp="1"/>
          </p:cNvGraphicFramePr>
          <p:nvPr/>
        </p:nvGraphicFramePr>
        <p:xfrm>
          <a:off x="1348521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6" name="Tableau 25"/>
          <p:cNvGraphicFramePr>
            <a:graphicFrameLocks noGrp="1"/>
          </p:cNvGraphicFramePr>
          <p:nvPr/>
        </p:nvGraphicFramePr>
        <p:xfrm>
          <a:off x="2062901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8" name="Tableau 27"/>
          <p:cNvGraphicFramePr>
            <a:graphicFrameLocks noGrp="1"/>
          </p:cNvGraphicFramePr>
          <p:nvPr/>
        </p:nvGraphicFramePr>
        <p:xfrm>
          <a:off x="3634537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Tableau 28"/>
          <p:cNvGraphicFramePr>
            <a:graphicFrameLocks noGrp="1"/>
          </p:cNvGraphicFramePr>
          <p:nvPr/>
        </p:nvGraphicFramePr>
        <p:xfrm>
          <a:off x="4348917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0" name="Tableau 29"/>
          <p:cNvGraphicFramePr>
            <a:graphicFrameLocks noGrp="1"/>
          </p:cNvGraphicFramePr>
          <p:nvPr/>
        </p:nvGraphicFramePr>
        <p:xfrm>
          <a:off x="1348521" y="61579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1" name="Tableau 30"/>
          <p:cNvGraphicFramePr>
            <a:graphicFrameLocks noGrp="1"/>
          </p:cNvGraphicFramePr>
          <p:nvPr/>
        </p:nvGraphicFramePr>
        <p:xfrm>
          <a:off x="2134339" y="61579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3" name="Tableau 32"/>
          <p:cNvGraphicFramePr>
            <a:graphicFrameLocks noGrp="1"/>
          </p:cNvGraphicFramePr>
          <p:nvPr/>
        </p:nvGraphicFramePr>
        <p:xfrm>
          <a:off x="3634537" y="61579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4" name="Tableau 33"/>
          <p:cNvGraphicFramePr>
            <a:graphicFrameLocks noGrp="1"/>
          </p:cNvGraphicFramePr>
          <p:nvPr/>
        </p:nvGraphicFramePr>
        <p:xfrm>
          <a:off x="4348917" y="61579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5" name="Tableau 34"/>
          <p:cNvGraphicFramePr>
            <a:graphicFrameLocks noGrp="1"/>
          </p:cNvGraphicFramePr>
          <p:nvPr/>
        </p:nvGraphicFramePr>
        <p:xfrm>
          <a:off x="1348521" y="70151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6" name="Tableau 35"/>
          <p:cNvGraphicFramePr>
            <a:graphicFrameLocks noGrp="1"/>
          </p:cNvGraphicFramePr>
          <p:nvPr/>
        </p:nvGraphicFramePr>
        <p:xfrm>
          <a:off x="2134339" y="70151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7" name="Tableau 36"/>
          <p:cNvGraphicFramePr>
            <a:graphicFrameLocks noGrp="1"/>
          </p:cNvGraphicFramePr>
          <p:nvPr/>
        </p:nvGraphicFramePr>
        <p:xfrm>
          <a:off x="2920157" y="70151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8" name="Tableau 37"/>
          <p:cNvGraphicFramePr>
            <a:graphicFrameLocks noGrp="1"/>
          </p:cNvGraphicFramePr>
          <p:nvPr/>
        </p:nvGraphicFramePr>
        <p:xfrm>
          <a:off x="3634537" y="70151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9" name="Tableau 38"/>
          <p:cNvGraphicFramePr>
            <a:graphicFrameLocks noGrp="1"/>
          </p:cNvGraphicFramePr>
          <p:nvPr/>
        </p:nvGraphicFramePr>
        <p:xfrm>
          <a:off x="4348917" y="70151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pic>
        <p:nvPicPr>
          <p:cNvPr id="4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57396" y="0"/>
            <a:ext cx="6951413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41" name="Tableau 40"/>
          <p:cNvGraphicFramePr>
            <a:graphicFrameLocks noGrp="1"/>
          </p:cNvGraphicFramePr>
          <p:nvPr/>
        </p:nvGraphicFramePr>
        <p:xfrm>
          <a:off x="5404661" y="1614876"/>
          <a:ext cx="3734595" cy="6114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919"/>
                <a:gridCol w="746919"/>
                <a:gridCol w="746919"/>
                <a:gridCol w="746919"/>
                <a:gridCol w="746919"/>
              </a:tblGrid>
              <a:tr h="873526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2" name="ZoneTexte 41"/>
          <p:cNvSpPr txBox="1"/>
          <p:nvPr/>
        </p:nvSpPr>
        <p:spPr>
          <a:xfrm>
            <a:off x="5710232" y="8372500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err="1" smtClean="0">
                <a:latin typeface="Roboto"/>
              </a:rPr>
              <a:t>Grad</a:t>
            </a:r>
            <a:r>
              <a:rPr lang="fr-FR" dirty="0" smtClean="0">
                <a:latin typeface="Roboto"/>
              </a:rPr>
              <a:t> Y</a:t>
            </a:r>
            <a:r>
              <a:rPr lang="fr-FR" baseline="30000" dirty="0" smtClean="0">
                <a:latin typeface="Roboto"/>
              </a:rPr>
              <a:t>2</a:t>
            </a:r>
            <a:endParaRPr lang="fr-FR" baseline="30000" dirty="0">
              <a:latin typeface="Roboto"/>
            </a:endParaRPr>
          </a:p>
        </p:txBody>
      </p:sp>
      <p:graphicFrame>
        <p:nvGraphicFramePr>
          <p:cNvPr id="43" name="Tableau 42"/>
          <p:cNvGraphicFramePr>
            <a:graphicFrameLocks noGrp="1"/>
          </p:cNvGraphicFramePr>
          <p:nvPr/>
        </p:nvGraphicFramePr>
        <p:xfrm>
          <a:off x="5424480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4" name="Tableau 43"/>
          <p:cNvGraphicFramePr>
            <a:graphicFrameLocks noGrp="1"/>
          </p:cNvGraphicFramePr>
          <p:nvPr/>
        </p:nvGraphicFramePr>
        <p:xfrm>
          <a:off x="6186486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5" name="Tableau 44"/>
          <p:cNvGraphicFramePr>
            <a:graphicFrameLocks noGrp="1"/>
          </p:cNvGraphicFramePr>
          <p:nvPr/>
        </p:nvGraphicFramePr>
        <p:xfrm>
          <a:off x="6924678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6" name="Tableau 45"/>
          <p:cNvGraphicFramePr>
            <a:graphicFrameLocks noGrp="1"/>
          </p:cNvGraphicFramePr>
          <p:nvPr/>
        </p:nvGraphicFramePr>
        <p:xfrm>
          <a:off x="7639058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7" name="Tableau 46"/>
          <p:cNvGraphicFramePr>
            <a:graphicFrameLocks noGrp="1"/>
          </p:cNvGraphicFramePr>
          <p:nvPr/>
        </p:nvGraphicFramePr>
        <p:xfrm>
          <a:off x="8401064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8" name="Tableau 47"/>
          <p:cNvGraphicFramePr>
            <a:graphicFrameLocks noGrp="1"/>
          </p:cNvGraphicFramePr>
          <p:nvPr/>
        </p:nvGraphicFramePr>
        <p:xfrm>
          <a:off x="5400668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9" name="Tableau 48"/>
          <p:cNvGraphicFramePr>
            <a:graphicFrameLocks noGrp="1"/>
          </p:cNvGraphicFramePr>
          <p:nvPr/>
        </p:nvGraphicFramePr>
        <p:xfrm>
          <a:off x="6138860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0" name="Tableau 49"/>
          <p:cNvGraphicFramePr>
            <a:graphicFrameLocks noGrp="1"/>
          </p:cNvGraphicFramePr>
          <p:nvPr/>
        </p:nvGraphicFramePr>
        <p:xfrm>
          <a:off x="6900866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1" name="Tableau 50"/>
          <p:cNvGraphicFramePr>
            <a:graphicFrameLocks noGrp="1"/>
          </p:cNvGraphicFramePr>
          <p:nvPr/>
        </p:nvGraphicFramePr>
        <p:xfrm>
          <a:off x="7639058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2" name="Tableau 51"/>
          <p:cNvGraphicFramePr>
            <a:graphicFrameLocks noGrp="1"/>
          </p:cNvGraphicFramePr>
          <p:nvPr/>
        </p:nvGraphicFramePr>
        <p:xfrm>
          <a:off x="8424876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au 52"/>
          <p:cNvGraphicFramePr>
            <a:graphicFrameLocks noGrp="1"/>
          </p:cNvGraphicFramePr>
          <p:nvPr/>
        </p:nvGraphicFramePr>
        <p:xfrm>
          <a:off x="5424480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4" name="Tableau 53"/>
          <p:cNvGraphicFramePr>
            <a:graphicFrameLocks noGrp="1"/>
          </p:cNvGraphicFramePr>
          <p:nvPr/>
        </p:nvGraphicFramePr>
        <p:xfrm>
          <a:off x="6186486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5" name="Tableau 54"/>
          <p:cNvGraphicFramePr>
            <a:graphicFrameLocks noGrp="1"/>
          </p:cNvGraphicFramePr>
          <p:nvPr/>
        </p:nvGraphicFramePr>
        <p:xfrm>
          <a:off x="6900866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6" name="Tableau 55"/>
          <p:cNvGraphicFramePr>
            <a:graphicFrameLocks noGrp="1"/>
          </p:cNvGraphicFramePr>
          <p:nvPr/>
        </p:nvGraphicFramePr>
        <p:xfrm>
          <a:off x="7639058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7" name="Tableau 56"/>
          <p:cNvGraphicFramePr>
            <a:graphicFrameLocks noGrp="1"/>
          </p:cNvGraphicFramePr>
          <p:nvPr/>
        </p:nvGraphicFramePr>
        <p:xfrm>
          <a:off x="8401064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Tableau 57"/>
          <p:cNvGraphicFramePr>
            <a:graphicFrameLocks noGrp="1"/>
          </p:cNvGraphicFramePr>
          <p:nvPr/>
        </p:nvGraphicFramePr>
        <p:xfrm>
          <a:off x="5400668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9" name="Tableau 58"/>
          <p:cNvGraphicFramePr>
            <a:graphicFrameLocks noGrp="1"/>
          </p:cNvGraphicFramePr>
          <p:nvPr/>
        </p:nvGraphicFramePr>
        <p:xfrm>
          <a:off x="6138860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0" name="Tableau 59"/>
          <p:cNvGraphicFramePr>
            <a:graphicFrameLocks noGrp="1"/>
          </p:cNvGraphicFramePr>
          <p:nvPr/>
        </p:nvGraphicFramePr>
        <p:xfrm>
          <a:off x="6900866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Tableau 60"/>
          <p:cNvGraphicFramePr>
            <a:graphicFrameLocks noGrp="1"/>
          </p:cNvGraphicFramePr>
          <p:nvPr/>
        </p:nvGraphicFramePr>
        <p:xfrm>
          <a:off x="7639058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2" name="Tableau 61"/>
          <p:cNvGraphicFramePr>
            <a:graphicFrameLocks noGrp="1"/>
          </p:cNvGraphicFramePr>
          <p:nvPr/>
        </p:nvGraphicFramePr>
        <p:xfrm>
          <a:off x="8401064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3" name="Tableau 62"/>
          <p:cNvGraphicFramePr>
            <a:graphicFrameLocks noGrp="1"/>
          </p:cNvGraphicFramePr>
          <p:nvPr/>
        </p:nvGraphicFramePr>
        <p:xfrm>
          <a:off x="5400668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4" name="Tableau 63"/>
          <p:cNvGraphicFramePr>
            <a:graphicFrameLocks noGrp="1"/>
          </p:cNvGraphicFramePr>
          <p:nvPr/>
        </p:nvGraphicFramePr>
        <p:xfrm>
          <a:off x="6138860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5" name="Tableau 64"/>
          <p:cNvGraphicFramePr>
            <a:graphicFrameLocks noGrp="1"/>
          </p:cNvGraphicFramePr>
          <p:nvPr/>
        </p:nvGraphicFramePr>
        <p:xfrm>
          <a:off x="6900866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6" name="Tableau 65"/>
          <p:cNvGraphicFramePr>
            <a:graphicFrameLocks noGrp="1"/>
          </p:cNvGraphicFramePr>
          <p:nvPr/>
        </p:nvGraphicFramePr>
        <p:xfrm>
          <a:off x="7615246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7" name="Tableau 66"/>
          <p:cNvGraphicFramePr>
            <a:graphicFrameLocks noGrp="1"/>
          </p:cNvGraphicFramePr>
          <p:nvPr/>
        </p:nvGraphicFramePr>
        <p:xfrm>
          <a:off x="8353438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1" name="Tableau 70"/>
          <p:cNvGraphicFramePr>
            <a:graphicFrameLocks noGrp="1"/>
          </p:cNvGraphicFramePr>
          <p:nvPr/>
        </p:nvGraphicFramePr>
        <p:xfrm>
          <a:off x="7639058" y="608648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2" name="Tableau 71"/>
          <p:cNvGraphicFramePr>
            <a:graphicFrameLocks noGrp="1"/>
          </p:cNvGraphicFramePr>
          <p:nvPr/>
        </p:nvGraphicFramePr>
        <p:xfrm>
          <a:off x="8424876" y="608648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3" name="Tableau 72"/>
          <p:cNvGraphicFramePr>
            <a:graphicFrameLocks noGrp="1"/>
          </p:cNvGraphicFramePr>
          <p:nvPr/>
        </p:nvGraphicFramePr>
        <p:xfrm>
          <a:off x="5495918" y="694374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4" name="Tableau 73"/>
          <p:cNvGraphicFramePr>
            <a:graphicFrameLocks noGrp="1"/>
          </p:cNvGraphicFramePr>
          <p:nvPr/>
        </p:nvGraphicFramePr>
        <p:xfrm>
          <a:off x="6210298" y="694374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5" name="Tableau 74"/>
          <p:cNvGraphicFramePr>
            <a:graphicFrameLocks noGrp="1"/>
          </p:cNvGraphicFramePr>
          <p:nvPr/>
        </p:nvGraphicFramePr>
        <p:xfrm>
          <a:off x="6996116" y="694374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6" name="Tableau 75"/>
          <p:cNvGraphicFramePr>
            <a:graphicFrameLocks noGrp="1"/>
          </p:cNvGraphicFramePr>
          <p:nvPr/>
        </p:nvGraphicFramePr>
        <p:xfrm>
          <a:off x="7710496" y="694374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7" name="Tableau 76"/>
          <p:cNvGraphicFramePr>
            <a:graphicFrameLocks noGrp="1"/>
          </p:cNvGraphicFramePr>
          <p:nvPr/>
        </p:nvGraphicFramePr>
        <p:xfrm>
          <a:off x="8496314" y="694374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8" name="Tableau 77"/>
          <p:cNvGraphicFramePr>
            <a:graphicFrameLocks noGrp="1"/>
          </p:cNvGraphicFramePr>
          <p:nvPr/>
        </p:nvGraphicFramePr>
        <p:xfrm>
          <a:off x="2828900" y="2586022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(200)</a:t>
                      </a:r>
                      <a:r>
                        <a:rPr lang="fr-FR" sz="180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9" name="Tableau 78"/>
          <p:cNvGraphicFramePr>
            <a:graphicFrameLocks noGrp="1"/>
          </p:cNvGraphicFramePr>
          <p:nvPr/>
        </p:nvGraphicFramePr>
        <p:xfrm>
          <a:off x="2828900" y="3443278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(200)</a:t>
                      </a:r>
                      <a:r>
                        <a:rPr lang="fr-FR" sz="180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0" name="Tableau 79"/>
          <p:cNvGraphicFramePr>
            <a:graphicFrameLocks noGrp="1"/>
          </p:cNvGraphicFramePr>
          <p:nvPr/>
        </p:nvGraphicFramePr>
        <p:xfrm>
          <a:off x="2809081" y="4371972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(200)</a:t>
                      </a:r>
                      <a:r>
                        <a:rPr lang="fr-FR" sz="180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1" name="Tableau 80"/>
          <p:cNvGraphicFramePr>
            <a:graphicFrameLocks noGrp="1"/>
          </p:cNvGraphicFramePr>
          <p:nvPr/>
        </p:nvGraphicFramePr>
        <p:xfrm>
          <a:off x="2828900" y="5229228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(200)</a:t>
                      </a:r>
                      <a:r>
                        <a:rPr lang="fr-FR" sz="180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2" name="Tableau 81"/>
          <p:cNvGraphicFramePr>
            <a:graphicFrameLocks noGrp="1"/>
          </p:cNvGraphicFramePr>
          <p:nvPr/>
        </p:nvGraphicFramePr>
        <p:xfrm>
          <a:off x="2828900" y="6086484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(100)</a:t>
                      </a:r>
                      <a:r>
                        <a:rPr lang="fr-FR" sz="180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3" name="Tableau 82"/>
          <p:cNvGraphicFramePr>
            <a:graphicFrameLocks noGrp="1"/>
          </p:cNvGraphicFramePr>
          <p:nvPr/>
        </p:nvGraphicFramePr>
        <p:xfrm>
          <a:off x="5400668" y="6300798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smtClean="0">
                          <a:solidFill>
                            <a:schemeClr val="tx1"/>
                          </a:solidFill>
                        </a:rPr>
                        <a:t>(-200)</a:t>
                      </a:r>
                      <a:r>
                        <a:rPr lang="fr-FR" sz="160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16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5" name="Tableau 84"/>
          <p:cNvGraphicFramePr>
            <a:graphicFrameLocks noGrp="1"/>
          </p:cNvGraphicFramePr>
          <p:nvPr/>
        </p:nvGraphicFramePr>
        <p:xfrm>
          <a:off x="6115048" y="6300798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smtClean="0">
                          <a:solidFill>
                            <a:schemeClr val="tx1"/>
                          </a:solidFill>
                        </a:rPr>
                        <a:t>(-200)</a:t>
                      </a:r>
                      <a:r>
                        <a:rPr lang="fr-FR" sz="160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16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6" name="Tableau 85"/>
          <p:cNvGraphicFramePr>
            <a:graphicFrameLocks noGrp="1"/>
          </p:cNvGraphicFramePr>
          <p:nvPr/>
        </p:nvGraphicFramePr>
        <p:xfrm>
          <a:off x="6881047" y="6300798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smtClean="0">
                          <a:solidFill>
                            <a:schemeClr val="tx1"/>
                          </a:solidFill>
                        </a:rPr>
                        <a:t>(-100)</a:t>
                      </a:r>
                      <a:r>
                        <a:rPr lang="fr-FR" sz="160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16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1328702" y="1614876"/>
          <a:ext cx="3734595" cy="6114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919"/>
                <a:gridCol w="746919"/>
                <a:gridCol w="746919"/>
                <a:gridCol w="746919"/>
                <a:gridCol w="746919"/>
              </a:tblGrid>
              <a:tr h="873526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1114388" y="8372500"/>
            <a:ext cx="3720307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err="1" smtClean="0">
                <a:latin typeface="Roboto"/>
              </a:rPr>
              <a:t>Grad</a:t>
            </a:r>
            <a:r>
              <a:rPr lang="fr-FR" dirty="0" smtClean="0">
                <a:latin typeface="Roboto"/>
              </a:rPr>
              <a:t> X</a:t>
            </a:r>
            <a:r>
              <a:rPr lang="fr-FR" baseline="30000" dirty="0" smtClean="0">
                <a:latin typeface="Roboto"/>
              </a:rPr>
              <a:t>2</a:t>
            </a:r>
            <a:r>
              <a:rPr lang="fr-FR" dirty="0" smtClean="0">
                <a:latin typeface="Roboto"/>
              </a:rPr>
              <a:t>+ Y</a:t>
            </a:r>
            <a:r>
              <a:rPr lang="fr-FR" baseline="30000" dirty="0" smtClean="0">
                <a:latin typeface="Roboto"/>
              </a:rPr>
              <a:t>2</a:t>
            </a:r>
            <a:endParaRPr lang="fr-FR" baseline="30000" dirty="0">
              <a:latin typeface="Roboto"/>
            </a:endParaRPr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348521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2134339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2828900" y="1728766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(200)</a:t>
                      </a:r>
                      <a:r>
                        <a:rPr lang="fr-FR" sz="180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/>
        </p:nvGraphicFramePr>
        <p:xfrm>
          <a:off x="3634537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4348917" y="172876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1419959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au 10"/>
          <p:cNvGraphicFramePr>
            <a:graphicFrameLocks noGrp="1"/>
          </p:cNvGraphicFramePr>
          <p:nvPr/>
        </p:nvGraphicFramePr>
        <p:xfrm>
          <a:off x="2134339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Tableau 12"/>
          <p:cNvGraphicFramePr>
            <a:graphicFrameLocks noGrp="1"/>
          </p:cNvGraphicFramePr>
          <p:nvPr/>
        </p:nvGraphicFramePr>
        <p:xfrm>
          <a:off x="3634537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au 13"/>
          <p:cNvGraphicFramePr>
            <a:graphicFrameLocks noGrp="1"/>
          </p:cNvGraphicFramePr>
          <p:nvPr/>
        </p:nvGraphicFramePr>
        <p:xfrm>
          <a:off x="4348917" y="25860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Tableau 14"/>
          <p:cNvGraphicFramePr>
            <a:graphicFrameLocks noGrp="1"/>
          </p:cNvGraphicFramePr>
          <p:nvPr/>
        </p:nvGraphicFramePr>
        <p:xfrm>
          <a:off x="1348521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au 15"/>
          <p:cNvGraphicFramePr>
            <a:graphicFrameLocks noGrp="1"/>
          </p:cNvGraphicFramePr>
          <p:nvPr/>
        </p:nvGraphicFramePr>
        <p:xfrm>
          <a:off x="2134339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Tableau 17"/>
          <p:cNvGraphicFramePr>
            <a:graphicFrameLocks noGrp="1"/>
          </p:cNvGraphicFramePr>
          <p:nvPr/>
        </p:nvGraphicFramePr>
        <p:xfrm>
          <a:off x="3634537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Tableau 18"/>
          <p:cNvGraphicFramePr>
            <a:graphicFrameLocks noGrp="1"/>
          </p:cNvGraphicFramePr>
          <p:nvPr/>
        </p:nvGraphicFramePr>
        <p:xfrm>
          <a:off x="4348917" y="34432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Tableau 19"/>
          <p:cNvGraphicFramePr>
            <a:graphicFrameLocks noGrp="1"/>
          </p:cNvGraphicFramePr>
          <p:nvPr/>
        </p:nvGraphicFramePr>
        <p:xfrm>
          <a:off x="1348521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1" name="Tableau 20"/>
          <p:cNvGraphicFramePr>
            <a:graphicFrameLocks noGrp="1"/>
          </p:cNvGraphicFramePr>
          <p:nvPr/>
        </p:nvGraphicFramePr>
        <p:xfrm>
          <a:off x="2134339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3" name="Tableau 22"/>
          <p:cNvGraphicFramePr>
            <a:graphicFrameLocks noGrp="1"/>
          </p:cNvGraphicFramePr>
          <p:nvPr/>
        </p:nvGraphicFramePr>
        <p:xfrm>
          <a:off x="3634537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Tableau 23"/>
          <p:cNvGraphicFramePr>
            <a:graphicFrameLocks noGrp="1"/>
          </p:cNvGraphicFramePr>
          <p:nvPr/>
        </p:nvGraphicFramePr>
        <p:xfrm>
          <a:off x="4348917" y="430053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Tableau 24"/>
          <p:cNvGraphicFramePr>
            <a:graphicFrameLocks noGrp="1"/>
          </p:cNvGraphicFramePr>
          <p:nvPr/>
        </p:nvGraphicFramePr>
        <p:xfrm>
          <a:off x="1348521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6" name="Tableau 25"/>
          <p:cNvGraphicFramePr>
            <a:graphicFrameLocks noGrp="1"/>
          </p:cNvGraphicFramePr>
          <p:nvPr/>
        </p:nvGraphicFramePr>
        <p:xfrm>
          <a:off x="2062901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8" name="Tableau 27"/>
          <p:cNvGraphicFramePr>
            <a:graphicFrameLocks noGrp="1"/>
          </p:cNvGraphicFramePr>
          <p:nvPr/>
        </p:nvGraphicFramePr>
        <p:xfrm>
          <a:off x="3634537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Tableau 28"/>
          <p:cNvGraphicFramePr>
            <a:graphicFrameLocks noGrp="1"/>
          </p:cNvGraphicFramePr>
          <p:nvPr/>
        </p:nvGraphicFramePr>
        <p:xfrm>
          <a:off x="4348917" y="515779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3" name="Tableau 32"/>
          <p:cNvGraphicFramePr>
            <a:graphicFrameLocks noGrp="1"/>
          </p:cNvGraphicFramePr>
          <p:nvPr/>
        </p:nvGraphicFramePr>
        <p:xfrm>
          <a:off x="3634537" y="61579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4" name="Tableau 33"/>
          <p:cNvGraphicFramePr>
            <a:graphicFrameLocks noGrp="1"/>
          </p:cNvGraphicFramePr>
          <p:nvPr/>
        </p:nvGraphicFramePr>
        <p:xfrm>
          <a:off x="4348917" y="615792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5" name="Tableau 34"/>
          <p:cNvGraphicFramePr>
            <a:graphicFrameLocks noGrp="1"/>
          </p:cNvGraphicFramePr>
          <p:nvPr/>
        </p:nvGraphicFramePr>
        <p:xfrm>
          <a:off x="1348521" y="70151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6" name="Tableau 35"/>
          <p:cNvGraphicFramePr>
            <a:graphicFrameLocks noGrp="1"/>
          </p:cNvGraphicFramePr>
          <p:nvPr/>
        </p:nvGraphicFramePr>
        <p:xfrm>
          <a:off x="2134339" y="70151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7" name="Tableau 36"/>
          <p:cNvGraphicFramePr>
            <a:graphicFrameLocks noGrp="1"/>
          </p:cNvGraphicFramePr>
          <p:nvPr/>
        </p:nvGraphicFramePr>
        <p:xfrm>
          <a:off x="2920157" y="70151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8" name="Tableau 37"/>
          <p:cNvGraphicFramePr>
            <a:graphicFrameLocks noGrp="1"/>
          </p:cNvGraphicFramePr>
          <p:nvPr/>
        </p:nvGraphicFramePr>
        <p:xfrm>
          <a:off x="3634537" y="70151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9" name="Tableau 38"/>
          <p:cNvGraphicFramePr>
            <a:graphicFrameLocks noGrp="1"/>
          </p:cNvGraphicFramePr>
          <p:nvPr/>
        </p:nvGraphicFramePr>
        <p:xfrm>
          <a:off x="4348917" y="701517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pic>
        <p:nvPicPr>
          <p:cNvPr id="4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57396" y="0"/>
            <a:ext cx="6951413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78" name="Tableau 77"/>
          <p:cNvGraphicFramePr>
            <a:graphicFrameLocks noGrp="1"/>
          </p:cNvGraphicFramePr>
          <p:nvPr/>
        </p:nvGraphicFramePr>
        <p:xfrm>
          <a:off x="2828900" y="2586022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(200)</a:t>
                      </a:r>
                      <a:r>
                        <a:rPr lang="fr-FR" sz="180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9" name="Tableau 78"/>
          <p:cNvGraphicFramePr>
            <a:graphicFrameLocks noGrp="1"/>
          </p:cNvGraphicFramePr>
          <p:nvPr/>
        </p:nvGraphicFramePr>
        <p:xfrm>
          <a:off x="2828900" y="3443278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(200)</a:t>
                      </a:r>
                      <a:r>
                        <a:rPr lang="fr-FR" sz="180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0" name="Tableau 79"/>
          <p:cNvGraphicFramePr>
            <a:graphicFrameLocks noGrp="1"/>
          </p:cNvGraphicFramePr>
          <p:nvPr/>
        </p:nvGraphicFramePr>
        <p:xfrm>
          <a:off x="2809081" y="4371972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(200)</a:t>
                      </a:r>
                      <a:r>
                        <a:rPr lang="fr-FR" sz="180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1" name="Tableau 80"/>
          <p:cNvGraphicFramePr>
            <a:graphicFrameLocks noGrp="1"/>
          </p:cNvGraphicFramePr>
          <p:nvPr/>
        </p:nvGraphicFramePr>
        <p:xfrm>
          <a:off x="2828900" y="5229228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(200)</a:t>
                      </a:r>
                      <a:r>
                        <a:rPr lang="fr-FR" sz="180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2" name="Tableau 81"/>
          <p:cNvGraphicFramePr>
            <a:graphicFrameLocks noGrp="1"/>
          </p:cNvGraphicFramePr>
          <p:nvPr/>
        </p:nvGraphicFramePr>
        <p:xfrm>
          <a:off x="2828900" y="6086484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2*(100)</a:t>
                      </a:r>
                      <a:r>
                        <a:rPr lang="fr-FR" sz="180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4" name="Tableau 83"/>
          <p:cNvGraphicFramePr>
            <a:graphicFrameLocks noGrp="1"/>
          </p:cNvGraphicFramePr>
          <p:nvPr/>
        </p:nvGraphicFramePr>
        <p:xfrm>
          <a:off x="1328702" y="6157922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smtClean="0">
                          <a:solidFill>
                            <a:schemeClr val="tx1"/>
                          </a:solidFill>
                        </a:rPr>
                        <a:t>(-200)</a:t>
                      </a:r>
                      <a:r>
                        <a:rPr lang="fr-FR" sz="160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16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7" name="Tableau 86"/>
          <p:cNvGraphicFramePr>
            <a:graphicFrameLocks noGrp="1"/>
          </p:cNvGraphicFramePr>
          <p:nvPr/>
        </p:nvGraphicFramePr>
        <p:xfrm>
          <a:off x="2043082" y="6157922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smtClean="0">
                          <a:solidFill>
                            <a:schemeClr val="tx1"/>
                          </a:solidFill>
                        </a:rPr>
                        <a:t>(-200)</a:t>
                      </a:r>
                      <a:r>
                        <a:rPr lang="fr-FR" sz="160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fr-FR" sz="16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9" name="Tableau 88"/>
          <p:cNvGraphicFramePr>
            <a:graphicFrameLocks noGrp="1"/>
          </p:cNvGraphicFramePr>
          <p:nvPr/>
        </p:nvGraphicFramePr>
        <p:xfrm>
          <a:off x="6186486" y="1686314"/>
          <a:ext cx="3734595" cy="6114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919"/>
                <a:gridCol w="746919"/>
                <a:gridCol w="746919"/>
                <a:gridCol w="746919"/>
                <a:gridCol w="746919"/>
              </a:tblGrid>
              <a:tr h="873526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0" name="Tableau 89"/>
          <p:cNvGraphicFramePr>
            <a:graphicFrameLocks noGrp="1"/>
          </p:cNvGraphicFramePr>
          <p:nvPr/>
        </p:nvGraphicFramePr>
        <p:xfrm>
          <a:off x="6206305" y="180020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1" name="Tableau 90"/>
          <p:cNvGraphicFramePr>
            <a:graphicFrameLocks noGrp="1"/>
          </p:cNvGraphicFramePr>
          <p:nvPr/>
        </p:nvGraphicFramePr>
        <p:xfrm>
          <a:off x="6992123" y="180020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2" name="Tableau 91"/>
          <p:cNvGraphicFramePr>
            <a:graphicFrameLocks noGrp="1"/>
          </p:cNvGraphicFramePr>
          <p:nvPr/>
        </p:nvGraphicFramePr>
        <p:xfrm>
          <a:off x="7686684" y="1800204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3" name="Tableau 92"/>
          <p:cNvGraphicFramePr>
            <a:graphicFrameLocks noGrp="1"/>
          </p:cNvGraphicFramePr>
          <p:nvPr/>
        </p:nvGraphicFramePr>
        <p:xfrm>
          <a:off x="8492321" y="180020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4" name="Tableau 93"/>
          <p:cNvGraphicFramePr>
            <a:graphicFrameLocks noGrp="1"/>
          </p:cNvGraphicFramePr>
          <p:nvPr/>
        </p:nvGraphicFramePr>
        <p:xfrm>
          <a:off x="9206701" y="180020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5" name="Tableau 94"/>
          <p:cNvGraphicFramePr>
            <a:graphicFrameLocks noGrp="1"/>
          </p:cNvGraphicFramePr>
          <p:nvPr/>
        </p:nvGraphicFramePr>
        <p:xfrm>
          <a:off x="6277743" y="265746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6" name="Tableau 95"/>
          <p:cNvGraphicFramePr>
            <a:graphicFrameLocks noGrp="1"/>
          </p:cNvGraphicFramePr>
          <p:nvPr/>
        </p:nvGraphicFramePr>
        <p:xfrm>
          <a:off x="6992123" y="265746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7" name="Tableau 96"/>
          <p:cNvGraphicFramePr>
            <a:graphicFrameLocks noGrp="1"/>
          </p:cNvGraphicFramePr>
          <p:nvPr/>
        </p:nvGraphicFramePr>
        <p:xfrm>
          <a:off x="8492321" y="265746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8" name="Tableau 97"/>
          <p:cNvGraphicFramePr>
            <a:graphicFrameLocks noGrp="1"/>
          </p:cNvGraphicFramePr>
          <p:nvPr/>
        </p:nvGraphicFramePr>
        <p:xfrm>
          <a:off x="9206701" y="265746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9" name="Tableau 98"/>
          <p:cNvGraphicFramePr>
            <a:graphicFrameLocks noGrp="1"/>
          </p:cNvGraphicFramePr>
          <p:nvPr/>
        </p:nvGraphicFramePr>
        <p:xfrm>
          <a:off x="6206305" y="351471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0" name="Tableau 99"/>
          <p:cNvGraphicFramePr>
            <a:graphicFrameLocks noGrp="1"/>
          </p:cNvGraphicFramePr>
          <p:nvPr/>
        </p:nvGraphicFramePr>
        <p:xfrm>
          <a:off x="6992123" y="351471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1" name="Tableau 100"/>
          <p:cNvGraphicFramePr>
            <a:graphicFrameLocks noGrp="1"/>
          </p:cNvGraphicFramePr>
          <p:nvPr/>
        </p:nvGraphicFramePr>
        <p:xfrm>
          <a:off x="8492321" y="351471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2" name="Tableau 101"/>
          <p:cNvGraphicFramePr>
            <a:graphicFrameLocks noGrp="1"/>
          </p:cNvGraphicFramePr>
          <p:nvPr/>
        </p:nvGraphicFramePr>
        <p:xfrm>
          <a:off x="9206701" y="351471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Tableau 102"/>
          <p:cNvGraphicFramePr>
            <a:graphicFrameLocks noGrp="1"/>
          </p:cNvGraphicFramePr>
          <p:nvPr/>
        </p:nvGraphicFramePr>
        <p:xfrm>
          <a:off x="6206305" y="437197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4" name="Tableau 103"/>
          <p:cNvGraphicFramePr>
            <a:graphicFrameLocks noGrp="1"/>
          </p:cNvGraphicFramePr>
          <p:nvPr/>
        </p:nvGraphicFramePr>
        <p:xfrm>
          <a:off x="6992123" y="437197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5" name="Tableau 104"/>
          <p:cNvGraphicFramePr>
            <a:graphicFrameLocks noGrp="1"/>
          </p:cNvGraphicFramePr>
          <p:nvPr/>
        </p:nvGraphicFramePr>
        <p:xfrm>
          <a:off x="8492321" y="437197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6" name="Tableau 105"/>
          <p:cNvGraphicFramePr>
            <a:graphicFrameLocks noGrp="1"/>
          </p:cNvGraphicFramePr>
          <p:nvPr/>
        </p:nvGraphicFramePr>
        <p:xfrm>
          <a:off x="9206701" y="437197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7" name="Tableau 106"/>
          <p:cNvGraphicFramePr>
            <a:graphicFrameLocks noGrp="1"/>
          </p:cNvGraphicFramePr>
          <p:nvPr/>
        </p:nvGraphicFramePr>
        <p:xfrm>
          <a:off x="6206305" y="522922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8" name="Tableau 107"/>
          <p:cNvGraphicFramePr>
            <a:graphicFrameLocks noGrp="1"/>
          </p:cNvGraphicFramePr>
          <p:nvPr/>
        </p:nvGraphicFramePr>
        <p:xfrm>
          <a:off x="6920685" y="522922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9" name="Tableau 108"/>
          <p:cNvGraphicFramePr>
            <a:graphicFrameLocks noGrp="1"/>
          </p:cNvGraphicFramePr>
          <p:nvPr/>
        </p:nvGraphicFramePr>
        <p:xfrm>
          <a:off x="8492321" y="522922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0" name="Tableau 109"/>
          <p:cNvGraphicFramePr>
            <a:graphicFrameLocks noGrp="1"/>
          </p:cNvGraphicFramePr>
          <p:nvPr/>
        </p:nvGraphicFramePr>
        <p:xfrm>
          <a:off x="9206701" y="522922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1" name="Tableau 110"/>
          <p:cNvGraphicFramePr>
            <a:graphicFrameLocks noGrp="1"/>
          </p:cNvGraphicFramePr>
          <p:nvPr/>
        </p:nvGraphicFramePr>
        <p:xfrm>
          <a:off x="8492321" y="622936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2" name="Tableau 111"/>
          <p:cNvGraphicFramePr>
            <a:graphicFrameLocks noGrp="1"/>
          </p:cNvGraphicFramePr>
          <p:nvPr/>
        </p:nvGraphicFramePr>
        <p:xfrm>
          <a:off x="9206701" y="622936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3" name="Tableau 112"/>
          <p:cNvGraphicFramePr>
            <a:graphicFrameLocks noGrp="1"/>
          </p:cNvGraphicFramePr>
          <p:nvPr/>
        </p:nvGraphicFramePr>
        <p:xfrm>
          <a:off x="6206305" y="708661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4" name="Tableau 113"/>
          <p:cNvGraphicFramePr>
            <a:graphicFrameLocks noGrp="1"/>
          </p:cNvGraphicFramePr>
          <p:nvPr/>
        </p:nvGraphicFramePr>
        <p:xfrm>
          <a:off x="6992123" y="708661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5" name="Tableau 114"/>
          <p:cNvGraphicFramePr>
            <a:graphicFrameLocks noGrp="1"/>
          </p:cNvGraphicFramePr>
          <p:nvPr/>
        </p:nvGraphicFramePr>
        <p:xfrm>
          <a:off x="7777941" y="708661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6" name="Tableau 115"/>
          <p:cNvGraphicFramePr>
            <a:graphicFrameLocks noGrp="1"/>
          </p:cNvGraphicFramePr>
          <p:nvPr/>
        </p:nvGraphicFramePr>
        <p:xfrm>
          <a:off x="8492321" y="708661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7" name="Tableau 116"/>
          <p:cNvGraphicFramePr>
            <a:graphicFrameLocks noGrp="1"/>
          </p:cNvGraphicFramePr>
          <p:nvPr/>
        </p:nvGraphicFramePr>
        <p:xfrm>
          <a:off x="9206701" y="708661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8" name="Tableau 117"/>
          <p:cNvGraphicFramePr>
            <a:graphicFrameLocks noGrp="1"/>
          </p:cNvGraphicFramePr>
          <p:nvPr/>
        </p:nvGraphicFramePr>
        <p:xfrm>
          <a:off x="7686684" y="2657460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9" name="Tableau 118"/>
          <p:cNvGraphicFramePr>
            <a:graphicFrameLocks noGrp="1"/>
          </p:cNvGraphicFramePr>
          <p:nvPr/>
        </p:nvGraphicFramePr>
        <p:xfrm>
          <a:off x="7686684" y="3514716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20" name="Tableau 119"/>
          <p:cNvGraphicFramePr>
            <a:graphicFrameLocks noGrp="1"/>
          </p:cNvGraphicFramePr>
          <p:nvPr/>
        </p:nvGraphicFramePr>
        <p:xfrm>
          <a:off x="7666865" y="4443410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21" name="Tableau 120"/>
          <p:cNvGraphicFramePr>
            <a:graphicFrameLocks noGrp="1"/>
          </p:cNvGraphicFramePr>
          <p:nvPr/>
        </p:nvGraphicFramePr>
        <p:xfrm>
          <a:off x="7686684" y="5300666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22" name="Tableau 121"/>
          <p:cNvGraphicFramePr>
            <a:graphicFrameLocks noGrp="1"/>
          </p:cNvGraphicFramePr>
          <p:nvPr/>
        </p:nvGraphicFramePr>
        <p:xfrm>
          <a:off x="7686684" y="6157922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141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23" name="Tableau 122"/>
          <p:cNvGraphicFramePr>
            <a:graphicFrameLocks noGrp="1"/>
          </p:cNvGraphicFramePr>
          <p:nvPr/>
        </p:nvGraphicFramePr>
        <p:xfrm>
          <a:off x="6186486" y="6229360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16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24" name="Tableau 123"/>
          <p:cNvGraphicFramePr>
            <a:graphicFrameLocks noGrp="1"/>
          </p:cNvGraphicFramePr>
          <p:nvPr/>
        </p:nvGraphicFramePr>
        <p:xfrm>
          <a:off x="6900866" y="6229360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16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25" name="ZoneTexte 124"/>
          <p:cNvSpPr txBox="1"/>
          <p:nvPr/>
        </p:nvSpPr>
        <p:spPr>
          <a:xfrm>
            <a:off x="5972172" y="8308411"/>
            <a:ext cx="3720307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(</a:t>
            </a:r>
            <a:r>
              <a:rPr lang="fr-FR" dirty="0" err="1" smtClean="0">
                <a:latin typeface="Roboto"/>
              </a:rPr>
              <a:t>Grad</a:t>
            </a:r>
            <a:r>
              <a:rPr lang="fr-FR" dirty="0" smtClean="0">
                <a:latin typeface="Roboto"/>
              </a:rPr>
              <a:t> X</a:t>
            </a:r>
            <a:r>
              <a:rPr lang="fr-FR" baseline="30000" dirty="0" smtClean="0">
                <a:latin typeface="Roboto"/>
              </a:rPr>
              <a:t>2</a:t>
            </a:r>
            <a:r>
              <a:rPr lang="fr-FR" dirty="0" smtClean="0">
                <a:latin typeface="Roboto"/>
              </a:rPr>
              <a:t>+ Y</a:t>
            </a:r>
            <a:r>
              <a:rPr lang="fr-FR" baseline="30000" dirty="0" smtClean="0">
                <a:latin typeface="Roboto"/>
              </a:rPr>
              <a:t>2</a:t>
            </a:r>
            <a:r>
              <a:rPr lang="fr-FR" dirty="0" smtClean="0">
                <a:latin typeface="Roboto"/>
              </a:rPr>
              <a:t>)</a:t>
            </a:r>
            <a:r>
              <a:rPr lang="fr-FR" baseline="30000" dirty="0" smtClean="0">
                <a:latin typeface="Roboto"/>
              </a:rPr>
              <a:t>1/2</a:t>
            </a:r>
            <a:endParaRPr lang="fr-FR" baseline="30000" dirty="0"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570" y="871510"/>
            <a:ext cx="5889945" cy="852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ZoneTexte 3"/>
          <p:cNvSpPr txBox="1"/>
          <p:nvPr/>
        </p:nvSpPr>
        <p:spPr>
          <a:xfrm>
            <a:off x="400008" y="1871642"/>
            <a:ext cx="5786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Seuil T= 200</a:t>
            </a:r>
            <a:endParaRPr lang="fr-FR" b="1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3880651" y="1900628"/>
          <a:ext cx="3734595" cy="6114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919"/>
                <a:gridCol w="746919"/>
                <a:gridCol w="746919"/>
                <a:gridCol w="746919"/>
                <a:gridCol w="746919"/>
              </a:tblGrid>
              <a:tr h="873526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3526"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3900470" y="201451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4686288" y="201451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/>
        </p:nvGraphicFramePr>
        <p:xfrm>
          <a:off x="5380849" y="2014518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6186486" y="201451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6900866" y="201451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au 10"/>
          <p:cNvGraphicFramePr>
            <a:graphicFrameLocks noGrp="1"/>
          </p:cNvGraphicFramePr>
          <p:nvPr/>
        </p:nvGraphicFramePr>
        <p:xfrm>
          <a:off x="3971908" y="287177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4686288" y="287177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Tableau 12"/>
          <p:cNvGraphicFramePr>
            <a:graphicFrameLocks noGrp="1"/>
          </p:cNvGraphicFramePr>
          <p:nvPr/>
        </p:nvGraphicFramePr>
        <p:xfrm>
          <a:off x="6186486" y="287177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au 13"/>
          <p:cNvGraphicFramePr>
            <a:graphicFrameLocks noGrp="1"/>
          </p:cNvGraphicFramePr>
          <p:nvPr/>
        </p:nvGraphicFramePr>
        <p:xfrm>
          <a:off x="6900866" y="287177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Tableau 14"/>
          <p:cNvGraphicFramePr>
            <a:graphicFrameLocks noGrp="1"/>
          </p:cNvGraphicFramePr>
          <p:nvPr/>
        </p:nvGraphicFramePr>
        <p:xfrm>
          <a:off x="3900470" y="372903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au 15"/>
          <p:cNvGraphicFramePr>
            <a:graphicFrameLocks noGrp="1"/>
          </p:cNvGraphicFramePr>
          <p:nvPr/>
        </p:nvGraphicFramePr>
        <p:xfrm>
          <a:off x="4686288" y="372903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Tableau 16"/>
          <p:cNvGraphicFramePr>
            <a:graphicFrameLocks noGrp="1"/>
          </p:cNvGraphicFramePr>
          <p:nvPr/>
        </p:nvGraphicFramePr>
        <p:xfrm>
          <a:off x="6186486" y="372903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Tableau 17"/>
          <p:cNvGraphicFramePr>
            <a:graphicFrameLocks noGrp="1"/>
          </p:cNvGraphicFramePr>
          <p:nvPr/>
        </p:nvGraphicFramePr>
        <p:xfrm>
          <a:off x="6900866" y="372903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Tableau 18"/>
          <p:cNvGraphicFramePr>
            <a:graphicFrameLocks noGrp="1"/>
          </p:cNvGraphicFramePr>
          <p:nvPr/>
        </p:nvGraphicFramePr>
        <p:xfrm>
          <a:off x="3900470" y="458628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Tableau 19"/>
          <p:cNvGraphicFramePr>
            <a:graphicFrameLocks noGrp="1"/>
          </p:cNvGraphicFramePr>
          <p:nvPr/>
        </p:nvGraphicFramePr>
        <p:xfrm>
          <a:off x="4686288" y="458628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1" name="Tableau 20"/>
          <p:cNvGraphicFramePr>
            <a:graphicFrameLocks noGrp="1"/>
          </p:cNvGraphicFramePr>
          <p:nvPr/>
        </p:nvGraphicFramePr>
        <p:xfrm>
          <a:off x="6186486" y="458628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2" name="Tableau 21"/>
          <p:cNvGraphicFramePr>
            <a:graphicFrameLocks noGrp="1"/>
          </p:cNvGraphicFramePr>
          <p:nvPr/>
        </p:nvGraphicFramePr>
        <p:xfrm>
          <a:off x="6900866" y="458628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3" name="Tableau 22"/>
          <p:cNvGraphicFramePr>
            <a:graphicFrameLocks noGrp="1"/>
          </p:cNvGraphicFramePr>
          <p:nvPr/>
        </p:nvGraphicFramePr>
        <p:xfrm>
          <a:off x="3900470" y="544354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Tableau 23"/>
          <p:cNvGraphicFramePr>
            <a:graphicFrameLocks noGrp="1"/>
          </p:cNvGraphicFramePr>
          <p:nvPr/>
        </p:nvGraphicFramePr>
        <p:xfrm>
          <a:off x="4614850" y="544354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Tableau 24"/>
          <p:cNvGraphicFramePr>
            <a:graphicFrameLocks noGrp="1"/>
          </p:cNvGraphicFramePr>
          <p:nvPr/>
        </p:nvGraphicFramePr>
        <p:xfrm>
          <a:off x="6186486" y="544354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6" name="Tableau 25"/>
          <p:cNvGraphicFramePr>
            <a:graphicFrameLocks noGrp="1"/>
          </p:cNvGraphicFramePr>
          <p:nvPr/>
        </p:nvGraphicFramePr>
        <p:xfrm>
          <a:off x="6900866" y="544354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7" name="Tableau 26"/>
          <p:cNvGraphicFramePr>
            <a:graphicFrameLocks noGrp="1"/>
          </p:cNvGraphicFramePr>
          <p:nvPr/>
        </p:nvGraphicFramePr>
        <p:xfrm>
          <a:off x="6186486" y="644367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8" name="Tableau 27"/>
          <p:cNvGraphicFramePr>
            <a:graphicFrameLocks noGrp="1"/>
          </p:cNvGraphicFramePr>
          <p:nvPr/>
        </p:nvGraphicFramePr>
        <p:xfrm>
          <a:off x="6900866" y="644367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Tableau 28"/>
          <p:cNvGraphicFramePr>
            <a:graphicFrameLocks noGrp="1"/>
          </p:cNvGraphicFramePr>
          <p:nvPr/>
        </p:nvGraphicFramePr>
        <p:xfrm>
          <a:off x="3900470" y="730093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0" name="Tableau 29"/>
          <p:cNvGraphicFramePr>
            <a:graphicFrameLocks noGrp="1"/>
          </p:cNvGraphicFramePr>
          <p:nvPr/>
        </p:nvGraphicFramePr>
        <p:xfrm>
          <a:off x="4686288" y="730093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1" name="Tableau 30"/>
          <p:cNvGraphicFramePr>
            <a:graphicFrameLocks noGrp="1"/>
          </p:cNvGraphicFramePr>
          <p:nvPr/>
        </p:nvGraphicFramePr>
        <p:xfrm>
          <a:off x="5472106" y="730093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Tableau 31"/>
          <p:cNvGraphicFramePr>
            <a:graphicFrameLocks noGrp="1"/>
          </p:cNvGraphicFramePr>
          <p:nvPr/>
        </p:nvGraphicFramePr>
        <p:xfrm>
          <a:off x="6186486" y="730093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3" name="Tableau 32"/>
          <p:cNvGraphicFramePr>
            <a:graphicFrameLocks noGrp="1"/>
          </p:cNvGraphicFramePr>
          <p:nvPr/>
        </p:nvGraphicFramePr>
        <p:xfrm>
          <a:off x="6900866" y="730093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4" name="Tableau 33"/>
          <p:cNvGraphicFramePr>
            <a:graphicFrameLocks noGrp="1"/>
          </p:cNvGraphicFramePr>
          <p:nvPr/>
        </p:nvGraphicFramePr>
        <p:xfrm>
          <a:off x="5380849" y="2871774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5" name="Tableau 34"/>
          <p:cNvGraphicFramePr>
            <a:graphicFrameLocks noGrp="1"/>
          </p:cNvGraphicFramePr>
          <p:nvPr/>
        </p:nvGraphicFramePr>
        <p:xfrm>
          <a:off x="5380849" y="3729030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6" name="Tableau 35"/>
          <p:cNvGraphicFramePr>
            <a:graphicFrameLocks noGrp="1"/>
          </p:cNvGraphicFramePr>
          <p:nvPr/>
        </p:nvGraphicFramePr>
        <p:xfrm>
          <a:off x="5361030" y="4657724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7" name="Tableau 36"/>
          <p:cNvGraphicFramePr>
            <a:graphicFrameLocks noGrp="1"/>
          </p:cNvGraphicFramePr>
          <p:nvPr/>
        </p:nvGraphicFramePr>
        <p:xfrm>
          <a:off x="5380849" y="5514980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8" name="Tableau 37"/>
          <p:cNvGraphicFramePr>
            <a:graphicFrameLocks noGrp="1"/>
          </p:cNvGraphicFramePr>
          <p:nvPr/>
        </p:nvGraphicFramePr>
        <p:xfrm>
          <a:off x="5380849" y="6372236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chemeClr val="tx1"/>
                          </a:solidFill>
                        </a:rPr>
                        <a:t>141</a:t>
                      </a:r>
                      <a:endParaRPr lang="fr-FR" sz="18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9" name="Tableau 38"/>
          <p:cNvGraphicFramePr>
            <a:graphicFrameLocks noGrp="1"/>
          </p:cNvGraphicFramePr>
          <p:nvPr/>
        </p:nvGraphicFramePr>
        <p:xfrm>
          <a:off x="3880651" y="6443674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16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0" name="Tableau 39"/>
          <p:cNvGraphicFramePr>
            <a:graphicFrameLocks noGrp="1"/>
          </p:cNvGraphicFramePr>
          <p:nvPr/>
        </p:nvGraphicFramePr>
        <p:xfrm>
          <a:off x="4595031" y="6443674"/>
          <a:ext cx="805637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7"/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1600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2" name="Tableau 41"/>
          <p:cNvGraphicFramePr>
            <a:graphicFrameLocks noGrp="1"/>
          </p:cNvGraphicFramePr>
          <p:nvPr/>
        </p:nvGraphicFramePr>
        <p:xfrm>
          <a:off x="8043875" y="1955800"/>
          <a:ext cx="3571900" cy="6059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  <a:gridCol w="714380"/>
                <a:gridCol w="714380"/>
                <a:gridCol w="714380"/>
                <a:gridCol w="714380"/>
              </a:tblGrid>
              <a:tr h="865644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564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564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564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564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564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564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au 42"/>
          <p:cNvGraphicFramePr>
            <a:graphicFrameLocks noGrp="1"/>
          </p:cNvGraphicFramePr>
          <p:nvPr/>
        </p:nvGraphicFramePr>
        <p:xfrm>
          <a:off x="8115312" y="2157394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6" name="Tableau 45"/>
          <p:cNvGraphicFramePr>
            <a:graphicFrameLocks noGrp="1"/>
          </p:cNvGraphicFramePr>
          <p:nvPr/>
        </p:nvGraphicFramePr>
        <p:xfrm>
          <a:off x="8901130" y="2157394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7" name="Tableau 46"/>
          <p:cNvGraphicFramePr>
            <a:graphicFrameLocks noGrp="1"/>
          </p:cNvGraphicFramePr>
          <p:nvPr/>
        </p:nvGraphicFramePr>
        <p:xfrm>
          <a:off x="9544072" y="2085956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8" name="Tableau 47"/>
          <p:cNvGraphicFramePr>
            <a:graphicFrameLocks noGrp="1"/>
          </p:cNvGraphicFramePr>
          <p:nvPr/>
        </p:nvGraphicFramePr>
        <p:xfrm>
          <a:off x="10329890" y="2157394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" name="Tableau 48"/>
          <p:cNvGraphicFramePr>
            <a:graphicFrameLocks noGrp="1"/>
          </p:cNvGraphicFramePr>
          <p:nvPr/>
        </p:nvGraphicFramePr>
        <p:xfrm>
          <a:off x="11044270" y="2085956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0" name="Tableau 49"/>
          <p:cNvGraphicFramePr>
            <a:graphicFrameLocks noGrp="1"/>
          </p:cNvGraphicFramePr>
          <p:nvPr/>
        </p:nvGraphicFramePr>
        <p:xfrm>
          <a:off x="8115312" y="3027370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1" name="Tableau 50"/>
          <p:cNvGraphicFramePr>
            <a:graphicFrameLocks noGrp="1"/>
          </p:cNvGraphicFramePr>
          <p:nvPr/>
        </p:nvGraphicFramePr>
        <p:xfrm>
          <a:off x="8829692" y="3027370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2" name="Tableau 51"/>
          <p:cNvGraphicFramePr>
            <a:graphicFrameLocks noGrp="1"/>
          </p:cNvGraphicFramePr>
          <p:nvPr/>
        </p:nvGraphicFramePr>
        <p:xfrm>
          <a:off x="9544072" y="3027370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au 52"/>
          <p:cNvGraphicFramePr>
            <a:graphicFrameLocks noGrp="1"/>
          </p:cNvGraphicFramePr>
          <p:nvPr/>
        </p:nvGraphicFramePr>
        <p:xfrm>
          <a:off x="10329890" y="3027370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4" name="Tableau 53"/>
          <p:cNvGraphicFramePr>
            <a:graphicFrameLocks noGrp="1"/>
          </p:cNvGraphicFramePr>
          <p:nvPr/>
        </p:nvGraphicFramePr>
        <p:xfrm>
          <a:off x="10972832" y="3014650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5" name="Tableau 54"/>
          <p:cNvGraphicFramePr>
            <a:graphicFrameLocks noGrp="1"/>
          </p:cNvGraphicFramePr>
          <p:nvPr/>
        </p:nvGraphicFramePr>
        <p:xfrm>
          <a:off x="8186750" y="3884626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6" name="Tableau 55"/>
          <p:cNvGraphicFramePr>
            <a:graphicFrameLocks noGrp="1"/>
          </p:cNvGraphicFramePr>
          <p:nvPr/>
        </p:nvGraphicFramePr>
        <p:xfrm>
          <a:off x="8901130" y="3813188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7" name="Tableau 56"/>
          <p:cNvGraphicFramePr>
            <a:graphicFrameLocks noGrp="1"/>
          </p:cNvGraphicFramePr>
          <p:nvPr/>
        </p:nvGraphicFramePr>
        <p:xfrm>
          <a:off x="9615510" y="3800468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Tableau 57"/>
          <p:cNvGraphicFramePr>
            <a:graphicFrameLocks noGrp="1"/>
          </p:cNvGraphicFramePr>
          <p:nvPr/>
        </p:nvGraphicFramePr>
        <p:xfrm>
          <a:off x="10258452" y="3800468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9" name="Tableau 58"/>
          <p:cNvGraphicFramePr>
            <a:graphicFrameLocks noGrp="1"/>
          </p:cNvGraphicFramePr>
          <p:nvPr/>
        </p:nvGraphicFramePr>
        <p:xfrm>
          <a:off x="11044270" y="3800468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Tableau 60"/>
          <p:cNvGraphicFramePr>
            <a:graphicFrameLocks noGrp="1"/>
          </p:cNvGraphicFramePr>
          <p:nvPr/>
        </p:nvGraphicFramePr>
        <p:xfrm>
          <a:off x="8186750" y="4741882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2" name="Tableau 61"/>
          <p:cNvGraphicFramePr>
            <a:graphicFrameLocks noGrp="1"/>
          </p:cNvGraphicFramePr>
          <p:nvPr/>
        </p:nvGraphicFramePr>
        <p:xfrm>
          <a:off x="8901130" y="4670444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3" name="Tableau 62"/>
          <p:cNvGraphicFramePr>
            <a:graphicFrameLocks noGrp="1"/>
          </p:cNvGraphicFramePr>
          <p:nvPr/>
        </p:nvGraphicFramePr>
        <p:xfrm>
          <a:off x="9615510" y="4657724"/>
          <a:ext cx="368617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17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4" name="Tableau 63"/>
          <p:cNvGraphicFramePr>
            <a:graphicFrameLocks noGrp="1"/>
          </p:cNvGraphicFramePr>
          <p:nvPr/>
        </p:nvGraphicFramePr>
        <p:xfrm>
          <a:off x="10258452" y="4657724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5" name="Tableau 64"/>
          <p:cNvGraphicFramePr>
            <a:graphicFrameLocks noGrp="1"/>
          </p:cNvGraphicFramePr>
          <p:nvPr/>
        </p:nvGraphicFramePr>
        <p:xfrm>
          <a:off x="11044270" y="4657724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6" name="Tableau 65"/>
          <p:cNvGraphicFramePr>
            <a:graphicFrameLocks noGrp="1"/>
          </p:cNvGraphicFramePr>
          <p:nvPr/>
        </p:nvGraphicFramePr>
        <p:xfrm>
          <a:off x="8186750" y="5670576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7" name="Tableau 66"/>
          <p:cNvGraphicFramePr>
            <a:graphicFrameLocks noGrp="1"/>
          </p:cNvGraphicFramePr>
          <p:nvPr/>
        </p:nvGraphicFramePr>
        <p:xfrm>
          <a:off x="8901130" y="5599138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8" name="Tableau 67"/>
          <p:cNvGraphicFramePr>
            <a:graphicFrameLocks noGrp="1"/>
          </p:cNvGraphicFramePr>
          <p:nvPr/>
        </p:nvGraphicFramePr>
        <p:xfrm>
          <a:off x="9615510" y="5586418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9" name="Tableau 68"/>
          <p:cNvGraphicFramePr>
            <a:graphicFrameLocks noGrp="1"/>
          </p:cNvGraphicFramePr>
          <p:nvPr/>
        </p:nvGraphicFramePr>
        <p:xfrm>
          <a:off x="10258452" y="5586418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0" name="Tableau 69"/>
          <p:cNvGraphicFramePr>
            <a:graphicFrameLocks noGrp="1"/>
          </p:cNvGraphicFramePr>
          <p:nvPr/>
        </p:nvGraphicFramePr>
        <p:xfrm>
          <a:off x="11044270" y="5586418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1" name="Tableau 70"/>
          <p:cNvGraphicFramePr>
            <a:graphicFrameLocks noGrp="1"/>
          </p:cNvGraphicFramePr>
          <p:nvPr/>
        </p:nvGraphicFramePr>
        <p:xfrm>
          <a:off x="8115312" y="6527832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2" name="Tableau 71"/>
          <p:cNvGraphicFramePr>
            <a:graphicFrameLocks noGrp="1"/>
          </p:cNvGraphicFramePr>
          <p:nvPr/>
        </p:nvGraphicFramePr>
        <p:xfrm>
          <a:off x="8829692" y="6456394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3" name="Tableau 72"/>
          <p:cNvGraphicFramePr>
            <a:graphicFrameLocks noGrp="1"/>
          </p:cNvGraphicFramePr>
          <p:nvPr/>
        </p:nvGraphicFramePr>
        <p:xfrm>
          <a:off x="9544072" y="6443674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4" name="Tableau 73"/>
          <p:cNvGraphicFramePr>
            <a:graphicFrameLocks noGrp="1"/>
          </p:cNvGraphicFramePr>
          <p:nvPr/>
        </p:nvGraphicFramePr>
        <p:xfrm>
          <a:off x="10187014" y="6443674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5" name="Tableau 74"/>
          <p:cNvGraphicFramePr>
            <a:graphicFrameLocks noGrp="1"/>
          </p:cNvGraphicFramePr>
          <p:nvPr/>
        </p:nvGraphicFramePr>
        <p:xfrm>
          <a:off x="10972832" y="6443674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6" name="Tableau 75"/>
          <p:cNvGraphicFramePr>
            <a:graphicFrameLocks noGrp="1"/>
          </p:cNvGraphicFramePr>
          <p:nvPr/>
        </p:nvGraphicFramePr>
        <p:xfrm>
          <a:off x="8186750" y="7385088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7" name="Tableau 76"/>
          <p:cNvGraphicFramePr>
            <a:graphicFrameLocks noGrp="1"/>
          </p:cNvGraphicFramePr>
          <p:nvPr/>
        </p:nvGraphicFramePr>
        <p:xfrm>
          <a:off x="8901130" y="7313650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8" name="Tableau 77"/>
          <p:cNvGraphicFramePr>
            <a:graphicFrameLocks noGrp="1"/>
          </p:cNvGraphicFramePr>
          <p:nvPr/>
        </p:nvGraphicFramePr>
        <p:xfrm>
          <a:off x="9615510" y="7300930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9" name="Tableau 78"/>
          <p:cNvGraphicFramePr>
            <a:graphicFrameLocks noGrp="1"/>
          </p:cNvGraphicFramePr>
          <p:nvPr/>
        </p:nvGraphicFramePr>
        <p:xfrm>
          <a:off x="10258452" y="7300930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0" name="Tableau 79"/>
          <p:cNvGraphicFramePr>
            <a:graphicFrameLocks noGrp="1"/>
          </p:cNvGraphicFramePr>
          <p:nvPr/>
        </p:nvGraphicFramePr>
        <p:xfrm>
          <a:off x="11044270" y="7300930"/>
          <a:ext cx="500066" cy="48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6"/>
              </a:tblGrid>
              <a:tr h="487346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1" name="Tableau 80"/>
          <p:cNvGraphicFramePr>
            <a:graphicFrameLocks noGrp="1"/>
          </p:cNvGraphicFramePr>
          <p:nvPr/>
        </p:nvGraphicFramePr>
        <p:xfrm>
          <a:off x="8043874" y="1943080"/>
          <a:ext cx="3571900" cy="6059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  <a:gridCol w="714380"/>
                <a:gridCol w="714380"/>
                <a:gridCol w="714380"/>
                <a:gridCol w="714380"/>
              </a:tblGrid>
              <a:tr h="865644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564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564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564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564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5644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564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82" name="ZoneTexte 81"/>
          <p:cNvSpPr txBox="1"/>
          <p:nvPr/>
        </p:nvSpPr>
        <p:spPr>
          <a:xfrm>
            <a:off x="3829032" y="8379849"/>
            <a:ext cx="3720307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Magnitude</a:t>
            </a:r>
            <a:endParaRPr lang="fr-FR" baseline="30000" dirty="0">
              <a:latin typeface="Roboto"/>
            </a:endParaRPr>
          </a:p>
        </p:txBody>
      </p:sp>
      <p:sp>
        <p:nvSpPr>
          <p:cNvPr id="83" name="ZoneTexte 82"/>
          <p:cNvSpPr txBox="1"/>
          <p:nvPr/>
        </p:nvSpPr>
        <p:spPr>
          <a:xfrm>
            <a:off x="7895467" y="8372500"/>
            <a:ext cx="3720307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smtClean="0">
                <a:latin typeface="Roboto"/>
              </a:rPr>
              <a:t>Gradients</a:t>
            </a:r>
            <a:endParaRPr lang="fr-FR" baseline="30000" dirty="0"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00932" y="2586022"/>
            <a:ext cx="2030222" cy="515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93681" y="3924295"/>
            <a:ext cx="364753" cy="590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715680" y="1"/>
            <a:ext cx="3085920" cy="51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28768" y="228568"/>
            <a:ext cx="5400699" cy="1333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riangle rectangle 4"/>
          <p:cNvSpPr/>
          <p:nvPr/>
        </p:nvSpPr>
        <p:spPr>
          <a:xfrm flipH="1">
            <a:off x="6949879" y="2441558"/>
            <a:ext cx="4215636" cy="2143140"/>
          </a:xfrm>
          <a:prstGeom prst="rtTriangle">
            <a:avLst/>
          </a:prstGeom>
          <a:noFill/>
          <a:ln w="571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c 5"/>
          <p:cNvSpPr/>
          <p:nvPr/>
        </p:nvSpPr>
        <p:spPr>
          <a:xfrm rot="312441">
            <a:off x="7558192" y="4156070"/>
            <a:ext cx="500066" cy="785818"/>
          </a:xfrm>
          <a:prstGeom prst="arc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avec flèche 11"/>
          <p:cNvCxnSpPr/>
          <p:nvPr/>
        </p:nvCxnSpPr>
        <p:spPr>
          <a:xfrm rot="5400000">
            <a:off x="10517939" y="3495470"/>
            <a:ext cx="2052000" cy="794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6949879" y="5013326"/>
            <a:ext cx="42480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0" y="8755949"/>
            <a:ext cx="119729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b="1" dirty="0" smtClean="0">
                <a:solidFill>
                  <a:schemeClr val="accent1"/>
                </a:solidFill>
                <a:latin typeface="Roboto"/>
              </a:rPr>
              <a:t>Pour calculer l’orientation (l’angle) des gradients il faut retrouver les relation trigonométriques </a:t>
            </a:r>
            <a:endParaRPr lang="fr-FR" b="1" dirty="0">
              <a:solidFill>
                <a:schemeClr val="accent1"/>
              </a:solidFill>
              <a:latin typeface="Roboto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1615774" y="3159114"/>
            <a:ext cx="107157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022375" y="5129216"/>
            <a:ext cx="1133481" cy="600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5" name="Connecteur droit avec flèche 24"/>
          <p:cNvCxnSpPr/>
          <p:nvPr/>
        </p:nvCxnSpPr>
        <p:spPr>
          <a:xfrm rot="10800000" flipV="1">
            <a:off x="6829428" y="2228832"/>
            <a:ext cx="4214842" cy="214314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57074" y="2228832"/>
            <a:ext cx="4857784" cy="563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6879" y="3011252"/>
            <a:ext cx="4713665" cy="50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2818" y="3806955"/>
            <a:ext cx="4083864" cy="700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114256" y="4507046"/>
            <a:ext cx="5648705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-28620" y="5721492"/>
            <a:ext cx="5857916" cy="1011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3" name="Connecteur droit 32"/>
          <p:cNvCxnSpPr/>
          <p:nvPr/>
        </p:nvCxnSpPr>
        <p:spPr>
          <a:xfrm rot="10800000" flipV="1">
            <a:off x="3971909" y="5729294"/>
            <a:ext cx="1285884" cy="50006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 rot="10800000" flipV="1">
            <a:off x="1828768" y="6229360"/>
            <a:ext cx="1285884" cy="50006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42818" y="7229492"/>
            <a:ext cx="2771341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2543148" y="7158054"/>
            <a:ext cx="5429288" cy="913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3016" y="1657328"/>
            <a:ext cx="3400442" cy="5717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14916" y="1728766"/>
            <a:ext cx="3742749" cy="5572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ZoneTexte 5"/>
          <p:cNvSpPr txBox="1"/>
          <p:nvPr/>
        </p:nvSpPr>
        <p:spPr>
          <a:xfrm>
            <a:off x="1771618" y="7586682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err="1" smtClean="0">
                <a:latin typeface="Roboto"/>
              </a:rPr>
              <a:t>Grad</a:t>
            </a:r>
            <a:r>
              <a:rPr lang="fr-FR" dirty="0" smtClean="0">
                <a:latin typeface="Roboto"/>
              </a:rPr>
              <a:t> X</a:t>
            </a:r>
            <a:endParaRPr lang="fr-FR" dirty="0">
              <a:latin typeface="Roboto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5414956" y="7594031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err="1" smtClean="0">
                <a:latin typeface="Roboto"/>
              </a:rPr>
              <a:t>Grad</a:t>
            </a:r>
            <a:r>
              <a:rPr lang="fr-FR" dirty="0" smtClean="0">
                <a:latin typeface="Roboto"/>
              </a:rPr>
              <a:t> Y</a:t>
            </a:r>
            <a:endParaRPr lang="fr-FR" dirty="0">
              <a:latin typeface="Roboto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28768" y="228568"/>
            <a:ext cx="5400699" cy="1333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ZoneTexte 8"/>
          <p:cNvSpPr txBox="1"/>
          <p:nvPr/>
        </p:nvSpPr>
        <p:spPr>
          <a:xfrm>
            <a:off x="42818" y="8807622"/>
            <a:ext cx="120015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accent1"/>
                </a:solidFill>
                <a:latin typeface="Roboto"/>
              </a:rPr>
              <a:t>On peut calculer l’orientation directement en utilisant la fonction </a:t>
            </a:r>
            <a:r>
              <a:rPr lang="fr-FR" sz="4000" b="1" dirty="0" err="1" smtClean="0">
                <a:solidFill>
                  <a:srgbClr val="FF0000"/>
                </a:solidFill>
                <a:latin typeface="Roboto"/>
              </a:rPr>
              <a:t>arctan</a:t>
            </a:r>
            <a:r>
              <a:rPr lang="fr-FR" sz="4000" b="1" dirty="0" smtClean="0">
                <a:solidFill>
                  <a:srgbClr val="FF0000"/>
                </a:solidFill>
                <a:latin typeface="Roboto"/>
              </a:rPr>
              <a:t> </a:t>
            </a:r>
            <a:endParaRPr lang="fr-FR" b="1" dirty="0">
              <a:solidFill>
                <a:srgbClr val="FF0000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3016" y="1657328"/>
            <a:ext cx="3400442" cy="5717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14916" y="1728766"/>
            <a:ext cx="3742749" cy="5572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ZoneTexte 5"/>
          <p:cNvSpPr txBox="1"/>
          <p:nvPr/>
        </p:nvSpPr>
        <p:spPr>
          <a:xfrm>
            <a:off x="1771618" y="7586682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err="1" smtClean="0">
                <a:latin typeface="Roboto"/>
              </a:rPr>
              <a:t>Grad</a:t>
            </a:r>
            <a:r>
              <a:rPr lang="fr-FR" dirty="0" smtClean="0">
                <a:latin typeface="Roboto"/>
              </a:rPr>
              <a:t> X</a:t>
            </a:r>
            <a:endParaRPr lang="fr-FR" dirty="0">
              <a:latin typeface="Roboto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5414956" y="7594031"/>
            <a:ext cx="3200422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err="1" smtClean="0">
                <a:latin typeface="Roboto"/>
              </a:rPr>
              <a:t>Grad</a:t>
            </a:r>
            <a:r>
              <a:rPr lang="fr-FR" dirty="0" smtClean="0">
                <a:latin typeface="Roboto"/>
              </a:rPr>
              <a:t> Y</a:t>
            </a:r>
            <a:endParaRPr lang="fr-FR" dirty="0">
              <a:latin typeface="Roboto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28768" y="228568"/>
            <a:ext cx="5400699" cy="1333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ZoneTexte 8"/>
          <p:cNvSpPr txBox="1"/>
          <p:nvPr/>
        </p:nvSpPr>
        <p:spPr>
          <a:xfrm>
            <a:off x="42818" y="8807622"/>
            <a:ext cx="12001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accent1"/>
                </a:solidFill>
                <a:latin typeface="Roboto"/>
              </a:rPr>
              <a:t>On peut  aussi le calculer sur un cercle trigonométrique!</a:t>
            </a:r>
            <a:endParaRPr lang="fr-FR" b="1" dirty="0">
              <a:solidFill>
                <a:srgbClr val="FF0000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01064" y="7515244"/>
            <a:ext cx="5810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7" name="Tableau 56"/>
          <p:cNvGraphicFramePr>
            <a:graphicFrameLocks noGrp="1"/>
          </p:cNvGraphicFramePr>
          <p:nvPr/>
        </p:nvGraphicFramePr>
        <p:xfrm>
          <a:off x="7192145" y="4014782"/>
          <a:ext cx="3000400" cy="4786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80"/>
                <a:gridCol w="600080"/>
                <a:gridCol w="600080"/>
                <a:gridCol w="600080"/>
                <a:gridCol w="600080"/>
              </a:tblGrid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fr-FR" sz="2400" b="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fr-FR" sz="2400" b="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fr-FR" sz="2400" b="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fr-FR" sz="2400" b="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fr-FR" sz="2400" b="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18" y="742923"/>
            <a:ext cx="4083864" cy="700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00932" y="942948"/>
            <a:ext cx="2030222" cy="515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093681" y="2281221"/>
            <a:ext cx="364753" cy="590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riangle rectangle 4"/>
          <p:cNvSpPr/>
          <p:nvPr/>
        </p:nvSpPr>
        <p:spPr>
          <a:xfrm flipH="1">
            <a:off x="6949879" y="798484"/>
            <a:ext cx="4215636" cy="2143140"/>
          </a:xfrm>
          <a:prstGeom prst="rtTriangle">
            <a:avLst/>
          </a:prstGeom>
          <a:noFill/>
          <a:ln w="571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c 5"/>
          <p:cNvSpPr/>
          <p:nvPr/>
        </p:nvSpPr>
        <p:spPr>
          <a:xfrm rot="312441">
            <a:off x="7558192" y="2512996"/>
            <a:ext cx="500066" cy="785818"/>
          </a:xfrm>
          <a:prstGeom prst="arc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avec flèche 6"/>
          <p:cNvCxnSpPr/>
          <p:nvPr/>
        </p:nvCxnSpPr>
        <p:spPr>
          <a:xfrm rot="5400000">
            <a:off x="10517939" y="1852396"/>
            <a:ext cx="2052000" cy="794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>
            <a:off x="6949879" y="3370252"/>
            <a:ext cx="42480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1615774" y="1516040"/>
            <a:ext cx="107157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Connecteur droit avec flèche 9"/>
          <p:cNvCxnSpPr/>
          <p:nvPr/>
        </p:nvCxnSpPr>
        <p:spPr>
          <a:xfrm rot="10800000" flipV="1">
            <a:off x="6829428" y="585758"/>
            <a:ext cx="4214842" cy="214314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-28620" y="1514452"/>
            <a:ext cx="4713665" cy="50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57132" y="3827782"/>
            <a:ext cx="3000396" cy="5044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ZoneTexte 14"/>
          <p:cNvSpPr txBox="1"/>
          <p:nvPr/>
        </p:nvSpPr>
        <p:spPr>
          <a:xfrm>
            <a:off x="257132" y="8967910"/>
            <a:ext cx="2823907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err="1" smtClean="0">
                <a:latin typeface="Roboto"/>
              </a:rPr>
              <a:t>Grad</a:t>
            </a:r>
            <a:r>
              <a:rPr lang="fr-FR" dirty="0" smtClean="0">
                <a:latin typeface="Roboto"/>
              </a:rPr>
              <a:t> X</a:t>
            </a:r>
            <a:endParaRPr lang="fr-FR" dirty="0">
              <a:latin typeface="Roboto"/>
            </a:endParaRPr>
          </a:p>
        </p:txBody>
      </p:sp>
      <p:graphicFrame>
        <p:nvGraphicFramePr>
          <p:cNvPr id="55" name="Tableau 54"/>
          <p:cNvGraphicFramePr>
            <a:graphicFrameLocks noGrp="1"/>
          </p:cNvGraphicFramePr>
          <p:nvPr/>
        </p:nvGraphicFramePr>
        <p:xfrm>
          <a:off x="3471838" y="4014782"/>
          <a:ext cx="3000400" cy="4786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80"/>
                <a:gridCol w="600080"/>
                <a:gridCol w="600080"/>
                <a:gridCol w="600080"/>
                <a:gridCol w="600080"/>
              </a:tblGrid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141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6" name="ZoneTexte 55"/>
          <p:cNvSpPr txBox="1"/>
          <p:nvPr/>
        </p:nvSpPr>
        <p:spPr>
          <a:xfrm>
            <a:off x="3109121" y="8944004"/>
            <a:ext cx="3720307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Magnitude</a:t>
            </a:r>
            <a:endParaRPr lang="fr-FR" baseline="30000" dirty="0">
              <a:latin typeface="Roboto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069855" y="8872566"/>
            <a:ext cx="1331341" cy="585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Tableau 56"/>
          <p:cNvGraphicFramePr>
            <a:graphicFrameLocks noGrp="1"/>
          </p:cNvGraphicFramePr>
          <p:nvPr/>
        </p:nvGraphicFramePr>
        <p:xfrm>
          <a:off x="7192145" y="4014782"/>
          <a:ext cx="3000400" cy="4786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80"/>
                <a:gridCol w="600080"/>
                <a:gridCol w="600080"/>
                <a:gridCol w="600080"/>
                <a:gridCol w="600080"/>
              </a:tblGrid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>
                          <a:solidFill>
                            <a:schemeClr val="accent6"/>
                          </a:solidFill>
                        </a:rPr>
                        <a:t>-1</a:t>
                      </a:r>
                      <a:endParaRPr lang="fr-FR" sz="2400" b="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>
                          <a:solidFill>
                            <a:schemeClr val="accent6"/>
                          </a:solidFill>
                        </a:rPr>
                        <a:t>-1</a:t>
                      </a:r>
                      <a:endParaRPr lang="fr-FR" sz="2400" b="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34405" y="7443806"/>
            <a:ext cx="46672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18" y="742923"/>
            <a:ext cx="4083864" cy="700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00932" y="942948"/>
            <a:ext cx="2030222" cy="515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093681" y="2281221"/>
            <a:ext cx="364753" cy="590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riangle rectangle 4"/>
          <p:cNvSpPr/>
          <p:nvPr/>
        </p:nvSpPr>
        <p:spPr>
          <a:xfrm flipH="1">
            <a:off x="6949879" y="798484"/>
            <a:ext cx="4215636" cy="2143140"/>
          </a:xfrm>
          <a:prstGeom prst="rtTriangle">
            <a:avLst/>
          </a:prstGeom>
          <a:noFill/>
          <a:ln w="571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c 5"/>
          <p:cNvSpPr/>
          <p:nvPr/>
        </p:nvSpPr>
        <p:spPr>
          <a:xfrm rot="312441">
            <a:off x="7558192" y="2512996"/>
            <a:ext cx="500066" cy="785818"/>
          </a:xfrm>
          <a:prstGeom prst="arc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avec flèche 6"/>
          <p:cNvCxnSpPr/>
          <p:nvPr/>
        </p:nvCxnSpPr>
        <p:spPr>
          <a:xfrm rot="5400000">
            <a:off x="10517939" y="1852396"/>
            <a:ext cx="2052000" cy="794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>
            <a:off x="6949879" y="3370252"/>
            <a:ext cx="42480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1615774" y="1516040"/>
            <a:ext cx="107157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Connecteur droit avec flèche 9"/>
          <p:cNvCxnSpPr/>
          <p:nvPr/>
        </p:nvCxnSpPr>
        <p:spPr>
          <a:xfrm rot="10800000" flipV="1">
            <a:off x="6829428" y="585758"/>
            <a:ext cx="4214842" cy="214314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1575" y="1443014"/>
            <a:ext cx="4857784" cy="563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ZoneTexte 14"/>
          <p:cNvSpPr txBox="1"/>
          <p:nvPr/>
        </p:nvSpPr>
        <p:spPr>
          <a:xfrm>
            <a:off x="257132" y="8967910"/>
            <a:ext cx="2823907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err="1" smtClean="0">
                <a:latin typeface="Roboto"/>
              </a:rPr>
              <a:t>Grad</a:t>
            </a:r>
            <a:r>
              <a:rPr lang="fr-FR" dirty="0" smtClean="0">
                <a:latin typeface="Roboto"/>
              </a:rPr>
              <a:t> Y</a:t>
            </a:r>
            <a:endParaRPr lang="fr-FR" dirty="0">
              <a:latin typeface="Roboto"/>
            </a:endParaRPr>
          </a:p>
        </p:txBody>
      </p:sp>
      <p:graphicFrame>
        <p:nvGraphicFramePr>
          <p:cNvPr id="55" name="Tableau 54"/>
          <p:cNvGraphicFramePr>
            <a:graphicFrameLocks noGrp="1"/>
          </p:cNvGraphicFramePr>
          <p:nvPr/>
        </p:nvGraphicFramePr>
        <p:xfrm>
          <a:off x="3471838" y="4014782"/>
          <a:ext cx="3000400" cy="4786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80"/>
                <a:gridCol w="600080"/>
                <a:gridCol w="600080"/>
                <a:gridCol w="600080"/>
                <a:gridCol w="600080"/>
              </a:tblGrid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141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3763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6" name="ZoneTexte 55"/>
          <p:cNvSpPr txBox="1"/>
          <p:nvPr/>
        </p:nvSpPr>
        <p:spPr>
          <a:xfrm>
            <a:off x="3109121" y="8944004"/>
            <a:ext cx="3720307" cy="492717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Magnitude</a:t>
            </a:r>
            <a:endParaRPr lang="fr-FR" baseline="30000" dirty="0">
              <a:latin typeface="Roboto"/>
            </a:endParaRPr>
          </a:p>
        </p:txBody>
      </p:sp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-28620" y="3943344"/>
            <a:ext cx="3310893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186750" y="8944004"/>
            <a:ext cx="1109668" cy="554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5826" y="4297617"/>
            <a:ext cx="357190" cy="502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57594" y="4333875"/>
            <a:ext cx="492092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ZoneTexte 2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85694" y="1657328"/>
          <a:ext cx="2286015" cy="3643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3"/>
                <a:gridCol w="457203"/>
                <a:gridCol w="457203"/>
                <a:gridCol w="457203"/>
                <a:gridCol w="457203"/>
              </a:tblGrid>
              <a:tr h="520476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476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476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476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476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476"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>
                          <a:solidFill>
                            <a:schemeClr val="accent6"/>
                          </a:solidFill>
                        </a:rPr>
                        <a:t>-1</a:t>
                      </a:r>
                      <a:endParaRPr lang="fr-FR" sz="2400" b="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>
                          <a:solidFill>
                            <a:schemeClr val="accent6"/>
                          </a:solidFill>
                        </a:rPr>
                        <a:t>-1</a:t>
                      </a:r>
                      <a:endParaRPr lang="fr-FR" sz="2400" b="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476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71512" y="5443542"/>
            <a:ext cx="714380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" name="Tableau 7"/>
          <p:cNvGraphicFramePr>
            <a:graphicFrameLocks noGrp="1"/>
          </p:cNvGraphicFramePr>
          <p:nvPr/>
        </p:nvGraphicFramePr>
        <p:xfrm>
          <a:off x="2757464" y="1671621"/>
          <a:ext cx="2428890" cy="362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778"/>
                <a:gridCol w="485778"/>
                <a:gridCol w="485778"/>
                <a:gridCol w="485778"/>
                <a:gridCol w="485778"/>
              </a:tblGrid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fr-FR" sz="2400" b="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fr-FR" sz="2400" b="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fr-FR" sz="2400" b="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fr-FR" sz="2400" b="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0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fr-FR" sz="2400" b="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69261" y="5443542"/>
            <a:ext cx="974151" cy="428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1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818" y="742923"/>
            <a:ext cx="4083864" cy="700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4" name="Groupe 23"/>
          <p:cNvGrpSpPr/>
          <p:nvPr/>
        </p:nvGrpSpPr>
        <p:grpSpPr>
          <a:xfrm>
            <a:off x="8729682" y="1020600"/>
            <a:ext cx="3924000" cy="3780000"/>
            <a:chOff x="8729682" y="1020600"/>
            <a:chExt cx="3924000" cy="3780000"/>
          </a:xfrm>
        </p:grpSpPr>
        <p:sp>
          <p:nvSpPr>
            <p:cNvPr id="12" name="Ellipse 11"/>
            <p:cNvSpPr/>
            <p:nvPr/>
          </p:nvSpPr>
          <p:spPr>
            <a:xfrm>
              <a:off x="9353622" y="1680341"/>
              <a:ext cx="2714644" cy="264320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4" name="Connecteur droit avec flèche 13"/>
            <p:cNvCxnSpPr/>
            <p:nvPr/>
          </p:nvCxnSpPr>
          <p:spPr>
            <a:xfrm>
              <a:off x="8729682" y="3037663"/>
              <a:ext cx="3924000" cy="7143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avec flèche 15"/>
            <p:cNvCxnSpPr/>
            <p:nvPr/>
          </p:nvCxnSpPr>
          <p:spPr>
            <a:xfrm rot="5400000" flipH="1" flipV="1">
              <a:off x="8785225" y="2874881"/>
              <a:ext cx="3780000" cy="7143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2230144" y="3300402"/>
            <a:ext cx="4572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0820437" y="1300138"/>
            <a:ext cx="4095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0" name="Tableau 19"/>
          <p:cNvGraphicFramePr>
            <a:graphicFrameLocks noGrp="1"/>
          </p:cNvGraphicFramePr>
          <p:nvPr/>
        </p:nvGraphicFramePr>
        <p:xfrm>
          <a:off x="5757858" y="1657328"/>
          <a:ext cx="2428890" cy="362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778"/>
                <a:gridCol w="485778"/>
                <a:gridCol w="485778"/>
                <a:gridCol w="485778"/>
                <a:gridCol w="485778"/>
              </a:tblGrid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758269" y="5424493"/>
            <a:ext cx="428347" cy="661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Rectangle 21"/>
          <p:cNvSpPr/>
          <p:nvPr/>
        </p:nvSpPr>
        <p:spPr>
          <a:xfrm>
            <a:off x="1114388" y="1657328"/>
            <a:ext cx="428628" cy="500066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/>
          <p:cNvSpPr/>
          <p:nvPr/>
        </p:nvSpPr>
        <p:spPr>
          <a:xfrm>
            <a:off x="3757594" y="1657328"/>
            <a:ext cx="428628" cy="500066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6" name="Connecteur droit avec flèche 25"/>
          <p:cNvCxnSpPr/>
          <p:nvPr/>
        </p:nvCxnSpPr>
        <p:spPr>
          <a:xfrm flipV="1">
            <a:off x="10687081" y="3086086"/>
            <a:ext cx="1428759" cy="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114388" y="2157394"/>
            <a:ext cx="428628" cy="500066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/>
          <p:cNvSpPr/>
          <p:nvPr/>
        </p:nvSpPr>
        <p:spPr>
          <a:xfrm>
            <a:off x="3757594" y="2157394"/>
            <a:ext cx="428628" cy="500066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7" name="Connecteur droit avec flèche 36"/>
          <p:cNvCxnSpPr/>
          <p:nvPr/>
        </p:nvCxnSpPr>
        <p:spPr>
          <a:xfrm flipV="1">
            <a:off x="10687080" y="3086088"/>
            <a:ext cx="1428759" cy="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114389" y="2728898"/>
            <a:ext cx="428628" cy="500066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/>
          <p:cNvSpPr/>
          <p:nvPr/>
        </p:nvSpPr>
        <p:spPr>
          <a:xfrm>
            <a:off x="3757595" y="2728898"/>
            <a:ext cx="428628" cy="500066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0" name="Connecteur droit avec flèche 39"/>
          <p:cNvCxnSpPr/>
          <p:nvPr/>
        </p:nvCxnSpPr>
        <p:spPr>
          <a:xfrm flipV="1">
            <a:off x="10687081" y="3086088"/>
            <a:ext cx="1428759" cy="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114388" y="3228964"/>
            <a:ext cx="428628" cy="500066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/>
          <p:cNvSpPr/>
          <p:nvPr/>
        </p:nvSpPr>
        <p:spPr>
          <a:xfrm>
            <a:off x="3757594" y="3228964"/>
            <a:ext cx="428628" cy="500066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3" name="Connecteur droit avec flèche 42"/>
          <p:cNvCxnSpPr/>
          <p:nvPr/>
        </p:nvCxnSpPr>
        <p:spPr>
          <a:xfrm flipV="1">
            <a:off x="10687080" y="3086088"/>
            <a:ext cx="1428759" cy="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114388" y="3729030"/>
            <a:ext cx="428628" cy="500066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/>
          <p:cNvSpPr/>
          <p:nvPr/>
        </p:nvSpPr>
        <p:spPr>
          <a:xfrm>
            <a:off x="3757594" y="3729030"/>
            <a:ext cx="428628" cy="500066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6" name="Connecteur droit avec flèche 45"/>
          <p:cNvCxnSpPr/>
          <p:nvPr/>
        </p:nvCxnSpPr>
        <p:spPr>
          <a:xfrm flipV="1">
            <a:off x="10687080" y="3086088"/>
            <a:ext cx="1428759" cy="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85694" y="4300534"/>
            <a:ext cx="428628" cy="500066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/>
          <p:cNvSpPr/>
          <p:nvPr/>
        </p:nvSpPr>
        <p:spPr>
          <a:xfrm>
            <a:off x="2828900" y="4300534"/>
            <a:ext cx="428628" cy="500066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Connecteur droit avec flèche 48"/>
          <p:cNvCxnSpPr/>
          <p:nvPr/>
        </p:nvCxnSpPr>
        <p:spPr>
          <a:xfrm rot="5400000" flipV="1">
            <a:off x="10039079" y="3734088"/>
            <a:ext cx="1296000" cy="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85760" y="4300533"/>
            <a:ext cx="428628" cy="500066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/>
          <p:cNvSpPr/>
          <p:nvPr/>
        </p:nvSpPr>
        <p:spPr>
          <a:xfrm>
            <a:off x="3328966" y="4300533"/>
            <a:ext cx="428628" cy="500066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2" name="Connecteur droit avec flèche 51"/>
          <p:cNvCxnSpPr/>
          <p:nvPr/>
        </p:nvCxnSpPr>
        <p:spPr>
          <a:xfrm rot="5400000" flipV="1">
            <a:off x="10039081" y="3734087"/>
            <a:ext cx="1296000" cy="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1114386" y="4300534"/>
            <a:ext cx="428628" cy="500066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 53"/>
          <p:cNvSpPr/>
          <p:nvPr/>
        </p:nvSpPr>
        <p:spPr>
          <a:xfrm>
            <a:off x="3757592" y="4300534"/>
            <a:ext cx="428628" cy="500066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5" name="Connecteur droit avec flèche 54"/>
          <p:cNvCxnSpPr>
            <a:endCxn id="12" idx="5"/>
          </p:cNvCxnSpPr>
          <p:nvPr/>
        </p:nvCxnSpPr>
        <p:spPr>
          <a:xfrm>
            <a:off x="10687081" y="3086087"/>
            <a:ext cx="983634" cy="850372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Tableau 57"/>
          <p:cNvGraphicFramePr>
            <a:graphicFrameLocks noGrp="1"/>
          </p:cNvGraphicFramePr>
          <p:nvPr/>
        </p:nvGraphicFramePr>
        <p:xfrm>
          <a:off x="5757860" y="1657328"/>
          <a:ext cx="2428890" cy="362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778"/>
                <a:gridCol w="485778"/>
                <a:gridCol w="485778"/>
                <a:gridCol w="485778"/>
                <a:gridCol w="485778"/>
              </a:tblGrid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-90</a:t>
                      </a:r>
                      <a:endParaRPr lang="fr-FR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0" name="Tableau 59"/>
          <p:cNvGraphicFramePr>
            <a:graphicFrameLocks noGrp="1"/>
          </p:cNvGraphicFramePr>
          <p:nvPr/>
        </p:nvGraphicFramePr>
        <p:xfrm>
          <a:off x="5757858" y="1657328"/>
          <a:ext cx="2428890" cy="362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778"/>
                <a:gridCol w="485778"/>
                <a:gridCol w="485778"/>
                <a:gridCol w="485778"/>
                <a:gridCol w="485778"/>
              </a:tblGrid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-90</a:t>
                      </a:r>
                      <a:endParaRPr lang="fr-FR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-90</a:t>
                      </a:r>
                      <a:endParaRPr lang="fr-FR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Tableau 60"/>
          <p:cNvGraphicFramePr>
            <a:graphicFrameLocks noGrp="1"/>
          </p:cNvGraphicFramePr>
          <p:nvPr/>
        </p:nvGraphicFramePr>
        <p:xfrm>
          <a:off x="5757858" y="1657328"/>
          <a:ext cx="2428890" cy="362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778"/>
                <a:gridCol w="485778"/>
                <a:gridCol w="485778"/>
                <a:gridCol w="485778"/>
                <a:gridCol w="485778"/>
              </a:tblGrid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-90</a:t>
                      </a:r>
                      <a:endParaRPr lang="fr-FR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-90</a:t>
                      </a:r>
                      <a:endParaRPr lang="fr-FR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>
                          <a:solidFill>
                            <a:srgbClr val="FF0000"/>
                          </a:solidFill>
                        </a:rPr>
                        <a:t>-45</a:t>
                      </a:r>
                      <a:endParaRPr lang="fr-FR" sz="1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4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3" grpId="0" animBg="1"/>
      <p:bldP spid="23" grpId="1" animBg="1"/>
      <p:bldP spid="35" grpId="0" animBg="1"/>
      <p:bldP spid="36" grpId="0" animBg="1"/>
      <p:bldP spid="38" grpId="0" animBg="1"/>
      <p:bldP spid="39" grpId="0" animBg="1"/>
      <p:bldP spid="41" grpId="0" animBg="1"/>
      <p:bldP spid="42" grpId="0" animBg="1"/>
      <p:bldP spid="44" grpId="0" animBg="1"/>
      <p:bldP spid="45" grpId="0" animBg="1"/>
      <p:bldP spid="47" grpId="0" animBg="1"/>
      <p:bldP spid="48" grpId="0" animBg="1"/>
      <p:bldP spid="50" grpId="0" animBg="1"/>
      <p:bldP spid="51" grpId="0" animBg="1"/>
      <p:bldP spid="53" grpId="0" animBg="1"/>
      <p:bldP spid="5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1: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graphicFrame>
        <p:nvGraphicFramePr>
          <p:cNvPr id="20" name="Tableau 19"/>
          <p:cNvGraphicFramePr>
            <a:graphicFrameLocks noGrp="1"/>
          </p:cNvGraphicFramePr>
          <p:nvPr/>
        </p:nvGraphicFramePr>
        <p:xfrm>
          <a:off x="685761" y="1300135"/>
          <a:ext cx="2928955" cy="4168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91"/>
                <a:gridCol w="585791"/>
                <a:gridCol w="585791"/>
                <a:gridCol w="585791"/>
                <a:gridCol w="585791"/>
              </a:tblGrid>
              <a:tr h="567018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018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018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018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018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6735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rgbClr val="FF0000"/>
                          </a:solidFill>
                        </a:rPr>
                        <a:t>-90</a:t>
                      </a:r>
                      <a:endParaRPr lang="fr-FR" sz="20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rgbClr val="FF0000"/>
                          </a:solidFill>
                        </a:rPr>
                        <a:t>-90</a:t>
                      </a:r>
                      <a:endParaRPr lang="fr-FR" sz="20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rgbClr val="FF0000"/>
                          </a:solidFill>
                        </a:rPr>
                        <a:t>-45</a:t>
                      </a:r>
                      <a:endParaRPr lang="fr-FR" sz="20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018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768" y="5710245"/>
            <a:ext cx="428347" cy="661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71907" y="1228700"/>
            <a:ext cx="3135251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8" name="Connecteur droit avec flèche 67"/>
          <p:cNvCxnSpPr/>
          <p:nvPr/>
        </p:nvCxnSpPr>
        <p:spPr>
          <a:xfrm>
            <a:off x="5472106" y="1514452"/>
            <a:ext cx="857256" cy="15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avec flèche 68"/>
          <p:cNvCxnSpPr/>
          <p:nvPr/>
        </p:nvCxnSpPr>
        <p:spPr>
          <a:xfrm>
            <a:off x="5472106" y="2155806"/>
            <a:ext cx="857256" cy="15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/>
          <p:cNvCxnSpPr/>
          <p:nvPr/>
        </p:nvCxnSpPr>
        <p:spPr>
          <a:xfrm>
            <a:off x="5472106" y="2727310"/>
            <a:ext cx="857256" cy="15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/>
          <p:cNvCxnSpPr/>
          <p:nvPr/>
        </p:nvCxnSpPr>
        <p:spPr>
          <a:xfrm>
            <a:off x="5472106" y="3300402"/>
            <a:ext cx="857256" cy="15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avec flèche 71"/>
          <p:cNvCxnSpPr/>
          <p:nvPr/>
        </p:nvCxnSpPr>
        <p:spPr>
          <a:xfrm>
            <a:off x="5472106" y="3870318"/>
            <a:ext cx="857256" cy="15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avec flèche 72"/>
          <p:cNvCxnSpPr/>
          <p:nvPr/>
        </p:nvCxnSpPr>
        <p:spPr>
          <a:xfrm>
            <a:off x="5543544" y="4514848"/>
            <a:ext cx="642942" cy="50006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/>
          <p:cNvCxnSpPr/>
          <p:nvPr/>
        </p:nvCxnSpPr>
        <p:spPr>
          <a:xfrm rot="5400000">
            <a:off x="4467808" y="4812702"/>
            <a:ext cx="864000" cy="15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77"/>
          <p:cNvCxnSpPr/>
          <p:nvPr/>
        </p:nvCxnSpPr>
        <p:spPr>
          <a:xfrm rot="5400000">
            <a:off x="3753428" y="4803178"/>
            <a:ext cx="864000" cy="15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85657" y="1800204"/>
            <a:ext cx="5187373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9" name="ZoneTexte 78"/>
          <p:cNvSpPr txBox="1"/>
          <p:nvPr/>
        </p:nvSpPr>
        <p:spPr>
          <a:xfrm>
            <a:off x="4043346" y="5767695"/>
            <a:ext cx="2714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Magnitude</a:t>
            </a:r>
            <a:endParaRPr lang="fr-FR" dirty="0">
              <a:latin typeface="Roboto"/>
            </a:endParaRPr>
          </a:p>
        </p:txBody>
      </p:sp>
      <p:sp>
        <p:nvSpPr>
          <p:cNvPr id="80" name="ZoneTexte 79"/>
          <p:cNvSpPr txBox="1"/>
          <p:nvPr/>
        </p:nvSpPr>
        <p:spPr>
          <a:xfrm>
            <a:off x="8401064" y="5729294"/>
            <a:ext cx="3429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Calcul avec </a:t>
            </a:r>
            <a:r>
              <a:rPr lang="fr-FR" dirty="0" err="1" smtClean="0">
                <a:latin typeface="Roboto"/>
              </a:rPr>
              <a:t>numpy</a:t>
            </a:r>
            <a:endParaRPr lang="fr-FR" dirty="0"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47845" y="0"/>
            <a:ext cx="10553755" cy="571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ZoneTexte 3"/>
          <p:cNvSpPr txBox="1"/>
          <p:nvPr/>
        </p:nvSpPr>
        <p:spPr>
          <a:xfrm>
            <a:off x="328570" y="942948"/>
            <a:ext cx="117158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3200" b="1" dirty="0" smtClean="0">
                <a:solidFill>
                  <a:srgbClr val="4F81BD"/>
                </a:solidFill>
                <a:latin typeface="Roboto"/>
              </a:rPr>
              <a:t>Le </a:t>
            </a:r>
            <a:r>
              <a:rPr lang="fr-FR" sz="3200" b="1" dirty="0" err="1" smtClean="0">
                <a:solidFill>
                  <a:srgbClr val="4F81BD"/>
                </a:solidFill>
                <a:latin typeface="Roboto"/>
              </a:rPr>
              <a:t>Laplacien</a:t>
            </a:r>
            <a:r>
              <a:rPr lang="fr-FR" sz="3200" b="1" dirty="0" smtClean="0">
                <a:solidFill>
                  <a:srgbClr val="4F81BD"/>
                </a:solidFill>
                <a:latin typeface="Roboto"/>
              </a:rPr>
              <a:t> est la calcul de la somme des dérivées secondes sur un pixel sur les deux axes. </a:t>
            </a:r>
            <a:endParaRPr lang="fr-FR" sz="3200" b="1" dirty="0">
              <a:solidFill>
                <a:srgbClr val="4F81BD"/>
              </a:solidFill>
              <a:latin typeface="Roboto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43610" y="2514584"/>
            <a:ext cx="5183720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49869" y="4300534"/>
            <a:ext cx="5008715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57858" y="6229360"/>
            <a:ext cx="5715041" cy="1428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069317" y="7729558"/>
            <a:ext cx="2188739" cy="7143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34511" y="2728898"/>
            <a:ext cx="3766025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85892" y="0"/>
            <a:ext cx="11115708" cy="495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679" y="2871774"/>
            <a:ext cx="6827155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43742" y="3157526"/>
            <a:ext cx="5763473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ZoneTexte 7"/>
          <p:cNvSpPr txBox="1"/>
          <p:nvPr/>
        </p:nvSpPr>
        <p:spPr>
          <a:xfrm>
            <a:off x="6686552" y="8113007"/>
            <a:ext cx="6072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 smtClean="0">
                <a:latin typeface="Roboto"/>
              </a:rPr>
              <a:t>Dérivée seconde (dérivée de la dérivée)</a:t>
            </a:r>
          </a:p>
          <a:p>
            <a:pPr algn="just"/>
            <a:r>
              <a:rPr lang="fr-FR" dirty="0" smtClean="0">
                <a:latin typeface="Roboto"/>
              </a:rPr>
              <a:t>-&gt; nécessaire d’avoir au moins 3 pixels</a:t>
            </a:r>
            <a:endParaRPr lang="fr-FR" dirty="0">
              <a:latin typeface="Roboto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8472502" y="3729030"/>
            <a:ext cx="64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Roboto"/>
              </a:rPr>
              <a:t>A</a:t>
            </a:r>
            <a:endParaRPr lang="fr-FR" sz="36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9829824" y="3729030"/>
            <a:ext cx="64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Roboto"/>
              </a:rPr>
              <a:t>B</a:t>
            </a:r>
            <a:endParaRPr lang="fr-FR" sz="36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1115708" y="3729030"/>
            <a:ext cx="64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Roboto"/>
              </a:rPr>
              <a:t>C</a:t>
            </a:r>
            <a:endParaRPr lang="fr-FR" sz="36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1115708" y="5086352"/>
            <a:ext cx="64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Roboto"/>
              </a:rPr>
              <a:t>F</a:t>
            </a:r>
            <a:endParaRPr lang="fr-FR" sz="36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11115708" y="6511723"/>
            <a:ext cx="64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Roboto"/>
              </a:rPr>
              <a:t>I</a:t>
            </a:r>
            <a:endParaRPr lang="fr-FR" sz="36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9829824" y="5082963"/>
            <a:ext cx="64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Roboto"/>
              </a:rPr>
              <a:t>E</a:t>
            </a:r>
            <a:endParaRPr lang="fr-FR" sz="36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9829824" y="6511723"/>
            <a:ext cx="64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Roboto"/>
              </a:rPr>
              <a:t>H</a:t>
            </a:r>
            <a:endParaRPr lang="fr-FR" sz="36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8472502" y="5086352"/>
            <a:ext cx="64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Roboto"/>
              </a:rPr>
              <a:t>D</a:t>
            </a:r>
            <a:endParaRPr lang="fr-FR" sz="36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8472502" y="6511723"/>
            <a:ext cx="64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Roboto"/>
              </a:rPr>
              <a:t>G</a:t>
            </a:r>
            <a:endParaRPr lang="fr-FR" sz="3600" b="1" dirty="0">
              <a:solidFill>
                <a:srgbClr val="FF0000"/>
              </a:solidFill>
              <a:latin typeface="Roboto"/>
            </a:endParaRPr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32" y="1514452"/>
            <a:ext cx="8822060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4443410"/>
            <a:ext cx="4300380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257660" y="4537073"/>
            <a:ext cx="2453014" cy="10493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21" name="Tableau 20"/>
          <p:cNvGraphicFramePr>
            <a:graphicFrameLocks noGrp="1"/>
          </p:cNvGraphicFramePr>
          <p:nvPr/>
        </p:nvGraphicFramePr>
        <p:xfrm>
          <a:off x="1400141" y="6300798"/>
          <a:ext cx="3214710" cy="2143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570"/>
                <a:gridCol w="1071570"/>
                <a:gridCol w="1071570"/>
              </a:tblGrid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ZoneTexte 21"/>
          <p:cNvSpPr txBox="1"/>
          <p:nvPr/>
        </p:nvSpPr>
        <p:spPr>
          <a:xfrm>
            <a:off x="1471578" y="8521870"/>
            <a:ext cx="30003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smtClean="0">
                <a:latin typeface="Roboto"/>
              </a:rPr>
              <a:t>Filtre dérivée seconde partiel horizontal </a:t>
            </a:r>
            <a:endParaRPr lang="fr-FR" sz="2000" dirty="0"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85892" y="0"/>
            <a:ext cx="11115708" cy="495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43742" y="3157526"/>
            <a:ext cx="5763473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ZoneTexte 8"/>
          <p:cNvSpPr txBox="1"/>
          <p:nvPr/>
        </p:nvSpPr>
        <p:spPr>
          <a:xfrm>
            <a:off x="8472502" y="3729030"/>
            <a:ext cx="64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Roboto"/>
              </a:rPr>
              <a:t>A</a:t>
            </a:r>
            <a:endParaRPr lang="fr-FR" sz="36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9829824" y="3729030"/>
            <a:ext cx="64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Roboto"/>
              </a:rPr>
              <a:t>B</a:t>
            </a:r>
            <a:endParaRPr lang="fr-FR" sz="36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1115708" y="3729030"/>
            <a:ext cx="64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Roboto"/>
              </a:rPr>
              <a:t>C</a:t>
            </a:r>
            <a:endParaRPr lang="fr-FR" sz="36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1115708" y="5086352"/>
            <a:ext cx="64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Roboto"/>
              </a:rPr>
              <a:t>F</a:t>
            </a:r>
            <a:endParaRPr lang="fr-FR" sz="36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11115708" y="6511723"/>
            <a:ext cx="64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Roboto"/>
              </a:rPr>
              <a:t>I</a:t>
            </a:r>
            <a:endParaRPr lang="fr-FR" sz="36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9829824" y="5082963"/>
            <a:ext cx="64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Roboto"/>
              </a:rPr>
              <a:t>E</a:t>
            </a:r>
            <a:endParaRPr lang="fr-FR" sz="36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9829824" y="6511723"/>
            <a:ext cx="64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Roboto"/>
              </a:rPr>
              <a:t>H</a:t>
            </a:r>
            <a:endParaRPr lang="fr-FR" sz="36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8472502" y="5086352"/>
            <a:ext cx="64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Roboto"/>
              </a:rPr>
              <a:t>D</a:t>
            </a:r>
            <a:endParaRPr lang="fr-FR" sz="36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8472502" y="6511723"/>
            <a:ext cx="64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Roboto"/>
              </a:rPr>
              <a:t>G</a:t>
            </a:r>
            <a:endParaRPr lang="fr-FR" sz="3600" b="1" dirty="0">
              <a:solidFill>
                <a:srgbClr val="FF0000"/>
              </a:solidFill>
              <a:latin typeface="Roboto"/>
            </a:endParaRPr>
          </a:p>
        </p:txBody>
      </p:sp>
      <p:graphicFrame>
        <p:nvGraphicFramePr>
          <p:cNvPr id="21" name="Tableau 20"/>
          <p:cNvGraphicFramePr>
            <a:graphicFrameLocks noGrp="1"/>
          </p:cNvGraphicFramePr>
          <p:nvPr/>
        </p:nvGraphicFramePr>
        <p:xfrm>
          <a:off x="1400141" y="5943608"/>
          <a:ext cx="3214710" cy="2143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570"/>
                <a:gridCol w="1071570"/>
                <a:gridCol w="1071570"/>
              </a:tblGrid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ZoneTexte 21"/>
          <p:cNvSpPr txBox="1"/>
          <p:nvPr/>
        </p:nvSpPr>
        <p:spPr>
          <a:xfrm>
            <a:off x="1471578" y="8164680"/>
            <a:ext cx="30003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smtClean="0">
                <a:latin typeface="Roboto"/>
              </a:rPr>
              <a:t>Filtre dérivée seconde partiel vertical</a:t>
            </a:r>
            <a:endParaRPr lang="fr-FR" sz="2000" dirty="0">
              <a:latin typeface="Roboto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18" y="1371576"/>
            <a:ext cx="9523813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2728898"/>
            <a:ext cx="4900602" cy="1181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00074" y="4086220"/>
            <a:ext cx="3696567" cy="9286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400008" y="3657592"/>
          <a:ext cx="3214710" cy="2143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570"/>
                <a:gridCol w="1071570"/>
                <a:gridCol w="1071570"/>
              </a:tblGrid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471445" y="5878664"/>
            <a:ext cx="30003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smtClean="0">
                <a:latin typeface="Roboto"/>
              </a:rPr>
              <a:t>Filtre dérivée seconde partiel horizontal </a:t>
            </a:r>
            <a:endParaRPr lang="fr-FR" sz="2000" dirty="0">
              <a:latin typeface="Roboto"/>
            </a:endParaRPr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4471974" y="3657592"/>
          <a:ext cx="3214710" cy="2143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570"/>
                <a:gridCol w="1071570"/>
                <a:gridCol w="1071570"/>
              </a:tblGrid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ZoneTexte 5"/>
          <p:cNvSpPr txBox="1"/>
          <p:nvPr/>
        </p:nvSpPr>
        <p:spPr>
          <a:xfrm>
            <a:off x="4543411" y="5878664"/>
            <a:ext cx="30003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smtClean="0">
                <a:latin typeface="Roboto"/>
              </a:rPr>
              <a:t>Filtre dérivée seconde partiel vertical</a:t>
            </a:r>
            <a:endParaRPr lang="fr-FR" sz="2000" dirty="0">
              <a:latin typeface="Roboto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00470" y="4514848"/>
            <a:ext cx="428628" cy="551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8570" y="1157262"/>
            <a:ext cx="3766025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8615378" y="3657592"/>
          <a:ext cx="3214710" cy="2143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570"/>
                <a:gridCol w="1071570"/>
                <a:gridCol w="1071570"/>
              </a:tblGrid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905762" y="4586286"/>
            <a:ext cx="638178" cy="484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ZoneTexte 10"/>
          <p:cNvSpPr txBox="1"/>
          <p:nvPr/>
        </p:nvSpPr>
        <p:spPr>
          <a:xfrm>
            <a:off x="8686816" y="5878664"/>
            <a:ext cx="3000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smtClean="0">
                <a:latin typeface="Roboto"/>
              </a:rPr>
              <a:t>Filtre </a:t>
            </a:r>
            <a:r>
              <a:rPr lang="fr-FR" sz="2000" dirty="0" err="1" smtClean="0">
                <a:latin typeface="Roboto"/>
              </a:rPr>
              <a:t>Laplacien</a:t>
            </a:r>
            <a:endParaRPr lang="fr-FR" sz="2000" dirty="0">
              <a:latin typeface="Roboto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42818" y="8930733"/>
            <a:ext cx="12758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3200" dirty="0" smtClean="0">
                <a:solidFill>
                  <a:schemeClr val="accent1"/>
                </a:solidFill>
                <a:latin typeface="Roboto"/>
              </a:rPr>
              <a:t>Appliquer le filtre </a:t>
            </a:r>
            <a:r>
              <a:rPr lang="fr-FR" sz="3200" dirty="0" err="1" smtClean="0">
                <a:solidFill>
                  <a:schemeClr val="accent1"/>
                </a:solidFill>
                <a:latin typeface="Roboto"/>
              </a:rPr>
              <a:t>Laplacien</a:t>
            </a:r>
            <a:r>
              <a:rPr lang="fr-FR" sz="3200" dirty="0" smtClean="0">
                <a:solidFill>
                  <a:schemeClr val="accent1"/>
                </a:solidFill>
                <a:latin typeface="Roboto"/>
              </a:rPr>
              <a:t> revient à appliquer une convolution</a:t>
            </a:r>
            <a:endParaRPr lang="fr-FR" sz="3200" dirty="0">
              <a:solidFill>
                <a:schemeClr val="accent1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3062294" y="1241416"/>
          <a:ext cx="4481514" cy="6988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919"/>
                <a:gridCol w="746919"/>
                <a:gridCol w="746919"/>
                <a:gridCol w="746919"/>
                <a:gridCol w="746919"/>
                <a:gridCol w="746919"/>
              </a:tblGrid>
              <a:tr h="873526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/>
                        <a:t>50</a:t>
                      </a:r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 smtClean="0"/>
                        <a:t>150</a:t>
                      </a:r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  <a:tr h="873526"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8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185694" y="1300139"/>
          <a:ext cx="2428893" cy="1950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631"/>
                <a:gridCol w="809631"/>
                <a:gridCol w="809631"/>
              </a:tblGrid>
              <a:tr h="65028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028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028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ZoneTexte 4"/>
          <p:cNvSpPr txBox="1"/>
          <p:nvPr/>
        </p:nvSpPr>
        <p:spPr>
          <a:xfrm>
            <a:off x="257132" y="3364818"/>
            <a:ext cx="22669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 smtClean="0">
                <a:latin typeface="Roboto"/>
              </a:rPr>
              <a:t>Filtre </a:t>
            </a:r>
            <a:r>
              <a:rPr lang="fr-FR" sz="2000" dirty="0" err="1" smtClean="0">
                <a:latin typeface="Roboto"/>
              </a:rPr>
              <a:t>Laplacien</a:t>
            </a:r>
            <a:endParaRPr lang="fr-FR" sz="2000" dirty="0">
              <a:latin typeface="Roboto"/>
            </a:endParaRPr>
          </a:p>
        </p:txBody>
      </p:sp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3043213" y="1300139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8115312" y="1614876"/>
          <a:ext cx="3130552" cy="582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638"/>
                <a:gridCol w="782638"/>
                <a:gridCol w="782638"/>
                <a:gridCol w="782638"/>
              </a:tblGrid>
              <a:tr h="971488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1488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1488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1488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1488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1488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/>
        </p:nvGraphicFramePr>
        <p:xfrm>
          <a:off x="8186750" y="180020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3757594" y="1300139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8972568" y="180020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au 10"/>
          <p:cNvGraphicFramePr>
            <a:graphicFrameLocks noGrp="1"/>
          </p:cNvGraphicFramePr>
          <p:nvPr/>
        </p:nvGraphicFramePr>
        <p:xfrm>
          <a:off x="4543412" y="1300139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9758386" y="1800204"/>
          <a:ext cx="64294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-100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Tableau 12"/>
          <p:cNvGraphicFramePr>
            <a:graphicFrameLocks noGrp="1"/>
          </p:cNvGraphicFramePr>
          <p:nvPr/>
        </p:nvGraphicFramePr>
        <p:xfrm>
          <a:off x="5257792" y="1300139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au 13"/>
          <p:cNvGraphicFramePr>
            <a:graphicFrameLocks noGrp="1"/>
          </p:cNvGraphicFramePr>
          <p:nvPr/>
        </p:nvGraphicFramePr>
        <p:xfrm>
          <a:off x="10472766" y="180020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Tableau 14"/>
          <p:cNvGraphicFramePr>
            <a:graphicFrameLocks noGrp="1"/>
          </p:cNvGraphicFramePr>
          <p:nvPr/>
        </p:nvGraphicFramePr>
        <p:xfrm>
          <a:off x="3043214" y="2157395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au 15"/>
          <p:cNvGraphicFramePr>
            <a:graphicFrameLocks noGrp="1"/>
          </p:cNvGraphicFramePr>
          <p:nvPr/>
        </p:nvGraphicFramePr>
        <p:xfrm>
          <a:off x="8258188" y="265746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Tableau 16"/>
          <p:cNvGraphicFramePr>
            <a:graphicFrameLocks noGrp="1"/>
          </p:cNvGraphicFramePr>
          <p:nvPr/>
        </p:nvGraphicFramePr>
        <p:xfrm>
          <a:off x="3757594" y="2157394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Tableau 17"/>
          <p:cNvGraphicFramePr>
            <a:graphicFrameLocks noGrp="1"/>
          </p:cNvGraphicFramePr>
          <p:nvPr/>
        </p:nvGraphicFramePr>
        <p:xfrm>
          <a:off x="8972568" y="2657459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Tableau 18"/>
          <p:cNvGraphicFramePr>
            <a:graphicFrameLocks noGrp="1"/>
          </p:cNvGraphicFramePr>
          <p:nvPr/>
        </p:nvGraphicFramePr>
        <p:xfrm>
          <a:off x="4543412" y="2157395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Tableau 19"/>
          <p:cNvGraphicFramePr>
            <a:graphicFrameLocks noGrp="1"/>
          </p:cNvGraphicFramePr>
          <p:nvPr/>
        </p:nvGraphicFramePr>
        <p:xfrm>
          <a:off x="9758386" y="2657460"/>
          <a:ext cx="64294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-100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1" name="Tableau 20"/>
          <p:cNvGraphicFramePr>
            <a:graphicFrameLocks noGrp="1"/>
          </p:cNvGraphicFramePr>
          <p:nvPr/>
        </p:nvGraphicFramePr>
        <p:xfrm>
          <a:off x="5329230" y="2157395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" name="Tableau 21"/>
          <p:cNvGraphicFramePr>
            <a:graphicFrameLocks noGrp="1"/>
          </p:cNvGraphicFramePr>
          <p:nvPr/>
        </p:nvGraphicFramePr>
        <p:xfrm>
          <a:off x="10544204" y="265746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3" name="Tableau 22"/>
          <p:cNvGraphicFramePr>
            <a:graphicFrameLocks noGrp="1"/>
          </p:cNvGraphicFramePr>
          <p:nvPr/>
        </p:nvGraphicFramePr>
        <p:xfrm>
          <a:off x="2971776" y="3014650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Tableau 23"/>
          <p:cNvGraphicFramePr>
            <a:graphicFrameLocks noGrp="1"/>
          </p:cNvGraphicFramePr>
          <p:nvPr/>
        </p:nvGraphicFramePr>
        <p:xfrm>
          <a:off x="8186750" y="374175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Tableau 24"/>
          <p:cNvGraphicFramePr>
            <a:graphicFrameLocks noGrp="1"/>
          </p:cNvGraphicFramePr>
          <p:nvPr/>
        </p:nvGraphicFramePr>
        <p:xfrm>
          <a:off x="3757594" y="3014650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6" name="Tableau 25"/>
          <p:cNvGraphicFramePr>
            <a:graphicFrameLocks noGrp="1"/>
          </p:cNvGraphicFramePr>
          <p:nvPr/>
        </p:nvGraphicFramePr>
        <p:xfrm>
          <a:off x="8972568" y="367031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7" name="Tableau 26"/>
          <p:cNvGraphicFramePr>
            <a:graphicFrameLocks noGrp="1"/>
          </p:cNvGraphicFramePr>
          <p:nvPr/>
        </p:nvGraphicFramePr>
        <p:xfrm>
          <a:off x="4543412" y="3014650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8" name="Tableau 27"/>
          <p:cNvGraphicFramePr>
            <a:graphicFrameLocks noGrp="1"/>
          </p:cNvGraphicFramePr>
          <p:nvPr/>
        </p:nvGraphicFramePr>
        <p:xfrm>
          <a:off x="9758386" y="3514715"/>
          <a:ext cx="64294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-100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Tableau 28"/>
          <p:cNvGraphicFramePr>
            <a:graphicFrameLocks noGrp="1"/>
          </p:cNvGraphicFramePr>
          <p:nvPr/>
        </p:nvGraphicFramePr>
        <p:xfrm>
          <a:off x="5257792" y="3014651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0" name="Tableau 29"/>
          <p:cNvGraphicFramePr>
            <a:graphicFrameLocks noGrp="1"/>
          </p:cNvGraphicFramePr>
          <p:nvPr/>
        </p:nvGraphicFramePr>
        <p:xfrm>
          <a:off x="10472766" y="351471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1" name="Tableau 30"/>
          <p:cNvGraphicFramePr>
            <a:graphicFrameLocks noGrp="1"/>
          </p:cNvGraphicFramePr>
          <p:nvPr/>
        </p:nvGraphicFramePr>
        <p:xfrm>
          <a:off x="3043214" y="3943345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Tableau 31"/>
          <p:cNvGraphicFramePr>
            <a:graphicFrameLocks noGrp="1"/>
          </p:cNvGraphicFramePr>
          <p:nvPr/>
        </p:nvGraphicFramePr>
        <p:xfrm>
          <a:off x="8258188" y="474188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3" name="Tableau 32"/>
          <p:cNvGraphicFramePr>
            <a:graphicFrameLocks noGrp="1"/>
          </p:cNvGraphicFramePr>
          <p:nvPr/>
        </p:nvGraphicFramePr>
        <p:xfrm>
          <a:off x="3829032" y="3943345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4" name="Tableau 33"/>
          <p:cNvGraphicFramePr>
            <a:graphicFrameLocks noGrp="1"/>
          </p:cNvGraphicFramePr>
          <p:nvPr/>
        </p:nvGraphicFramePr>
        <p:xfrm>
          <a:off x="9044006" y="474188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5" name="Tableau 34"/>
          <p:cNvGraphicFramePr>
            <a:graphicFrameLocks noGrp="1"/>
          </p:cNvGraphicFramePr>
          <p:nvPr/>
        </p:nvGraphicFramePr>
        <p:xfrm>
          <a:off x="4543412" y="3943344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6" name="Tableau 35"/>
          <p:cNvGraphicFramePr>
            <a:graphicFrameLocks noGrp="1"/>
          </p:cNvGraphicFramePr>
          <p:nvPr/>
        </p:nvGraphicFramePr>
        <p:xfrm>
          <a:off x="9758386" y="4443409"/>
          <a:ext cx="64294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-100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7" name="Tableau 36"/>
          <p:cNvGraphicFramePr>
            <a:graphicFrameLocks noGrp="1"/>
          </p:cNvGraphicFramePr>
          <p:nvPr/>
        </p:nvGraphicFramePr>
        <p:xfrm>
          <a:off x="5257792" y="3943344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8" name="Tableau 37"/>
          <p:cNvGraphicFramePr>
            <a:graphicFrameLocks noGrp="1"/>
          </p:cNvGraphicFramePr>
          <p:nvPr/>
        </p:nvGraphicFramePr>
        <p:xfrm>
          <a:off x="10472766" y="474188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9" name="Tableau 38"/>
          <p:cNvGraphicFramePr>
            <a:graphicFrameLocks noGrp="1"/>
          </p:cNvGraphicFramePr>
          <p:nvPr/>
        </p:nvGraphicFramePr>
        <p:xfrm>
          <a:off x="3043214" y="4729162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0" name="Tableau 39"/>
          <p:cNvGraphicFramePr>
            <a:graphicFrameLocks noGrp="1"/>
          </p:cNvGraphicFramePr>
          <p:nvPr/>
        </p:nvGraphicFramePr>
        <p:xfrm>
          <a:off x="8258188" y="574201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1" name="Tableau 40"/>
          <p:cNvGraphicFramePr>
            <a:graphicFrameLocks noGrp="1"/>
          </p:cNvGraphicFramePr>
          <p:nvPr/>
        </p:nvGraphicFramePr>
        <p:xfrm>
          <a:off x="3829032" y="4729162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2" name="Tableau 41"/>
          <p:cNvGraphicFramePr>
            <a:graphicFrameLocks noGrp="1"/>
          </p:cNvGraphicFramePr>
          <p:nvPr/>
        </p:nvGraphicFramePr>
        <p:xfrm>
          <a:off x="9044006" y="574201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3" name="Tableau 42"/>
          <p:cNvGraphicFramePr>
            <a:graphicFrameLocks noGrp="1"/>
          </p:cNvGraphicFramePr>
          <p:nvPr/>
        </p:nvGraphicFramePr>
        <p:xfrm>
          <a:off x="4614850" y="4729162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4" name="Tableau 43"/>
          <p:cNvGraphicFramePr>
            <a:graphicFrameLocks noGrp="1"/>
          </p:cNvGraphicFramePr>
          <p:nvPr/>
        </p:nvGraphicFramePr>
        <p:xfrm>
          <a:off x="9829824" y="5528320"/>
          <a:ext cx="64294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-100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5" name="Tableau 44"/>
          <p:cNvGraphicFramePr>
            <a:graphicFrameLocks noGrp="1"/>
          </p:cNvGraphicFramePr>
          <p:nvPr/>
        </p:nvGraphicFramePr>
        <p:xfrm>
          <a:off x="5257792" y="4729162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6" name="Tableau 45"/>
          <p:cNvGraphicFramePr>
            <a:graphicFrameLocks noGrp="1"/>
          </p:cNvGraphicFramePr>
          <p:nvPr/>
        </p:nvGraphicFramePr>
        <p:xfrm>
          <a:off x="10472766" y="559975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7" name="Tableau 46"/>
          <p:cNvGraphicFramePr>
            <a:graphicFrameLocks noGrp="1"/>
          </p:cNvGraphicFramePr>
          <p:nvPr/>
        </p:nvGraphicFramePr>
        <p:xfrm>
          <a:off x="3043214" y="5657857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8" name="Tableau 47"/>
          <p:cNvGraphicFramePr>
            <a:graphicFrameLocks noGrp="1"/>
          </p:cNvGraphicFramePr>
          <p:nvPr/>
        </p:nvGraphicFramePr>
        <p:xfrm>
          <a:off x="8258188" y="6528452"/>
          <a:ext cx="64294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-100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9" name="Tableau 48"/>
          <p:cNvGraphicFramePr>
            <a:graphicFrameLocks noGrp="1"/>
          </p:cNvGraphicFramePr>
          <p:nvPr/>
        </p:nvGraphicFramePr>
        <p:xfrm>
          <a:off x="3829032" y="5657857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0" name="Tableau 49"/>
          <p:cNvGraphicFramePr>
            <a:graphicFrameLocks noGrp="1"/>
          </p:cNvGraphicFramePr>
          <p:nvPr/>
        </p:nvGraphicFramePr>
        <p:xfrm>
          <a:off x="9044006" y="6528452"/>
          <a:ext cx="64294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-100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1" name="Tableau 50"/>
          <p:cNvGraphicFramePr>
            <a:graphicFrameLocks noGrp="1"/>
          </p:cNvGraphicFramePr>
          <p:nvPr/>
        </p:nvGraphicFramePr>
        <p:xfrm>
          <a:off x="4614850" y="5586418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2" name="Tableau 51"/>
          <p:cNvGraphicFramePr>
            <a:graphicFrameLocks noGrp="1"/>
          </p:cNvGraphicFramePr>
          <p:nvPr/>
        </p:nvGraphicFramePr>
        <p:xfrm>
          <a:off x="9829824" y="652845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au 52"/>
          <p:cNvGraphicFramePr>
            <a:graphicFrameLocks noGrp="1"/>
          </p:cNvGraphicFramePr>
          <p:nvPr/>
        </p:nvGraphicFramePr>
        <p:xfrm>
          <a:off x="5329230" y="5657857"/>
          <a:ext cx="2286015" cy="2500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5"/>
                <a:gridCol w="762005"/>
                <a:gridCol w="762005"/>
              </a:tblGrid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443"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4" name="Tableau 53"/>
          <p:cNvGraphicFramePr>
            <a:graphicFrameLocks noGrp="1"/>
          </p:cNvGraphicFramePr>
          <p:nvPr/>
        </p:nvGraphicFramePr>
        <p:xfrm>
          <a:off x="10544204" y="652845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5" name="ZoneTexte 54"/>
          <p:cNvSpPr txBox="1"/>
          <p:nvPr/>
        </p:nvSpPr>
        <p:spPr>
          <a:xfrm>
            <a:off x="0" y="8658253"/>
            <a:ext cx="12801600" cy="857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b="1" dirty="0" smtClean="0">
                <a:solidFill>
                  <a:schemeClr val="accent1"/>
                </a:solidFill>
                <a:latin typeface="Roboto"/>
              </a:rPr>
              <a:t>Dans le filtre </a:t>
            </a:r>
            <a:r>
              <a:rPr lang="fr-FR" b="1" dirty="0" err="1" smtClean="0">
                <a:solidFill>
                  <a:schemeClr val="accent1"/>
                </a:solidFill>
                <a:latin typeface="Roboto"/>
              </a:rPr>
              <a:t>Laplacien</a:t>
            </a:r>
            <a:r>
              <a:rPr lang="fr-FR" b="1" dirty="0" smtClean="0">
                <a:solidFill>
                  <a:schemeClr val="accent1"/>
                </a:solidFill>
                <a:latin typeface="Roboto"/>
              </a:rPr>
              <a:t> les </a:t>
            </a:r>
            <a:r>
              <a:rPr lang="fr-FR" b="1" dirty="0" err="1" smtClean="0">
                <a:solidFill>
                  <a:schemeClr val="accent1"/>
                </a:solidFill>
                <a:latin typeface="Roboto"/>
              </a:rPr>
              <a:t>edges</a:t>
            </a:r>
            <a:r>
              <a:rPr lang="fr-FR" b="1" dirty="0" smtClean="0">
                <a:solidFill>
                  <a:schemeClr val="accent1"/>
                </a:solidFill>
                <a:latin typeface="Roboto"/>
              </a:rPr>
              <a:t> sont représentées par les « </a:t>
            </a:r>
            <a:r>
              <a:rPr lang="fr-FR" b="1" dirty="0" err="1" smtClean="0">
                <a:solidFill>
                  <a:schemeClr val="accent1"/>
                </a:solidFill>
                <a:latin typeface="Roboto"/>
              </a:rPr>
              <a:t>zero</a:t>
            </a:r>
            <a:r>
              <a:rPr lang="fr-FR" b="1" dirty="0" smtClean="0">
                <a:solidFill>
                  <a:schemeClr val="accent1"/>
                </a:solidFill>
                <a:latin typeface="Roboto"/>
              </a:rPr>
              <a:t> </a:t>
            </a:r>
            <a:r>
              <a:rPr lang="fr-FR" b="1" dirty="0" err="1" smtClean="0">
                <a:solidFill>
                  <a:schemeClr val="accent1"/>
                </a:solidFill>
                <a:latin typeface="Roboto"/>
              </a:rPr>
              <a:t>crossings</a:t>
            </a:r>
            <a:r>
              <a:rPr lang="fr-FR" b="1" dirty="0" smtClean="0">
                <a:solidFill>
                  <a:schemeClr val="accent1"/>
                </a:solidFill>
                <a:latin typeface="Roboto"/>
              </a:rPr>
              <a:t> » en d’autres termes les passage des gradients positifs au négatifs (et inversement)</a:t>
            </a:r>
            <a:endParaRPr lang="fr-FR" b="1" dirty="0">
              <a:solidFill>
                <a:schemeClr val="accent1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8686816" y="1672974"/>
          <a:ext cx="3130552" cy="582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638"/>
                <a:gridCol w="782638"/>
                <a:gridCol w="782638"/>
                <a:gridCol w="782638"/>
              </a:tblGrid>
              <a:tr h="971488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1488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1488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1488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1488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1488"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/>
        </p:nvGraphicFramePr>
        <p:xfrm>
          <a:off x="8758254" y="185830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9544072" y="185830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10329890" y="1858302"/>
          <a:ext cx="64294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-100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au 13"/>
          <p:cNvGraphicFramePr>
            <a:graphicFrameLocks noGrp="1"/>
          </p:cNvGraphicFramePr>
          <p:nvPr/>
        </p:nvGraphicFramePr>
        <p:xfrm>
          <a:off x="11044270" y="185830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au 15"/>
          <p:cNvGraphicFramePr>
            <a:graphicFrameLocks noGrp="1"/>
          </p:cNvGraphicFramePr>
          <p:nvPr/>
        </p:nvGraphicFramePr>
        <p:xfrm>
          <a:off x="8829692" y="271555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Tableau 17"/>
          <p:cNvGraphicFramePr>
            <a:graphicFrameLocks noGrp="1"/>
          </p:cNvGraphicFramePr>
          <p:nvPr/>
        </p:nvGraphicFramePr>
        <p:xfrm>
          <a:off x="9544072" y="2715557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Tableau 19"/>
          <p:cNvGraphicFramePr>
            <a:graphicFrameLocks noGrp="1"/>
          </p:cNvGraphicFramePr>
          <p:nvPr/>
        </p:nvGraphicFramePr>
        <p:xfrm>
          <a:off x="10329890" y="2715558"/>
          <a:ext cx="64294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-100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2" name="Tableau 21"/>
          <p:cNvGraphicFramePr>
            <a:graphicFrameLocks noGrp="1"/>
          </p:cNvGraphicFramePr>
          <p:nvPr/>
        </p:nvGraphicFramePr>
        <p:xfrm>
          <a:off x="11115708" y="271555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Tableau 23"/>
          <p:cNvGraphicFramePr>
            <a:graphicFrameLocks noGrp="1"/>
          </p:cNvGraphicFramePr>
          <p:nvPr/>
        </p:nvGraphicFramePr>
        <p:xfrm>
          <a:off x="8758254" y="3799848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6" name="Tableau 25"/>
          <p:cNvGraphicFramePr>
            <a:graphicFrameLocks noGrp="1"/>
          </p:cNvGraphicFramePr>
          <p:nvPr/>
        </p:nvGraphicFramePr>
        <p:xfrm>
          <a:off x="9544072" y="372841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8" name="Tableau 27"/>
          <p:cNvGraphicFramePr>
            <a:graphicFrameLocks noGrp="1"/>
          </p:cNvGraphicFramePr>
          <p:nvPr/>
        </p:nvGraphicFramePr>
        <p:xfrm>
          <a:off x="10329890" y="3572813"/>
          <a:ext cx="64294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-100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0" name="Tableau 29"/>
          <p:cNvGraphicFramePr>
            <a:graphicFrameLocks noGrp="1"/>
          </p:cNvGraphicFramePr>
          <p:nvPr/>
        </p:nvGraphicFramePr>
        <p:xfrm>
          <a:off x="11044270" y="3572814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Tableau 31"/>
          <p:cNvGraphicFramePr>
            <a:graphicFrameLocks noGrp="1"/>
          </p:cNvGraphicFramePr>
          <p:nvPr/>
        </p:nvGraphicFramePr>
        <p:xfrm>
          <a:off x="8829692" y="479998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4" name="Tableau 33"/>
          <p:cNvGraphicFramePr>
            <a:graphicFrameLocks noGrp="1"/>
          </p:cNvGraphicFramePr>
          <p:nvPr/>
        </p:nvGraphicFramePr>
        <p:xfrm>
          <a:off x="9615510" y="479998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6" name="Tableau 35"/>
          <p:cNvGraphicFramePr>
            <a:graphicFrameLocks noGrp="1"/>
          </p:cNvGraphicFramePr>
          <p:nvPr/>
        </p:nvGraphicFramePr>
        <p:xfrm>
          <a:off x="10329890" y="4501507"/>
          <a:ext cx="64294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-100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38" name="Tableau 37"/>
          <p:cNvGraphicFramePr>
            <a:graphicFrameLocks noGrp="1"/>
          </p:cNvGraphicFramePr>
          <p:nvPr/>
        </p:nvGraphicFramePr>
        <p:xfrm>
          <a:off x="11044270" y="479998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0" name="Tableau 39"/>
          <p:cNvGraphicFramePr>
            <a:graphicFrameLocks noGrp="1"/>
          </p:cNvGraphicFramePr>
          <p:nvPr/>
        </p:nvGraphicFramePr>
        <p:xfrm>
          <a:off x="8829692" y="580011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2" name="Tableau 41"/>
          <p:cNvGraphicFramePr>
            <a:graphicFrameLocks noGrp="1"/>
          </p:cNvGraphicFramePr>
          <p:nvPr/>
        </p:nvGraphicFramePr>
        <p:xfrm>
          <a:off x="9615510" y="5800112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4" name="Tableau 43"/>
          <p:cNvGraphicFramePr>
            <a:graphicFrameLocks noGrp="1"/>
          </p:cNvGraphicFramePr>
          <p:nvPr/>
        </p:nvGraphicFramePr>
        <p:xfrm>
          <a:off x="10401328" y="5586418"/>
          <a:ext cx="64294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-100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6" name="Tableau 45"/>
          <p:cNvGraphicFramePr>
            <a:graphicFrameLocks noGrp="1"/>
          </p:cNvGraphicFramePr>
          <p:nvPr/>
        </p:nvGraphicFramePr>
        <p:xfrm>
          <a:off x="11044270" y="5657856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8" name="Tableau 47"/>
          <p:cNvGraphicFramePr>
            <a:graphicFrameLocks noGrp="1"/>
          </p:cNvGraphicFramePr>
          <p:nvPr/>
        </p:nvGraphicFramePr>
        <p:xfrm>
          <a:off x="8829692" y="6586550"/>
          <a:ext cx="64294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-100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0" name="Tableau 49"/>
          <p:cNvGraphicFramePr>
            <a:graphicFrameLocks noGrp="1"/>
          </p:cNvGraphicFramePr>
          <p:nvPr/>
        </p:nvGraphicFramePr>
        <p:xfrm>
          <a:off x="9615510" y="6586550"/>
          <a:ext cx="64294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-100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2" name="Tableau 51"/>
          <p:cNvGraphicFramePr>
            <a:graphicFrameLocks noGrp="1"/>
          </p:cNvGraphicFramePr>
          <p:nvPr/>
        </p:nvGraphicFramePr>
        <p:xfrm>
          <a:off x="10401328" y="658655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4" name="Tableau 53"/>
          <p:cNvGraphicFramePr>
            <a:graphicFrameLocks noGrp="1"/>
          </p:cNvGraphicFramePr>
          <p:nvPr/>
        </p:nvGraphicFramePr>
        <p:xfrm>
          <a:off x="11115708" y="6586550"/>
          <a:ext cx="642942" cy="63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/>
              </a:tblGrid>
              <a:tr h="630222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fr-FR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6" name="ZoneTexte 55"/>
          <p:cNvSpPr txBox="1"/>
          <p:nvPr/>
        </p:nvSpPr>
        <p:spPr>
          <a:xfrm>
            <a:off x="900074" y="2206524"/>
            <a:ext cx="692948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800" b="1" dirty="0" smtClean="0">
                <a:solidFill>
                  <a:schemeClr val="accent1"/>
                </a:solidFill>
                <a:latin typeface="Roboto"/>
              </a:rPr>
              <a:t>Pour afficher les gradients deux solutions: </a:t>
            </a:r>
          </a:p>
          <a:p>
            <a:pPr algn="just"/>
            <a:endParaRPr lang="fr-FR" sz="2800" b="1" dirty="0" smtClean="0">
              <a:solidFill>
                <a:schemeClr val="accent1"/>
              </a:solidFill>
              <a:latin typeface="Roboto"/>
            </a:endParaRPr>
          </a:p>
          <a:p>
            <a:pPr marL="457200" indent="-457200" algn="just">
              <a:buAutoNum type="arabicPeriod"/>
            </a:pPr>
            <a:r>
              <a:rPr lang="fr-FR" sz="2800" b="1" dirty="0" smtClean="0">
                <a:solidFill>
                  <a:schemeClr val="accent1"/>
                </a:solidFill>
                <a:latin typeface="Roboto"/>
              </a:rPr>
              <a:t>Normaliser l’image entre 0 et 255</a:t>
            </a:r>
          </a:p>
          <a:p>
            <a:pPr marL="457200" indent="-457200" algn="just">
              <a:buAutoNum type="arabicPeriod"/>
            </a:pPr>
            <a:endParaRPr lang="fr-FR" sz="2800" b="1" dirty="0" smtClean="0">
              <a:solidFill>
                <a:schemeClr val="accent1"/>
              </a:solidFill>
              <a:latin typeface="Roboto"/>
            </a:endParaRPr>
          </a:p>
          <a:p>
            <a:pPr algn="just"/>
            <a:r>
              <a:rPr lang="fr-FR" sz="2800" b="1" dirty="0" smtClean="0">
                <a:solidFill>
                  <a:schemeClr val="accent1"/>
                </a:solidFill>
                <a:latin typeface="Roboto"/>
              </a:rPr>
              <a:t>2.   Eliminer les valeurs </a:t>
            </a:r>
            <a:r>
              <a:rPr lang="fr-FR" sz="2800" b="1" dirty="0" err="1" smtClean="0">
                <a:solidFill>
                  <a:schemeClr val="accent1"/>
                </a:solidFill>
                <a:latin typeface="Roboto"/>
              </a:rPr>
              <a:t>Laplaciennes</a:t>
            </a:r>
            <a:r>
              <a:rPr lang="fr-FR" sz="2800" b="1" dirty="0" smtClean="0">
                <a:solidFill>
                  <a:schemeClr val="accent1"/>
                </a:solidFill>
                <a:latin typeface="Roboto"/>
              </a:rPr>
              <a:t> négatives</a:t>
            </a:r>
            <a:endParaRPr lang="fr-FR" sz="2800" b="1" dirty="0">
              <a:solidFill>
                <a:schemeClr val="accent1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3082" y="109300"/>
            <a:ext cx="10720507" cy="547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4322" y="1943080"/>
            <a:ext cx="5972172" cy="3451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29428" y="3014650"/>
            <a:ext cx="4857784" cy="1443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328702" y="5514980"/>
            <a:ext cx="10144196" cy="3532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ZoneTexte 6"/>
          <p:cNvSpPr txBox="1"/>
          <p:nvPr/>
        </p:nvSpPr>
        <p:spPr>
          <a:xfrm>
            <a:off x="0" y="871510"/>
            <a:ext cx="1280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/>
                </a:solidFill>
                <a:latin typeface="Roboto"/>
              </a:rPr>
              <a:t>La fonction </a:t>
            </a:r>
            <a:r>
              <a:rPr lang="fr-FR" b="1" u="sng" dirty="0" smtClean="0">
                <a:solidFill>
                  <a:srgbClr val="FF0000"/>
                </a:solidFill>
                <a:latin typeface="Roboto"/>
              </a:rPr>
              <a:t>convolve2D</a:t>
            </a:r>
            <a:r>
              <a:rPr lang="fr-FR" b="1" dirty="0" smtClean="0">
                <a:solidFill>
                  <a:schemeClr val="accent1"/>
                </a:solidFill>
                <a:latin typeface="Roboto"/>
              </a:rPr>
              <a:t> d’</a:t>
            </a:r>
            <a:r>
              <a:rPr lang="fr-FR" b="1" dirty="0" err="1" smtClean="0">
                <a:solidFill>
                  <a:schemeClr val="accent1"/>
                </a:solidFill>
                <a:latin typeface="Roboto"/>
              </a:rPr>
              <a:t>OpenCV</a:t>
            </a:r>
            <a:r>
              <a:rPr lang="fr-FR" b="1" dirty="0" smtClean="0">
                <a:solidFill>
                  <a:schemeClr val="accent1"/>
                </a:solidFill>
                <a:latin typeface="Roboto"/>
              </a:rPr>
              <a:t> conserve les gradients négatifs (pour afficher les gradients il faut appliquer une normalisation</a:t>
            </a:r>
            <a:endParaRPr lang="fr-FR" b="1" dirty="0">
              <a:solidFill>
                <a:schemeClr val="accent1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2: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3082" y="109300"/>
            <a:ext cx="10720507" cy="547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008" y="2063322"/>
            <a:ext cx="5972172" cy="3451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57198" y="5657856"/>
            <a:ext cx="4857784" cy="1443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ZoneTexte 6"/>
          <p:cNvSpPr txBox="1"/>
          <p:nvPr/>
        </p:nvSpPr>
        <p:spPr>
          <a:xfrm>
            <a:off x="0" y="871510"/>
            <a:ext cx="1280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/>
                </a:solidFill>
                <a:latin typeface="Roboto"/>
              </a:rPr>
              <a:t>La fonction </a:t>
            </a:r>
            <a:r>
              <a:rPr lang="fr-FR" b="1" u="sng" dirty="0" smtClean="0">
                <a:solidFill>
                  <a:srgbClr val="FF0000"/>
                </a:solidFill>
                <a:latin typeface="Roboto"/>
              </a:rPr>
              <a:t>filter2D </a:t>
            </a:r>
            <a:r>
              <a:rPr lang="fr-FR" b="1" dirty="0" smtClean="0">
                <a:solidFill>
                  <a:schemeClr val="accent1"/>
                </a:solidFill>
                <a:latin typeface="Roboto"/>
              </a:rPr>
              <a:t>d’</a:t>
            </a:r>
            <a:r>
              <a:rPr lang="fr-FR" b="1" dirty="0" err="1" smtClean="0">
                <a:solidFill>
                  <a:schemeClr val="accent1"/>
                </a:solidFill>
                <a:latin typeface="Roboto"/>
              </a:rPr>
              <a:t>OpenCV</a:t>
            </a:r>
            <a:r>
              <a:rPr lang="fr-FR" b="1" dirty="0" smtClean="0">
                <a:solidFill>
                  <a:schemeClr val="accent1"/>
                </a:solidFill>
                <a:latin typeface="Roboto"/>
              </a:rPr>
              <a:t> conserve uniquement les valeurs positives des gradients</a:t>
            </a:r>
            <a:endParaRPr lang="fr-FR" b="1" dirty="0">
              <a:solidFill>
                <a:schemeClr val="accent1"/>
              </a:solidFill>
              <a:latin typeface="Roboto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29362" y="2085956"/>
            <a:ext cx="6268684" cy="5014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</a:t>
            </a:r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3: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0074" y="1800204"/>
            <a:ext cx="10388437" cy="6072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ZoneTexte 9"/>
          <p:cNvSpPr txBox="1"/>
          <p:nvPr/>
        </p:nvSpPr>
        <p:spPr>
          <a:xfrm>
            <a:off x="0" y="657196"/>
            <a:ext cx="5900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Roboto"/>
              </a:rPr>
              <a:t>Rappel du cours</a:t>
            </a:r>
            <a:endParaRPr lang="fr-FR" sz="3200" b="1" dirty="0">
              <a:solidFill>
                <a:srgbClr val="FF0000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</a:t>
            </a:r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3: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2950" y="1657328"/>
            <a:ext cx="10682473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ZoneTexte 5"/>
          <p:cNvSpPr txBox="1"/>
          <p:nvPr/>
        </p:nvSpPr>
        <p:spPr>
          <a:xfrm>
            <a:off x="0" y="657196"/>
            <a:ext cx="5900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Roboto"/>
              </a:rPr>
              <a:t>Rappel du cours</a:t>
            </a:r>
            <a:endParaRPr lang="fr-FR" sz="3200" b="1" dirty="0">
              <a:solidFill>
                <a:srgbClr val="FF0000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</a:t>
            </a:r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3: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2950" y="1657328"/>
            <a:ext cx="10559021" cy="6072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0" y="657196"/>
            <a:ext cx="5900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Roboto"/>
              </a:rPr>
              <a:t>Rappel du cours</a:t>
            </a:r>
            <a:endParaRPr lang="fr-FR" sz="3200" b="1" dirty="0">
              <a:solidFill>
                <a:srgbClr val="FF0000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</a:t>
            </a:r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3: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3280" y="585758"/>
            <a:ext cx="8286808" cy="2974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56" y="4054982"/>
            <a:ext cx="7429552" cy="74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5694" y="5514980"/>
            <a:ext cx="4643470" cy="901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7132" y="6443674"/>
            <a:ext cx="5310560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14256" y="7515244"/>
            <a:ext cx="5280314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186618" y="5229228"/>
            <a:ext cx="4481990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615114" y="7190359"/>
            <a:ext cx="5286412" cy="13250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ZoneTexte 10"/>
          <p:cNvSpPr txBox="1"/>
          <p:nvPr/>
        </p:nvSpPr>
        <p:spPr>
          <a:xfrm>
            <a:off x="0" y="657196"/>
            <a:ext cx="5900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Roboto"/>
              </a:rPr>
              <a:t>Rappel du cours</a:t>
            </a:r>
            <a:endParaRPr lang="fr-FR" sz="3200" b="1" dirty="0">
              <a:solidFill>
                <a:srgbClr val="FF0000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</a:t>
            </a:r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3: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570" y="1085824"/>
            <a:ext cx="5857916" cy="1847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2066" y="3014650"/>
            <a:ext cx="5355792" cy="1562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86486" y="1157262"/>
            <a:ext cx="6450669" cy="2566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972304" y="4157658"/>
            <a:ext cx="5065814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57132" y="5372104"/>
            <a:ext cx="5886089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Flèche vers le bas 7"/>
          <p:cNvSpPr/>
          <p:nvPr/>
        </p:nvSpPr>
        <p:spPr>
          <a:xfrm>
            <a:off x="2900338" y="4657724"/>
            <a:ext cx="500066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57132" y="7943872"/>
            <a:ext cx="5347026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57131" y="6536308"/>
            <a:ext cx="5938879" cy="978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ZoneTexte 10"/>
          <p:cNvSpPr txBox="1"/>
          <p:nvPr/>
        </p:nvSpPr>
        <p:spPr>
          <a:xfrm>
            <a:off x="0" y="585758"/>
            <a:ext cx="5900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Roboto"/>
              </a:rPr>
              <a:t>Rappel du cours</a:t>
            </a:r>
            <a:endParaRPr lang="fr-FR" sz="3200" b="1" dirty="0">
              <a:solidFill>
                <a:srgbClr val="FF0000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</a:t>
            </a:r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3: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29297" y="585758"/>
            <a:ext cx="6858047" cy="768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56" y="1443014"/>
            <a:ext cx="11930146" cy="71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4256" y="2586022"/>
            <a:ext cx="11314662" cy="1395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ZoneTexte 5"/>
          <p:cNvSpPr txBox="1"/>
          <p:nvPr/>
        </p:nvSpPr>
        <p:spPr>
          <a:xfrm>
            <a:off x="5614982" y="4014782"/>
            <a:ext cx="714380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Low"/>
            <a:r>
              <a:rPr lang="fr-FR" b="1" dirty="0" smtClean="0">
                <a:solidFill>
                  <a:srgbClr val="FF0000"/>
                </a:solidFill>
                <a:latin typeface="Roboto"/>
              </a:rPr>
              <a:t>Le but obtenir des gradients dans les deux axes</a:t>
            </a:r>
            <a:endParaRPr lang="fr-FR" b="1" dirty="0">
              <a:solidFill>
                <a:srgbClr val="FF0000"/>
              </a:solidFill>
              <a:latin typeface="Roboto"/>
            </a:endParaRPr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4256" y="4800600"/>
            <a:ext cx="9429816" cy="596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ZoneTexte 7"/>
          <p:cNvSpPr txBox="1"/>
          <p:nvPr/>
        </p:nvSpPr>
        <p:spPr>
          <a:xfrm>
            <a:off x="5114916" y="5372104"/>
            <a:ext cx="7615246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Low"/>
            <a:r>
              <a:rPr lang="fr-FR" b="1" dirty="0" smtClean="0">
                <a:solidFill>
                  <a:srgbClr val="FF0000"/>
                </a:solidFill>
                <a:latin typeface="Roboto"/>
              </a:rPr>
              <a:t>Calculer la matrice de Harris à partir des gradients</a:t>
            </a:r>
            <a:endParaRPr lang="fr-FR" b="1" dirty="0">
              <a:solidFill>
                <a:srgbClr val="FF0000"/>
              </a:solidFill>
              <a:latin typeface="Roboto"/>
            </a:endParaRPr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36237" y="6157922"/>
            <a:ext cx="11193785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2514" y="6872302"/>
            <a:ext cx="8737178" cy="917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ZoneTexte 10"/>
          <p:cNvSpPr txBox="1"/>
          <p:nvPr/>
        </p:nvSpPr>
        <p:spPr>
          <a:xfrm>
            <a:off x="8829692" y="7586682"/>
            <a:ext cx="3490938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Low"/>
            <a:r>
              <a:rPr lang="fr-FR" b="1" dirty="0" smtClean="0">
                <a:solidFill>
                  <a:srgbClr val="FF0000"/>
                </a:solidFill>
                <a:latin typeface="Roboto"/>
              </a:rPr>
              <a:t>Calcul de la réponse R</a:t>
            </a:r>
            <a:endParaRPr lang="fr-FR" b="1" dirty="0">
              <a:solidFill>
                <a:srgbClr val="FF0000"/>
              </a:solidFill>
              <a:latin typeface="Roboto"/>
            </a:endParaRPr>
          </a:p>
        </p:txBody>
      </p:sp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14256" y="8086748"/>
            <a:ext cx="11519757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ZoneTexte 12"/>
          <p:cNvSpPr txBox="1"/>
          <p:nvPr/>
        </p:nvSpPr>
        <p:spPr>
          <a:xfrm>
            <a:off x="7472370" y="8944004"/>
            <a:ext cx="5214974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Low"/>
            <a:r>
              <a:rPr lang="fr-FR" b="1" dirty="0" smtClean="0">
                <a:solidFill>
                  <a:srgbClr val="FF0000"/>
                </a:solidFill>
                <a:latin typeface="Roboto"/>
              </a:rPr>
              <a:t>Eliminer les points non pertinents</a:t>
            </a:r>
            <a:endParaRPr lang="fr-FR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-28620" y="572487"/>
            <a:ext cx="5900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  <a:latin typeface="Roboto"/>
              </a:rPr>
              <a:t>Rappel du cours</a:t>
            </a:r>
            <a:endParaRPr lang="fr-FR" sz="3200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8472502" y="6624951"/>
            <a:ext cx="4214842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Low"/>
            <a:r>
              <a:rPr lang="fr-FR" b="1" dirty="0" smtClean="0">
                <a:solidFill>
                  <a:srgbClr val="FF0000"/>
                </a:solidFill>
                <a:latin typeface="Roboto"/>
              </a:rPr>
              <a:t>Appliquer le filtre Gaussien</a:t>
            </a:r>
            <a:endParaRPr lang="fr-FR" b="1" dirty="0">
              <a:solidFill>
                <a:srgbClr val="FF0000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  <p:bldP spid="13" grpId="0" animBg="1"/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</a:t>
            </a:r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3: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37065" y="0"/>
            <a:ext cx="10064535" cy="871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4322" y="1777743"/>
            <a:ext cx="4643470" cy="421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86420" y="3371840"/>
            <a:ext cx="3391743" cy="1114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401196" y="2514584"/>
            <a:ext cx="1928826" cy="2624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</a:t>
            </a:r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3: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71974" y="0"/>
            <a:ext cx="8329626" cy="689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614322" y="3966777"/>
            <a:ext cx="1107289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800" dirty="0" smtClean="0">
                <a:latin typeface="Roboto"/>
              </a:rPr>
              <a:t>Pour obtenir la matrice de Harris:  (étape 3 de l’algorithme)</a:t>
            </a:r>
          </a:p>
          <a:p>
            <a:pPr algn="just"/>
            <a:r>
              <a:rPr lang="fr-FR" sz="2800" dirty="0" smtClean="0">
                <a:latin typeface="Roboto"/>
              </a:rPr>
              <a:t>Il faut donc appliquer les étapes 1 et 2.</a:t>
            </a:r>
          </a:p>
          <a:p>
            <a:pPr algn="just"/>
            <a:endParaRPr lang="fr-FR" sz="2800" dirty="0" smtClean="0">
              <a:latin typeface="Roboto"/>
            </a:endParaRPr>
          </a:p>
          <a:p>
            <a:pPr marL="457200" indent="-457200" algn="just"/>
            <a:r>
              <a:rPr lang="fr-FR" sz="2800" dirty="0" smtClean="0">
                <a:latin typeface="Roboto"/>
              </a:rPr>
              <a:t>1.	Étape 1: convertir l’image en NVG. </a:t>
            </a:r>
          </a:p>
          <a:p>
            <a:pPr marL="457200" indent="-457200" algn="just"/>
            <a:r>
              <a:rPr lang="fr-FR" sz="2800" dirty="0" smtClean="0">
                <a:latin typeface="Roboto"/>
              </a:rPr>
              <a:t>	</a:t>
            </a:r>
            <a:r>
              <a:rPr lang="fr-FR" sz="2800" dirty="0" smtClean="0">
                <a:latin typeface="Roboto"/>
              </a:rPr>
              <a:t>	-&gt; étape 1 satisfaite l’image donnée est en NVG</a:t>
            </a:r>
          </a:p>
          <a:p>
            <a:pPr marL="457200" indent="-457200" algn="just"/>
            <a:endParaRPr lang="fr-FR" sz="2800" dirty="0" smtClean="0">
              <a:latin typeface="Roboto"/>
            </a:endParaRPr>
          </a:p>
          <a:p>
            <a:pPr algn="just"/>
            <a:r>
              <a:rPr lang="fr-FR" sz="2800" dirty="0" smtClean="0">
                <a:latin typeface="Roboto"/>
              </a:rPr>
              <a:t>2.   Étape 2: Obtenir les gradients sur les deux axes.</a:t>
            </a:r>
          </a:p>
          <a:p>
            <a:pPr algn="just"/>
            <a:r>
              <a:rPr lang="fr-FR" sz="2800" dirty="0" smtClean="0">
                <a:latin typeface="Roboto"/>
              </a:rPr>
              <a:t>	-&gt; calculer les gradients à l’aide des filtres donnés dans l’exercice.</a:t>
            </a:r>
          </a:p>
          <a:p>
            <a:pPr algn="just"/>
            <a:endParaRPr lang="fr-FR" sz="2800" dirty="0" smtClean="0">
              <a:latin typeface="Roboto"/>
            </a:endParaRPr>
          </a:p>
          <a:p>
            <a:pPr marL="457200" indent="-457200" algn="just">
              <a:buAutoNum type="arabicPeriod" startAt="3"/>
            </a:pPr>
            <a:r>
              <a:rPr lang="fr-FR" sz="2800" dirty="0" smtClean="0">
                <a:latin typeface="Roboto"/>
              </a:rPr>
              <a:t>Étape 3: calculer la matrice de </a:t>
            </a:r>
            <a:r>
              <a:rPr lang="fr-FR" sz="2800" dirty="0" smtClean="0">
                <a:latin typeface="Roboto"/>
              </a:rPr>
              <a:t>H</a:t>
            </a:r>
            <a:r>
              <a:rPr lang="fr-FR" sz="2800" dirty="0" smtClean="0">
                <a:latin typeface="Roboto"/>
              </a:rPr>
              <a:t>arris. </a:t>
            </a:r>
          </a:p>
          <a:p>
            <a:pPr marL="1679113" lvl="2" indent="-457200" algn="just"/>
            <a:r>
              <a:rPr lang="fr-FR" sz="2800" dirty="0" smtClean="0">
                <a:latin typeface="Roboto"/>
              </a:rPr>
              <a:t>-&gt; la matrice est composé de 4 éléments. Les calculer </a:t>
            </a:r>
            <a:endParaRPr lang="fr-FR" sz="2800" dirty="0" smtClean="0">
              <a:latin typeface="Roboto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92171" y="801306"/>
            <a:ext cx="2908709" cy="2641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78319" y="1872876"/>
            <a:ext cx="2124617" cy="698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764335" y="1444248"/>
            <a:ext cx="1208233" cy="1643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</a:t>
            </a:r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3: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71974" y="0"/>
            <a:ext cx="8329626" cy="689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ZoneTexte 3"/>
          <p:cNvSpPr txBox="1"/>
          <p:nvPr/>
        </p:nvSpPr>
        <p:spPr>
          <a:xfrm>
            <a:off x="257132" y="942948"/>
            <a:ext cx="110728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800" dirty="0" smtClean="0">
                <a:latin typeface="Roboto"/>
              </a:rPr>
              <a:t>2.   Étape 2: Obtenir les gradients sur les deux axes.</a:t>
            </a:r>
          </a:p>
          <a:p>
            <a:pPr algn="just"/>
            <a:r>
              <a:rPr lang="fr-FR" sz="2800" dirty="0" smtClean="0">
                <a:latin typeface="Roboto"/>
              </a:rPr>
              <a:t>	-&gt; calculer les gradients à l’aide des filtres données dans l’exercice.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29032" y="2800336"/>
            <a:ext cx="4143404" cy="3763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ZoneTexte 5"/>
          <p:cNvSpPr txBox="1"/>
          <p:nvPr/>
        </p:nvSpPr>
        <p:spPr>
          <a:xfrm>
            <a:off x="4686288" y="6657988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Image </a:t>
            </a:r>
            <a:endParaRPr lang="fr-FR" dirty="0">
              <a:latin typeface="Roboto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18" y="2540843"/>
            <a:ext cx="3391743" cy="1114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ZoneTexte 7"/>
          <p:cNvSpPr txBox="1"/>
          <p:nvPr/>
        </p:nvSpPr>
        <p:spPr>
          <a:xfrm>
            <a:off x="900074" y="3755289"/>
            <a:ext cx="2500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Filtre gradient horizontal</a:t>
            </a:r>
            <a:endParaRPr lang="fr-FR" dirty="0">
              <a:latin typeface="Roboto"/>
            </a:endParaRPr>
          </a:p>
        </p:txBody>
      </p:sp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8686816" y="3586154"/>
          <a:ext cx="3000396" cy="2114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32"/>
                <a:gridCol w="1000132"/>
                <a:gridCol w="1000132"/>
              </a:tblGrid>
              <a:tr h="70485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0485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0485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Tableau 17"/>
          <p:cNvGraphicFramePr>
            <a:graphicFrameLocks noGrp="1"/>
          </p:cNvGraphicFramePr>
          <p:nvPr/>
        </p:nvGraphicFramePr>
        <p:xfrm>
          <a:off x="9096362" y="3800468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Tableau 18"/>
          <p:cNvGraphicFramePr>
            <a:graphicFrameLocks noGrp="1"/>
          </p:cNvGraphicFramePr>
          <p:nvPr/>
        </p:nvGraphicFramePr>
        <p:xfrm>
          <a:off x="3971908" y="3657592"/>
          <a:ext cx="2409810" cy="671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270"/>
                <a:gridCol w="803270"/>
                <a:gridCol w="803270"/>
              </a:tblGrid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-1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Tableau 19"/>
          <p:cNvGraphicFramePr>
            <a:graphicFrameLocks noGrp="1"/>
          </p:cNvGraphicFramePr>
          <p:nvPr/>
        </p:nvGraphicFramePr>
        <p:xfrm>
          <a:off x="9882180" y="3800468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1" name="Tableau 20"/>
          <p:cNvGraphicFramePr>
            <a:graphicFrameLocks noGrp="1"/>
          </p:cNvGraphicFramePr>
          <p:nvPr/>
        </p:nvGraphicFramePr>
        <p:xfrm>
          <a:off x="4757726" y="3657592"/>
          <a:ext cx="2409810" cy="671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270"/>
                <a:gridCol w="803270"/>
                <a:gridCol w="803270"/>
              </a:tblGrid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-1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" name="Tableau 21"/>
          <p:cNvGraphicFramePr>
            <a:graphicFrameLocks noGrp="1"/>
          </p:cNvGraphicFramePr>
          <p:nvPr/>
        </p:nvGraphicFramePr>
        <p:xfrm>
          <a:off x="10667998" y="3800468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3" name="Tableau 22"/>
          <p:cNvGraphicFramePr>
            <a:graphicFrameLocks noGrp="1"/>
          </p:cNvGraphicFramePr>
          <p:nvPr/>
        </p:nvGraphicFramePr>
        <p:xfrm>
          <a:off x="5543544" y="3657592"/>
          <a:ext cx="2409810" cy="671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270"/>
                <a:gridCol w="803270"/>
                <a:gridCol w="803270"/>
              </a:tblGrid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-1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Tableau 23"/>
          <p:cNvGraphicFramePr>
            <a:graphicFrameLocks noGrp="1"/>
          </p:cNvGraphicFramePr>
          <p:nvPr/>
        </p:nvGraphicFramePr>
        <p:xfrm>
          <a:off x="9096362" y="4514848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Tableau 24"/>
          <p:cNvGraphicFramePr>
            <a:graphicFrameLocks noGrp="1"/>
          </p:cNvGraphicFramePr>
          <p:nvPr/>
        </p:nvGraphicFramePr>
        <p:xfrm>
          <a:off x="3971908" y="4371972"/>
          <a:ext cx="2409810" cy="671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270"/>
                <a:gridCol w="803270"/>
                <a:gridCol w="803270"/>
              </a:tblGrid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-1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6" name="Tableau 25"/>
          <p:cNvGraphicFramePr>
            <a:graphicFrameLocks noGrp="1"/>
          </p:cNvGraphicFramePr>
          <p:nvPr/>
        </p:nvGraphicFramePr>
        <p:xfrm>
          <a:off x="9901262" y="4514848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7" name="Tableau 26"/>
          <p:cNvGraphicFramePr>
            <a:graphicFrameLocks noGrp="1"/>
          </p:cNvGraphicFramePr>
          <p:nvPr/>
        </p:nvGraphicFramePr>
        <p:xfrm>
          <a:off x="4776808" y="4371972"/>
          <a:ext cx="2409810" cy="671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270"/>
                <a:gridCol w="803270"/>
                <a:gridCol w="803270"/>
              </a:tblGrid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-1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8" name="Tableau 27"/>
          <p:cNvGraphicFramePr>
            <a:graphicFrameLocks noGrp="1"/>
          </p:cNvGraphicFramePr>
          <p:nvPr/>
        </p:nvGraphicFramePr>
        <p:xfrm>
          <a:off x="10667998" y="4514848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Tableau 28"/>
          <p:cNvGraphicFramePr>
            <a:graphicFrameLocks noGrp="1"/>
          </p:cNvGraphicFramePr>
          <p:nvPr/>
        </p:nvGraphicFramePr>
        <p:xfrm>
          <a:off x="5543544" y="4371972"/>
          <a:ext cx="2409810" cy="671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270"/>
                <a:gridCol w="803270"/>
                <a:gridCol w="803270"/>
              </a:tblGrid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-1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0" name="Tableau 29"/>
          <p:cNvGraphicFramePr>
            <a:graphicFrameLocks noGrp="1"/>
          </p:cNvGraphicFramePr>
          <p:nvPr/>
        </p:nvGraphicFramePr>
        <p:xfrm>
          <a:off x="9096362" y="5229228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1" name="Tableau 30"/>
          <p:cNvGraphicFramePr>
            <a:graphicFrameLocks noGrp="1"/>
          </p:cNvGraphicFramePr>
          <p:nvPr/>
        </p:nvGraphicFramePr>
        <p:xfrm>
          <a:off x="3971908" y="5086352"/>
          <a:ext cx="2409810" cy="671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270"/>
                <a:gridCol w="803270"/>
                <a:gridCol w="803270"/>
              </a:tblGrid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-1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Tableau 31"/>
          <p:cNvGraphicFramePr>
            <a:graphicFrameLocks noGrp="1"/>
          </p:cNvGraphicFramePr>
          <p:nvPr/>
        </p:nvGraphicFramePr>
        <p:xfrm>
          <a:off x="9882180" y="5229228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3" name="Tableau 32"/>
          <p:cNvGraphicFramePr>
            <a:graphicFrameLocks noGrp="1"/>
          </p:cNvGraphicFramePr>
          <p:nvPr/>
        </p:nvGraphicFramePr>
        <p:xfrm>
          <a:off x="4757726" y="5086352"/>
          <a:ext cx="2409810" cy="671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270"/>
                <a:gridCol w="803270"/>
                <a:gridCol w="803270"/>
              </a:tblGrid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-1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4" name="Tableau 33"/>
          <p:cNvGraphicFramePr>
            <a:graphicFrameLocks noGrp="1"/>
          </p:cNvGraphicFramePr>
          <p:nvPr/>
        </p:nvGraphicFramePr>
        <p:xfrm>
          <a:off x="10667998" y="5229228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5" name="Tableau 34"/>
          <p:cNvGraphicFramePr>
            <a:graphicFrameLocks noGrp="1"/>
          </p:cNvGraphicFramePr>
          <p:nvPr/>
        </p:nvGraphicFramePr>
        <p:xfrm>
          <a:off x="5543544" y="5086352"/>
          <a:ext cx="2409810" cy="671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270"/>
                <a:gridCol w="803270"/>
                <a:gridCol w="803270"/>
              </a:tblGrid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-1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2" name="ZoneTexte 41"/>
          <p:cNvSpPr txBox="1"/>
          <p:nvPr/>
        </p:nvSpPr>
        <p:spPr>
          <a:xfrm>
            <a:off x="8901130" y="5943608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latin typeface="Roboto"/>
              </a:rPr>
              <a:t>I</a:t>
            </a:r>
            <a:r>
              <a:rPr lang="fr-FR" b="1" baseline="-25000" dirty="0" smtClean="0">
                <a:latin typeface="Roboto"/>
              </a:rPr>
              <a:t>X</a:t>
            </a:r>
            <a:endParaRPr lang="fr-FR" b="1" baseline="-25000" dirty="0">
              <a:latin typeface="Roboto"/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8186750" y="7300930"/>
            <a:ext cx="4614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FF0000"/>
                </a:solidFill>
                <a:latin typeface="Roboto"/>
              </a:rPr>
              <a:t>Il faut obtenir des matrices carrées</a:t>
            </a:r>
            <a:endParaRPr lang="fr-FR" sz="2000" b="1" dirty="0">
              <a:solidFill>
                <a:srgbClr val="FF0000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</a:t>
            </a:r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3: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71974" y="0"/>
            <a:ext cx="8329626" cy="689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ZoneTexte 3"/>
          <p:cNvSpPr txBox="1"/>
          <p:nvPr/>
        </p:nvSpPr>
        <p:spPr>
          <a:xfrm>
            <a:off x="257132" y="942948"/>
            <a:ext cx="110728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800" dirty="0" smtClean="0">
                <a:latin typeface="Roboto"/>
              </a:rPr>
              <a:t>2.   Étape 2: Obtenir les gradients sur les deux axes.</a:t>
            </a:r>
          </a:p>
          <a:p>
            <a:pPr algn="just"/>
            <a:r>
              <a:rPr lang="fr-FR" sz="2800" dirty="0" smtClean="0">
                <a:latin typeface="Roboto"/>
              </a:rPr>
              <a:t>	-&gt; calculer les gradients à l’aide des filtres données dans l’exercice.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29032" y="2800336"/>
            <a:ext cx="4143404" cy="3763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ZoneTexte 5"/>
          <p:cNvSpPr txBox="1"/>
          <p:nvPr/>
        </p:nvSpPr>
        <p:spPr>
          <a:xfrm>
            <a:off x="4686288" y="6657988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Image </a:t>
            </a:r>
            <a:endParaRPr lang="fr-FR" dirty="0">
              <a:latin typeface="Roboto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900074" y="5300666"/>
            <a:ext cx="2500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latin typeface="Roboto"/>
              </a:rPr>
              <a:t>Filtre gradient vertical</a:t>
            </a:r>
            <a:endParaRPr lang="fr-FR" dirty="0">
              <a:latin typeface="Roboto"/>
            </a:endParaRPr>
          </a:p>
        </p:txBody>
      </p:sp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9115444" y="3633778"/>
          <a:ext cx="2468868" cy="238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56"/>
                <a:gridCol w="822956"/>
                <a:gridCol w="822956"/>
              </a:tblGrid>
              <a:tr h="79375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93756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9375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2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57198" y="2514584"/>
            <a:ext cx="1928826" cy="2624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43" name="Tableau 42"/>
          <p:cNvGraphicFramePr>
            <a:graphicFrameLocks noGrp="1"/>
          </p:cNvGraphicFramePr>
          <p:nvPr/>
        </p:nvGraphicFramePr>
        <p:xfrm>
          <a:off x="9329755" y="3782373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4" name="Tableau 43"/>
          <p:cNvGraphicFramePr>
            <a:graphicFrameLocks noGrp="1"/>
          </p:cNvGraphicFramePr>
          <p:nvPr/>
        </p:nvGraphicFramePr>
        <p:xfrm>
          <a:off x="4757726" y="3000372"/>
          <a:ext cx="803270" cy="2014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270"/>
              </a:tblGrid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-1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5" name="Tableau 44"/>
          <p:cNvGraphicFramePr>
            <a:graphicFrameLocks noGrp="1"/>
          </p:cNvGraphicFramePr>
          <p:nvPr/>
        </p:nvGraphicFramePr>
        <p:xfrm>
          <a:off x="10115573" y="3782373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6" name="Tableau 45"/>
          <p:cNvGraphicFramePr>
            <a:graphicFrameLocks noGrp="1"/>
          </p:cNvGraphicFramePr>
          <p:nvPr/>
        </p:nvGraphicFramePr>
        <p:xfrm>
          <a:off x="5543544" y="3000372"/>
          <a:ext cx="803270" cy="2014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270"/>
              </a:tblGrid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-1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7" name="Tableau 46"/>
          <p:cNvGraphicFramePr>
            <a:graphicFrameLocks noGrp="1"/>
          </p:cNvGraphicFramePr>
          <p:nvPr/>
        </p:nvGraphicFramePr>
        <p:xfrm>
          <a:off x="10901391" y="3796651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8" name="Tableau 47"/>
          <p:cNvGraphicFramePr>
            <a:graphicFrameLocks noGrp="1"/>
          </p:cNvGraphicFramePr>
          <p:nvPr/>
        </p:nvGraphicFramePr>
        <p:xfrm>
          <a:off x="6329362" y="3014650"/>
          <a:ext cx="803270" cy="2014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270"/>
              </a:tblGrid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-1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au 52"/>
          <p:cNvGraphicFramePr>
            <a:graphicFrameLocks noGrp="1"/>
          </p:cNvGraphicFramePr>
          <p:nvPr/>
        </p:nvGraphicFramePr>
        <p:xfrm>
          <a:off x="9329755" y="4511031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4" name="Tableau 53"/>
          <p:cNvGraphicFramePr>
            <a:graphicFrameLocks noGrp="1"/>
          </p:cNvGraphicFramePr>
          <p:nvPr/>
        </p:nvGraphicFramePr>
        <p:xfrm>
          <a:off x="4757726" y="3729030"/>
          <a:ext cx="803270" cy="2014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270"/>
              </a:tblGrid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-1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5" name="Tableau 54"/>
          <p:cNvGraphicFramePr>
            <a:graphicFrameLocks noGrp="1"/>
          </p:cNvGraphicFramePr>
          <p:nvPr/>
        </p:nvGraphicFramePr>
        <p:xfrm>
          <a:off x="10187011" y="4511031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6" name="Tableau 55"/>
          <p:cNvGraphicFramePr>
            <a:graphicFrameLocks noGrp="1"/>
          </p:cNvGraphicFramePr>
          <p:nvPr/>
        </p:nvGraphicFramePr>
        <p:xfrm>
          <a:off x="5614982" y="3729030"/>
          <a:ext cx="803270" cy="2014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270"/>
              </a:tblGrid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-1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7" name="Tableau 56"/>
          <p:cNvGraphicFramePr>
            <a:graphicFrameLocks noGrp="1"/>
          </p:cNvGraphicFramePr>
          <p:nvPr/>
        </p:nvGraphicFramePr>
        <p:xfrm>
          <a:off x="10901391" y="4496753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Tableau 57"/>
          <p:cNvGraphicFramePr>
            <a:graphicFrameLocks noGrp="1"/>
          </p:cNvGraphicFramePr>
          <p:nvPr/>
        </p:nvGraphicFramePr>
        <p:xfrm>
          <a:off x="6329362" y="3714752"/>
          <a:ext cx="803270" cy="2014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270"/>
              </a:tblGrid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-1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3" name="Tableau 62"/>
          <p:cNvGraphicFramePr>
            <a:graphicFrameLocks noGrp="1"/>
          </p:cNvGraphicFramePr>
          <p:nvPr/>
        </p:nvGraphicFramePr>
        <p:xfrm>
          <a:off x="9329755" y="5225411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4" name="Tableau 63"/>
          <p:cNvGraphicFramePr>
            <a:graphicFrameLocks noGrp="1"/>
          </p:cNvGraphicFramePr>
          <p:nvPr/>
        </p:nvGraphicFramePr>
        <p:xfrm>
          <a:off x="4757726" y="4443410"/>
          <a:ext cx="803270" cy="2014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270"/>
              </a:tblGrid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-1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5" name="Tableau 64"/>
          <p:cNvGraphicFramePr>
            <a:graphicFrameLocks noGrp="1"/>
          </p:cNvGraphicFramePr>
          <p:nvPr/>
        </p:nvGraphicFramePr>
        <p:xfrm>
          <a:off x="10115573" y="5211133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6" name="Tableau 65"/>
          <p:cNvGraphicFramePr>
            <a:graphicFrameLocks noGrp="1"/>
          </p:cNvGraphicFramePr>
          <p:nvPr/>
        </p:nvGraphicFramePr>
        <p:xfrm>
          <a:off x="5543544" y="4429132"/>
          <a:ext cx="803270" cy="2014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270"/>
              </a:tblGrid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-1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7" name="Tableau 66"/>
          <p:cNvGraphicFramePr>
            <a:graphicFrameLocks noGrp="1"/>
          </p:cNvGraphicFramePr>
          <p:nvPr/>
        </p:nvGraphicFramePr>
        <p:xfrm>
          <a:off x="10901391" y="5211133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8" name="Tableau 67"/>
          <p:cNvGraphicFramePr>
            <a:graphicFrameLocks noGrp="1"/>
          </p:cNvGraphicFramePr>
          <p:nvPr/>
        </p:nvGraphicFramePr>
        <p:xfrm>
          <a:off x="6329362" y="4429132"/>
          <a:ext cx="803270" cy="2014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270"/>
              </a:tblGrid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-1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1514">
                <a:tc>
                  <a:txBody>
                    <a:bodyPr/>
                    <a:lstStyle/>
                    <a:p>
                      <a:r>
                        <a:rPr lang="fr-FR" sz="2000" b="0" dirty="0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  <a:endParaRPr lang="fr-FR" sz="2000" b="0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1" name="ZoneTexte 70"/>
          <p:cNvSpPr txBox="1"/>
          <p:nvPr/>
        </p:nvSpPr>
        <p:spPr>
          <a:xfrm>
            <a:off x="9258320" y="6300798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 smtClean="0">
                <a:latin typeface="Roboto"/>
              </a:rPr>
              <a:t>I</a:t>
            </a:r>
            <a:r>
              <a:rPr lang="fr-FR" b="1" baseline="-25000" dirty="0" err="1" smtClean="0">
                <a:latin typeface="Roboto"/>
              </a:rPr>
              <a:t>y</a:t>
            </a:r>
            <a:endParaRPr lang="fr-FR" b="1" baseline="-25000" dirty="0"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</a:t>
            </a:r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3: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71974" y="0"/>
            <a:ext cx="8329626" cy="689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471446" y="871510"/>
            <a:ext cx="110728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 startAt="3"/>
            </a:pPr>
            <a:r>
              <a:rPr lang="fr-FR" sz="2800" dirty="0" smtClean="0">
                <a:latin typeface="Roboto"/>
              </a:rPr>
              <a:t>Étape 3: calculer la matrice de </a:t>
            </a:r>
            <a:r>
              <a:rPr lang="fr-FR" sz="2800" dirty="0" smtClean="0">
                <a:latin typeface="Roboto"/>
              </a:rPr>
              <a:t>H</a:t>
            </a:r>
            <a:r>
              <a:rPr lang="fr-FR" sz="2800" dirty="0" smtClean="0">
                <a:latin typeface="Roboto"/>
              </a:rPr>
              <a:t>arris. </a:t>
            </a:r>
          </a:p>
          <a:p>
            <a:pPr marL="1679113" lvl="2" indent="-457200" algn="just"/>
            <a:r>
              <a:rPr lang="fr-FR" sz="2800" dirty="0" smtClean="0">
                <a:latin typeface="Roboto"/>
              </a:rPr>
              <a:t>-&gt; la matrice est composé de 4 éléments. Les calculer </a:t>
            </a:r>
            <a:endParaRPr lang="fr-FR" sz="2800" dirty="0" smtClean="0">
              <a:latin typeface="Roboto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8569" y="2228832"/>
            <a:ext cx="4185821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ZoneTexte 6"/>
          <p:cNvSpPr txBox="1"/>
          <p:nvPr/>
        </p:nvSpPr>
        <p:spPr>
          <a:xfrm>
            <a:off x="5257792" y="2777182"/>
            <a:ext cx="6072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  <a:latin typeface="Roboto"/>
              </a:rPr>
              <a:t>Donc il faut calculer: I</a:t>
            </a:r>
            <a:r>
              <a:rPr lang="fr-FR" sz="2800" b="1" baseline="30000" dirty="0" smtClean="0">
                <a:solidFill>
                  <a:srgbClr val="FF0000"/>
                </a:solidFill>
                <a:latin typeface="Roboto"/>
              </a:rPr>
              <a:t>2</a:t>
            </a:r>
            <a:r>
              <a:rPr lang="fr-FR" sz="2800" b="1" dirty="0" smtClean="0">
                <a:solidFill>
                  <a:srgbClr val="FF0000"/>
                </a:solidFill>
                <a:latin typeface="Roboto"/>
              </a:rPr>
              <a:t>x, I</a:t>
            </a:r>
            <a:r>
              <a:rPr lang="fr-FR" sz="2800" b="1" baseline="30000" dirty="0" smtClean="0">
                <a:solidFill>
                  <a:srgbClr val="FF0000"/>
                </a:solidFill>
                <a:latin typeface="Roboto"/>
              </a:rPr>
              <a:t>2</a:t>
            </a:r>
            <a:r>
              <a:rPr lang="fr-FR" sz="2800" b="1" dirty="0" smtClean="0">
                <a:solidFill>
                  <a:srgbClr val="FF0000"/>
                </a:solidFill>
                <a:latin typeface="Roboto"/>
              </a:rPr>
              <a:t>y,  </a:t>
            </a:r>
            <a:r>
              <a:rPr lang="fr-FR" sz="2800" b="1" dirty="0" err="1" smtClean="0">
                <a:solidFill>
                  <a:srgbClr val="FF0000"/>
                </a:solidFill>
                <a:latin typeface="Roboto"/>
              </a:rPr>
              <a:t>Ixy</a:t>
            </a:r>
            <a:endParaRPr lang="fr-FR" sz="2800" b="1" dirty="0">
              <a:solidFill>
                <a:srgbClr val="FF0000"/>
              </a:solidFill>
              <a:latin typeface="Roboto"/>
            </a:endParaRPr>
          </a:p>
        </p:txBody>
      </p:sp>
      <p:graphicFrame>
        <p:nvGraphicFramePr>
          <p:cNvPr id="8" name="Tableau 7"/>
          <p:cNvGraphicFramePr>
            <a:graphicFrameLocks noGrp="1"/>
          </p:cNvGraphicFramePr>
          <p:nvPr/>
        </p:nvGraphicFramePr>
        <p:xfrm>
          <a:off x="8901130" y="5029501"/>
          <a:ext cx="2468868" cy="238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56"/>
                <a:gridCol w="822956"/>
                <a:gridCol w="822956"/>
              </a:tblGrid>
              <a:tr h="79375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93756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9375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9115441" y="5178096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9901259" y="5178096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au 10"/>
          <p:cNvGraphicFramePr>
            <a:graphicFrameLocks noGrp="1"/>
          </p:cNvGraphicFramePr>
          <p:nvPr/>
        </p:nvGraphicFramePr>
        <p:xfrm>
          <a:off x="10687077" y="5192374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9115441" y="5906754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Tableau 12"/>
          <p:cNvGraphicFramePr>
            <a:graphicFrameLocks noGrp="1"/>
          </p:cNvGraphicFramePr>
          <p:nvPr/>
        </p:nvGraphicFramePr>
        <p:xfrm>
          <a:off x="9972697" y="5906754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au 13"/>
          <p:cNvGraphicFramePr>
            <a:graphicFrameLocks noGrp="1"/>
          </p:cNvGraphicFramePr>
          <p:nvPr/>
        </p:nvGraphicFramePr>
        <p:xfrm>
          <a:off x="10687077" y="5892476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Tableau 14"/>
          <p:cNvGraphicFramePr>
            <a:graphicFrameLocks noGrp="1"/>
          </p:cNvGraphicFramePr>
          <p:nvPr/>
        </p:nvGraphicFramePr>
        <p:xfrm>
          <a:off x="9115441" y="6621134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au 15"/>
          <p:cNvGraphicFramePr>
            <a:graphicFrameLocks noGrp="1"/>
          </p:cNvGraphicFramePr>
          <p:nvPr/>
        </p:nvGraphicFramePr>
        <p:xfrm>
          <a:off x="9901259" y="6606856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Tableau 16"/>
          <p:cNvGraphicFramePr>
            <a:graphicFrameLocks noGrp="1"/>
          </p:cNvGraphicFramePr>
          <p:nvPr/>
        </p:nvGraphicFramePr>
        <p:xfrm>
          <a:off x="10687077" y="6606856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ZoneTexte 17"/>
          <p:cNvSpPr txBox="1"/>
          <p:nvPr/>
        </p:nvSpPr>
        <p:spPr>
          <a:xfrm>
            <a:off x="9044006" y="7696521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 smtClean="0">
                <a:latin typeface="Roboto"/>
              </a:rPr>
              <a:t>I</a:t>
            </a:r>
            <a:r>
              <a:rPr lang="fr-FR" b="1" baseline="-25000" dirty="0" err="1" smtClean="0">
                <a:latin typeface="Roboto"/>
              </a:rPr>
              <a:t>y</a:t>
            </a:r>
            <a:endParaRPr lang="fr-FR" b="1" baseline="-25000" dirty="0">
              <a:latin typeface="Roboto"/>
            </a:endParaRPr>
          </a:p>
        </p:txBody>
      </p:sp>
      <p:graphicFrame>
        <p:nvGraphicFramePr>
          <p:cNvPr id="19" name="Tableau 18"/>
          <p:cNvGraphicFramePr>
            <a:graphicFrameLocks noGrp="1"/>
          </p:cNvGraphicFramePr>
          <p:nvPr/>
        </p:nvGraphicFramePr>
        <p:xfrm>
          <a:off x="4972040" y="5124753"/>
          <a:ext cx="3000396" cy="2114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32"/>
                <a:gridCol w="1000132"/>
                <a:gridCol w="1000132"/>
              </a:tblGrid>
              <a:tr h="70485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0485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0485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Tableau 19"/>
          <p:cNvGraphicFramePr>
            <a:graphicFrameLocks noGrp="1"/>
          </p:cNvGraphicFramePr>
          <p:nvPr/>
        </p:nvGraphicFramePr>
        <p:xfrm>
          <a:off x="5381586" y="5339067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1" name="Tableau 20"/>
          <p:cNvGraphicFramePr>
            <a:graphicFrameLocks noGrp="1"/>
          </p:cNvGraphicFramePr>
          <p:nvPr/>
        </p:nvGraphicFramePr>
        <p:xfrm>
          <a:off x="6167404" y="5339067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2" name="Tableau 21"/>
          <p:cNvGraphicFramePr>
            <a:graphicFrameLocks noGrp="1"/>
          </p:cNvGraphicFramePr>
          <p:nvPr/>
        </p:nvGraphicFramePr>
        <p:xfrm>
          <a:off x="6953222" y="5339067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3" name="Tableau 22"/>
          <p:cNvGraphicFramePr>
            <a:graphicFrameLocks noGrp="1"/>
          </p:cNvGraphicFramePr>
          <p:nvPr/>
        </p:nvGraphicFramePr>
        <p:xfrm>
          <a:off x="5381586" y="6053447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Tableau 23"/>
          <p:cNvGraphicFramePr>
            <a:graphicFrameLocks noGrp="1"/>
          </p:cNvGraphicFramePr>
          <p:nvPr/>
        </p:nvGraphicFramePr>
        <p:xfrm>
          <a:off x="6186486" y="6053447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Tableau 24"/>
          <p:cNvGraphicFramePr>
            <a:graphicFrameLocks noGrp="1"/>
          </p:cNvGraphicFramePr>
          <p:nvPr/>
        </p:nvGraphicFramePr>
        <p:xfrm>
          <a:off x="6953222" y="6053447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6" name="Tableau 25"/>
          <p:cNvGraphicFramePr>
            <a:graphicFrameLocks noGrp="1"/>
          </p:cNvGraphicFramePr>
          <p:nvPr/>
        </p:nvGraphicFramePr>
        <p:xfrm>
          <a:off x="5381586" y="6767827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7" name="Tableau 26"/>
          <p:cNvGraphicFramePr>
            <a:graphicFrameLocks noGrp="1"/>
          </p:cNvGraphicFramePr>
          <p:nvPr/>
        </p:nvGraphicFramePr>
        <p:xfrm>
          <a:off x="6167404" y="6767827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8" name="Tableau 27"/>
          <p:cNvGraphicFramePr>
            <a:graphicFrameLocks noGrp="1"/>
          </p:cNvGraphicFramePr>
          <p:nvPr/>
        </p:nvGraphicFramePr>
        <p:xfrm>
          <a:off x="6953222" y="6767827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9" name="ZoneTexte 28"/>
          <p:cNvSpPr txBox="1"/>
          <p:nvPr/>
        </p:nvSpPr>
        <p:spPr>
          <a:xfrm>
            <a:off x="5186354" y="7767959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latin typeface="Roboto"/>
              </a:rPr>
              <a:t>I</a:t>
            </a:r>
            <a:r>
              <a:rPr lang="fr-FR" b="1" baseline="-25000" dirty="0" smtClean="0">
                <a:latin typeface="Roboto"/>
              </a:rPr>
              <a:t>X</a:t>
            </a:r>
            <a:endParaRPr lang="fr-FR" b="1" baseline="-25000" dirty="0"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</a:t>
            </a:r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3: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71974" y="0"/>
            <a:ext cx="8329626" cy="689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471446" y="871510"/>
            <a:ext cx="110728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 startAt="3"/>
            </a:pPr>
            <a:r>
              <a:rPr lang="fr-FR" sz="2800" dirty="0" smtClean="0">
                <a:latin typeface="Roboto"/>
              </a:rPr>
              <a:t>Étape 3: calculer la matrice de </a:t>
            </a:r>
            <a:r>
              <a:rPr lang="fr-FR" sz="2800" dirty="0" smtClean="0">
                <a:latin typeface="Roboto"/>
              </a:rPr>
              <a:t>H</a:t>
            </a:r>
            <a:r>
              <a:rPr lang="fr-FR" sz="2800" dirty="0" smtClean="0">
                <a:latin typeface="Roboto"/>
              </a:rPr>
              <a:t>arris. </a:t>
            </a:r>
          </a:p>
          <a:p>
            <a:pPr marL="1679113" lvl="2" indent="-457200" algn="just"/>
            <a:r>
              <a:rPr lang="fr-FR" sz="2800" dirty="0" smtClean="0">
                <a:latin typeface="Roboto"/>
              </a:rPr>
              <a:t>-&gt; la matrice est composé de 4 éléments. Les calculer </a:t>
            </a:r>
            <a:endParaRPr lang="fr-FR" sz="2800" dirty="0" smtClean="0">
              <a:latin typeface="Roboto"/>
            </a:endParaRPr>
          </a:p>
        </p:txBody>
      </p:sp>
      <p:graphicFrame>
        <p:nvGraphicFramePr>
          <p:cNvPr id="19" name="Tableau 18"/>
          <p:cNvGraphicFramePr>
            <a:graphicFrameLocks noGrp="1"/>
          </p:cNvGraphicFramePr>
          <p:nvPr/>
        </p:nvGraphicFramePr>
        <p:xfrm>
          <a:off x="2471710" y="2481547"/>
          <a:ext cx="3000396" cy="2114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32"/>
                <a:gridCol w="1000132"/>
                <a:gridCol w="1000132"/>
              </a:tblGrid>
              <a:tr h="70485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0485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0485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Tableau 19"/>
          <p:cNvGraphicFramePr>
            <a:graphicFrameLocks noGrp="1"/>
          </p:cNvGraphicFramePr>
          <p:nvPr/>
        </p:nvGraphicFramePr>
        <p:xfrm>
          <a:off x="2881256" y="2695861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1" name="Tableau 20"/>
          <p:cNvGraphicFramePr>
            <a:graphicFrameLocks noGrp="1"/>
          </p:cNvGraphicFramePr>
          <p:nvPr/>
        </p:nvGraphicFramePr>
        <p:xfrm>
          <a:off x="3667074" y="2695861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2" name="Tableau 21"/>
          <p:cNvGraphicFramePr>
            <a:graphicFrameLocks noGrp="1"/>
          </p:cNvGraphicFramePr>
          <p:nvPr/>
        </p:nvGraphicFramePr>
        <p:xfrm>
          <a:off x="4452892" y="2695861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3" name="Tableau 22"/>
          <p:cNvGraphicFramePr>
            <a:graphicFrameLocks noGrp="1"/>
          </p:cNvGraphicFramePr>
          <p:nvPr/>
        </p:nvGraphicFramePr>
        <p:xfrm>
          <a:off x="2881256" y="3410241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Tableau 23"/>
          <p:cNvGraphicFramePr>
            <a:graphicFrameLocks noGrp="1"/>
          </p:cNvGraphicFramePr>
          <p:nvPr/>
        </p:nvGraphicFramePr>
        <p:xfrm>
          <a:off x="3686156" y="3410241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Tableau 24"/>
          <p:cNvGraphicFramePr>
            <a:graphicFrameLocks noGrp="1"/>
          </p:cNvGraphicFramePr>
          <p:nvPr/>
        </p:nvGraphicFramePr>
        <p:xfrm>
          <a:off x="4452892" y="3410241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6" name="Tableau 25"/>
          <p:cNvGraphicFramePr>
            <a:graphicFrameLocks noGrp="1"/>
          </p:cNvGraphicFramePr>
          <p:nvPr/>
        </p:nvGraphicFramePr>
        <p:xfrm>
          <a:off x="2881256" y="4124621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7" name="Tableau 26"/>
          <p:cNvGraphicFramePr>
            <a:graphicFrameLocks noGrp="1"/>
          </p:cNvGraphicFramePr>
          <p:nvPr/>
        </p:nvGraphicFramePr>
        <p:xfrm>
          <a:off x="3667074" y="4124621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8" name="Tableau 27"/>
          <p:cNvGraphicFramePr>
            <a:graphicFrameLocks noGrp="1"/>
          </p:cNvGraphicFramePr>
          <p:nvPr/>
        </p:nvGraphicFramePr>
        <p:xfrm>
          <a:off x="4452892" y="4124621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9" name="ZoneTexte 28"/>
          <p:cNvSpPr txBox="1"/>
          <p:nvPr/>
        </p:nvSpPr>
        <p:spPr>
          <a:xfrm>
            <a:off x="2686024" y="4839001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latin typeface="Roboto"/>
              </a:rPr>
              <a:t>I</a:t>
            </a:r>
            <a:r>
              <a:rPr lang="fr-FR" b="1" baseline="-25000" dirty="0" smtClean="0">
                <a:latin typeface="Roboto"/>
              </a:rPr>
              <a:t>X</a:t>
            </a:r>
            <a:endParaRPr lang="fr-FR" b="1" baseline="-25000" dirty="0">
              <a:latin typeface="Roboto"/>
            </a:endParaRPr>
          </a:p>
        </p:txBody>
      </p:sp>
      <p:graphicFrame>
        <p:nvGraphicFramePr>
          <p:cNvPr id="30" name="Tableau 29"/>
          <p:cNvGraphicFramePr>
            <a:graphicFrameLocks noGrp="1"/>
          </p:cNvGraphicFramePr>
          <p:nvPr/>
        </p:nvGraphicFramePr>
        <p:xfrm>
          <a:off x="900074" y="6124885"/>
          <a:ext cx="3000396" cy="2114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32"/>
                <a:gridCol w="1000132"/>
                <a:gridCol w="1000132"/>
              </a:tblGrid>
              <a:tr h="70485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0485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0485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1" name="Tableau 30"/>
          <p:cNvGraphicFramePr>
            <a:graphicFrameLocks noGrp="1"/>
          </p:cNvGraphicFramePr>
          <p:nvPr/>
        </p:nvGraphicFramePr>
        <p:xfrm>
          <a:off x="1204908" y="6157922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Tableau 31"/>
          <p:cNvGraphicFramePr>
            <a:graphicFrameLocks noGrp="1"/>
          </p:cNvGraphicFramePr>
          <p:nvPr/>
        </p:nvGraphicFramePr>
        <p:xfrm>
          <a:off x="1971644" y="6196323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49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3" name="Tableau 32"/>
          <p:cNvGraphicFramePr>
            <a:graphicFrameLocks noGrp="1"/>
          </p:cNvGraphicFramePr>
          <p:nvPr/>
        </p:nvGraphicFramePr>
        <p:xfrm>
          <a:off x="2971776" y="6196323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4" name="Tableau 33"/>
          <p:cNvGraphicFramePr>
            <a:graphicFrameLocks noGrp="1"/>
          </p:cNvGraphicFramePr>
          <p:nvPr/>
        </p:nvGraphicFramePr>
        <p:xfrm>
          <a:off x="1185826" y="6910703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5" name="Tableau 34"/>
          <p:cNvGraphicFramePr>
            <a:graphicFrameLocks noGrp="1"/>
          </p:cNvGraphicFramePr>
          <p:nvPr/>
        </p:nvGraphicFramePr>
        <p:xfrm>
          <a:off x="1990726" y="6910703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6" name="Tableau 35"/>
          <p:cNvGraphicFramePr>
            <a:graphicFrameLocks noGrp="1"/>
          </p:cNvGraphicFramePr>
          <p:nvPr/>
        </p:nvGraphicFramePr>
        <p:xfrm>
          <a:off x="2971776" y="6910703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49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7" name="Tableau 36"/>
          <p:cNvGraphicFramePr>
            <a:graphicFrameLocks noGrp="1"/>
          </p:cNvGraphicFramePr>
          <p:nvPr/>
        </p:nvGraphicFramePr>
        <p:xfrm>
          <a:off x="1185826" y="7625083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8" name="Tableau 37"/>
          <p:cNvGraphicFramePr>
            <a:graphicFrameLocks noGrp="1"/>
          </p:cNvGraphicFramePr>
          <p:nvPr/>
        </p:nvGraphicFramePr>
        <p:xfrm>
          <a:off x="1971644" y="7625083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9" name="Tableau 38"/>
          <p:cNvGraphicFramePr>
            <a:graphicFrameLocks noGrp="1"/>
          </p:cNvGraphicFramePr>
          <p:nvPr/>
        </p:nvGraphicFramePr>
        <p:xfrm>
          <a:off x="2971776" y="7625083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" name="ZoneTexte 39"/>
          <p:cNvSpPr txBox="1"/>
          <p:nvPr/>
        </p:nvSpPr>
        <p:spPr>
          <a:xfrm>
            <a:off x="1114388" y="8443938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latin typeface="Roboto"/>
              </a:rPr>
              <a:t>I</a:t>
            </a:r>
            <a:r>
              <a:rPr lang="fr-FR" b="1" baseline="30000" dirty="0" smtClean="0">
                <a:latin typeface="Roboto"/>
              </a:rPr>
              <a:t>2</a:t>
            </a:r>
            <a:r>
              <a:rPr lang="fr-FR" b="1" baseline="-25000" dirty="0" smtClean="0">
                <a:latin typeface="Roboto"/>
              </a:rPr>
              <a:t>X</a:t>
            </a:r>
            <a:endParaRPr lang="fr-FR" b="1" baseline="-25000" dirty="0">
              <a:latin typeface="Roboto"/>
            </a:endParaRPr>
          </a:p>
        </p:txBody>
      </p:sp>
      <p:graphicFrame>
        <p:nvGraphicFramePr>
          <p:cNvPr id="41" name="Tableau 40"/>
          <p:cNvGraphicFramePr>
            <a:graphicFrameLocks noGrp="1"/>
          </p:cNvGraphicFramePr>
          <p:nvPr/>
        </p:nvGraphicFramePr>
        <p:xfrm>
          <a:off x="6472238" y="2281820"/>
          <a:ext cx="2468868" cy="238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56"/>
                <a:gridCol w="822956"/>
                <a:gridCol w="822956"/>
              </a:tblGrid>
              <a:tr h="79375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93756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9375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2" name="Tableau 41"/>
          <p:cNvGraphicFramePr>
            <a:graphicFrameLocks noGrp="1"/>
          </p:cNvGraphicFramePr>
          <p:nvPr/>
        </p:nvGraphicFramePr>
        <p:xfrm>
          <a:off x="6686549" y="2430415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3" name="Tableau 42"/>
          <p:cNvGraphicFramePr>
            <a:graphicFrameLocks noGrp="1"/>
          </p:cNvGraphicFramePr>
          <p:nvPr/>
        </p:nvGraphicFramePr>
        <p:xfrm>
          <a:off x="7472367" y="2430415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4" name="Tableau 43"/>
          <p:cNvGraphicFramePr>
            <a:graphicFrameLocks noGrp="1"/>
          </p:cNvGraphicFramePr>
          <p:nvPr/>
        </p:nvGraphicFramePr>
        <p:xfrm>
          <a:off x="8258185" y="2444693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5" name="Tableau 44"/>
          <p:cNvGraphicFramePr>
            <a:graphicFrameLocks noGrp="1"/>
          </p:cNvGraphicFramePr>
          <p:nvPr/>
        </p:nvGraphicFramePr>
        <p:xfrm>
          <a:off x="6686549" y="3159073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6" name="Tableau 45"/>
          <p:cNvGraphicFramePr>
            <a:graphicFrameLocks noGrp="1"/>
          </p:cNvGraphicFramePr>
          <p:nvPr/>
        </p:nvGraphicFramePr>
        <p:xfrm>
          <a:off x="7543805" y="3159073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7" name="Tableau 46"/>
          <p:cNvGraphicFramePr>
            <a:graphicFrameLocks noGrp="1"/>
          </p:cNvGraphicFramePr>
          <p:nvPr/>
        </p:nvGraphicFramePr>
        <p:xfrm>
          <a:off x="8258185" y="3144795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8" name="Tableau 47"/>
          <p:cNvGraphicFramePr>
            <a:graphicFrameLocks noGrp="1"/>
          </p:cNvGraphicFramePr>
          <p:nvPr/>
        </p:nvGraphicFramePr>
        <p:xfrm>
          <a:off x="6686549" y="3873453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" name="Tableau 48"/>
          <p:cNvGraphicFramePr>
            <a:graphicFrameLocks noGrp="1"/>
          </p:cNvGraphicFramePr>
          <p:nvPr/>
        </p:nvGraphicFramePr>
        <p:xfrm>
          <a:off x="7472367" y="3859175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0" name="Tableau 49"/>
          <p:cNvGraphicFramePr>
            <a:graphicFrameLocks noGrp="1"/>
          </p:cNvGraphicFramePr>
          <p:nvPr/>
        </p:nvGraphicFramePr>
        <p:xfrm>
          <a:off x="8258185" y="3859175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" name="ZoneTexte 50"/>
          <p:cNvSpPr txBox="1"/>
          <p:nvPr/>
        </p:nvSpPr>
        <p:spPr>
          <a:xfrm>
            <a:off x="6472238" y="4805964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 smtClean="0">
                <a:latin typeface="Roboto"/>
              </a:rPr>
              <a:t>I</a:t>
            </a:r>
            <a:r>
              <a:rPr lang="fr-FR" b="1" baseline="-25000" dirty="0" err="1" smtClean="0">
                <a:latin typeface="Roboto"/>
              </a:rPr>
              <a:t>y</a:t>
            </a:r>
            <a:endParaRPr lang="fr-FR" b="1" baseline="-25000" dirty="0">
              <a:latin typeface="Roboto"/>
            </a:endParaRPr>
          </a:p>
        </p:txBody>
      </p:sp>
      <p:graphicFrame>
        <p:nvGraphicFramePr>
          <p:cNvPr id="52" name="Tableau 51"/>
          <p:cNvGraphicFramePr>
            <a:graphicFrameLocks noGrp="1"/>
          </p:cNvGraphicFramePr>
          <p:nvPr/>
        </p:nvGraphicFramePr>
        <p:xfrm>
          <a:off x="5043478" y="5991232"/>
          <a:ext cx="2468868" cy="238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56"/>
                <a:gridCol w="822956"/>
                <a:gridCol w="822956"/>
              </a:tblGrid>
              <a:tr h="79375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93756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9375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au 52"/>
          <p:cNvGraphicFramePr>
            <a:graphicFrameLocks noGrp="1"/>
          </p:cNvGraphicFramePr>
          <p:nvPr/>
        </p:nvGraphicFramePr>
        <p:xfrm>
          <a:off x="5257789" y="6163641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4" name="Tableau 53"/>
          <p:cNvGraphicFramePr>
            <a:graphicFrameLocks noGrp="1"/>
          </p:cNvGraphicFramePr>
          <p:nvPr/>
        </p:nvGraphicFramePr>
        <p:xfrm>
          <a:off x="6043607" y="6163641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5" name="Tableau 54"/>
          <p:cNvGraphicFramePr>
            <a:graphicFrameLocks noGrp="1"/>
          </p:cNvGraphicFramePr>
          <p:nvPr/>
        </p:nvGraphicFramePr>
        <p:xfrm>
          <a:off x="6829425" y="6177919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6" name="Tableau 55"/>
          <p:cNvGraphicFramePr>
            <a:graphicFrameLocks noGrp="1"/>
          </p:cNvGraphicFramePr>
          <p:nvPr/>
        </p:nvGraphicFramePr>
        <p:xfrm>
          <a:off x="5257789" y="6892299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7" name="Tableau 56"/>
          <p:cNvGraphicFramePr>
            <a:graphicFrameLocks noGrp="1"/>
          </p:cNvGraphicFramePr>
          <p:nvPr/>
        </p:nvGraphicFramePr>
        <p:xfrm>
          <a:off x="6115045" y="6892299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Tableau 57"/>
          <p:cNvGraphicFramePr>
            <a:graphicFrameLocks noGrp="1"/>
          </p:cNvGraphicFramePr>
          <p:nvPr/>
        </p:nvGraphicFramePr>
        <p:xfrm>
          <a:off x="6829425" y="6878021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49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9" name="Tableau 58"/>
          <p:cNvGraphicFramePr>
            <a:graphicFrameLocks noGrp="1"/>
          </p:cNvGraphicFramePr>
          <p:nvPr/>
        </p:nvGraphicFramePr>
        <p:xfrm>
          <a:off x="5257789" y="7606679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0" name="Tableau 59"/>
          <p:cNvGraphicFramePr>
            <a:graphicFrameLocks noGrp="1"/>
          </p:cNvGraphicFramePr>
          <p:nvPr/>
        </p:nvGraphicFramePr>
        <p:xfrm>
          <a:off x="6043607" y="7592401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Tableau 60"/>
          <p:cNvGraphicFramePr>
            <a:graphicFrameLocks noGrp="1"/>
          </p:cNvGraphicFramePr>
          <p:nvPr/>
        </p:nvGraphicFramePr>
        <p:xfrm>
          <a:off x="6829425" y="7592401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2" name="ZoneTexte 61"/>
          <p:cNvSpPr txBox="1"/>
          <p:nvPr/>
        </p:nvSpPr>
        <p:spPr>
          <a:xfrm>
            <a:off x="5114916" y="8515376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latin typeface="Roboto"/>
              </a:rPr>
              <a:t>I</a:t>
            </a:r>
            <a:r>
              <a:rPr lang="fr-FR" b="1" baseline="30000" dirty="0" smtClean="0">
                <a:latin typeface="Roboto"/>
              </a:rPr>
              <a:t>2</a:t>
            </a:r>
            <a:r>
              <a:rPr lang="fr-FR" b="1" baseline="-25000" dirty="0" smtClean="0">
                <a:latin typeface="Roboto"/>
              </a:rPr>
              <a:t>y</a:t>
            </a:r>
            <a:endParaRPr lang="fr-FR" b="1" baseline="-25000" dirty="0">
              <a:latin typeface="Roboto"/>
            </a:endParaRPr>
          </a:p>
        </p:txBody>
      </p:sp>
      <p:graphicFrame>
        <p:nvGraphicFramePr>
          <p:cNvPr id="63" name="Tableau 62"/>
          <p:cNvGraphicFramePr>
            <a:graphicFrameLocks noGrp="1"/>
          </p:cNvGraphicFramePr>
          <p:nvPr/>
        </p:nvGraphicFramePr>
        <p:xfrm>
          <a:off x="8686816" y="5958195"/>
          <a:ext cx="2468868" cy="238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56"/>
                <a:gridCol w="822956"/>
                <a:gridCol w="822956"/>
              </a:tblGrid>
              <a:tr h="79375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93756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9375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4" name="ZoneTexte 63"/>
          <p:cNvSpPr txBox="1"/>
          <p:nvPr/>
        </p:nvSpPr>
        <p:spPr>
          <a:xfrm>
            <a:off x="8758254" y="8482339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 smtClean="0">
                <a:latin typeface="Roboto"/>
              </a:rPr>
              <a:t>I</a:t>
            </a:r>
            <a:r>
              <a:rPr lang="fr-FR" b="1" baseline="-25000" dirty="0" err="1" smtClean="0">
                <a:latin typeface="Roboto"/>
              </a:rPr>
              <a:t>xy</a:t>
            </a:r>
            <a:endParaRPr lang="fr-FR" b="1" baseline="-25000" dirty="0">
              <a:latin typeface="Roboto"/>
            </a:endParaRPr>
          </a:p>
        </p:txBody>
      </p:sp>
      <p:graphicFrame>
        <p:nvGraphicFramePr>
          <p:cNvPr id="65" name="Tableau 64"/>
          <p:cNvGraphicFramePr>
            <a:graphicFrameLocks noGrp="1"/>
          </p:cNvGraphicFramePr>
          <p:nvPr/>
        </p:nvGraphicFramePr>
        <p:xfrm>
          <a:off x="8901130" y="6196988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6" name="Tableau 65"/>
          <p:cNvGraphicFramePr>
            <a:graphicFrameLocks noGrp="1"/>
          </p:cNvGraphicFramePr>
          <p:nvPr/>
        </p:nvGraphicFramePr>
        <p:xfrm>
          <a:off x="9686948" y="6196988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56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7" name="Tableau 66"/>
          <p:cNvGraphicFramePr>
            <a:graphicFrameLocks noGrp="1"/>
          </p:cNvGraphicFramePr>
          <p:nvPr/>
        </p:nvGraphicFramePr>
        <p:xfrm>
          <a:off x="10472766" y="6211266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8" name="Tableau 67"/>
          <p:cNvGraphicFramePr>
            <a:graphicFrameLocks noGrp="1"/>
          </p:cNvGraphicFramePr>
          <p:nvPr/>
        </p:nvGraphicFramePr>
        <p:xfrm>
          <a:off x="8901130" y="6925646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9" name="Tableau 68"/>
          <p:cNvGraphicFramePr>
            <a:graphicFrameLocks noGrp="1"/>
          </p:cNvGraphicFramePr>
          <p:nvPr/>
        </p:nvGraphicFramePr>
        <p:xfrm>
          <a:off x="9758386" y="6925646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0" name="Tableau 69"/>
          <p:cNvGraphicFramePr>
            <a:graphicFrameLocks noGrp="1"/>
          </p:cNvGraphicFramePr>
          <p:nvPr/>
        </p:nvGraphicFramePr>
        <p:xfrm>
          <a:off x="10472766" y="6911368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49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1" name="Tableau 70"/>
          <p:cNvGraphicFramePr>
            <a:graphicFrameLocks noGrp="1"/>
          </p:cNvGraphicFramePr>
          <p:nvPr/>
        </p:nvGraphicFramePr>
        <p:xfrm>
          <a:off x="8901130" y="7640026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2" name="Tableau 71"/>
          <p:cNvGraphicFramePr>
            <a:graphicFrameLocks noGrp="1"/>
          </p:cNvGraphicFramePr>
          <p:nvPr/>
        </p:nvGraphicFramePr>
        <p:xfrm>
          <a:off x="9686948" y="7625748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3" name="Tableau 72"/>
          <p:cNvGraphicFramePr>
            <a:graphicFrameLocks noGrp="1"/>
          </p:cNvGraphicFramePr>
          <p:nvPr/>
        </p:nvGraphicFramePr>
        <p:xfrm>
          <a:off x="10472766" y="7625748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0" grpId="0"/>
      <p:bldP spid="51" grpId="0"/>
      <p:bldP spid="62" grpId="0"/>
      <p:bldP spid="6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</a:t>
            </a:r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3: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71974" y="0"/>
            <a:ext cx="8329626" cy="689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471446" y="871510"/>
            <a:ext cx="110728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 startAt="3"/>
            </a:pPr>
            <a:r>
              <a:rPr lang="fr-FR" sz="2800" dirty="0" smtClean="0">
                <a:latin typeface="Roboto"/>
              </a:rPr>
              <a:t>Étape 3: calculer la matrice de </a:t>
            </a:r>
            <a:r>
              <a:rPr lang="fr-FR" sz="2800" dirty="0" smtClean="0">
                <a:latin typeface="Roboto"/>
              </a:rPr>
              <a:t>H</a:t>
            </a:r>
            <a:r>
              <a:rPr lang="fr-FR" sz="2800" dirty="0" smtClean="0">
                <a:latin typeface="Roboto"/>
              </a:rPr>
              <a:t>arris. </a:t>
            </a:r>
          </a:p>
          <a:p>
            <a:pPr marL="1679113" lvl="2" indent="-457200" algn="just"/>
            <a:r>
              <a:rPr lang="fr-FR" sz="2800" dirty="0" smtClean="0">
                <a:latin typeface="Roboto"/>
              </a:rPr>
              <a:t>-&gt; la matrice est composé de 4 éléments. Les calculer </a:t>
            </a:r>
            <a:endParaRPr lang="fr-FR" sz="2800" dirty="0" smtClean="0">
              <a:latin typeface="Roboto"/>
            </a:endParaRPr>
          </a:p>
        </p:txBody>
      </p:sp>
      <p:graphicFrame>
        <p:nvGraphicFramePr>
          <p:cNvPr id="30" name="Tableau 29"/>
          <p:cNvGraphicFramePr>
            <a:graphicFrameLocks noGrp="1"/>
          </p:cNvGraphicFramePr>
          <p:nvPr/>
        </p:nvGraphicFramePr>
        <p:xfrm>
          <a:off x="828636" y="4729162"/>
          <a:ext cx="3000396" cy="2114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32"/>
                <a:gridCol w="1000132"/>
                <a:gridCol w="1000132"/>
              </a:tblGrid>
              <a:tr h="70485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0485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0485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1" name="Tableau 30"/>
          <p:cNvGraphicFramePr>
            <a:graphicFrameLocks noGrp="1"/>
          </p:cNvGraphicFramePr>
          <p:nvPr/>
        </p:nvGraphicFramePr>
        <p:xfrm>
          <a:off x="1133470" y="4762199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Tableau 31"/>
          <p:cNvGraphicFramePr>
            <a:graphicFrameLocks noGrp="1"/>
          </p:cNvGraphicFramePr>
          <p:nvPr/>
        </p:nvGraphicFramePr>
        <p:xfrm>
          <a:off x="1900206" y="4800600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49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3" name="Tableau 32"/>
          <p:cNvGraphicFramePr>
            <a:graphicFrameLocks noGrp="1"/>
          </p:cNvGraphicFramePr>
          <p:nvPr/>
        </p:nvGraphicFramePr>
        <p:xfrm>
          <a:off x="2900338" y="4800600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4" name="Tableau 33"/>
          <p:cNvGraphicFramePr>
            <a:graphicFrameLocks noGrp="1"/>
          </p:cNvGraphicFramePr>
          <p:nvPr/>
        </p:nvGraphicFramePr>
        <p:xfrm>
          <a:off x="1114388" y="5514980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5" name="Tableau 34"/>
          <p:cNvGraphicFramePr>
            <a:graphicFrameLocks noGrp="1"/>
          </p:cNvGraphicFramePr>
          <p:nvPr/>
        </p:nvGraphicFramePr>
        <p:xfrm>
          <a:off x="1919288" y="5514980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6" name="Tableau 35"/>
          <p:cNvGraphicFramePr>
            <a:graphicFrameLocks noGrp="1"/>
          </p:cNvGraphicFramePr>
          <p:nvPr/>
        </p:nvGraphicFramePr>
        <p:xfrm>
          <a:off x="2900338" y="5514980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49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7" name="Tableau 36"/>
          <p:cNvGraphicFramePr>
            <a:graphicFrameLocks noGrp="1"/>
          </p:cNvGraphicFramePr>
          <p:nvPr/>
        </p:nvGraphicFramePr>
        <p:xfrm>
          <a:off x="1114388" y="6229360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8" name="Tableau 37"/>
          <p:cNvGraphicFramePr>
            <a:graphicFrameLocks noGrp="1"/>
          </p:cNvGraphicFramePr>
          <p:nvPr/>
        </p:nvGraphicFramePr>
        <p:xfrm>
          <a:off x="1900206" y="6229360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9" name="Tableau 38"/>
          <p:cNvGraphicFramePr>
            <a:graphicFrameLocks noGrp="1"/>
          </p:cNvGraphicFramePr>
          <p:nvPr/>
        </p:nvGraphicFramePr>
        <p:xfrm>
          <a:off x="2900338" y="6229360"/>
          <a:ext cx="7143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</a:tblGrid>
              <a:tr h="571504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" name="ZoneTexte 39"/>
          <p:cNvSpPr txBox="1"/>
          <p:nvPr/>
        </p:nvSpPr>
        <p:spPr>
          <a:xfrm>
            <a:off x="1042950" y="7048215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latin typeface="Roboto"/>
              </a:rPr>
              <a:t>I</a:t>
            </a:r>
            <a:r>
              <a:rPr lang="fr-FR" b="1" baseline="30000" dirty="0" smtClean="0">
                <a:latin typeface="Roboto"/>
              </a:rPr>
              <a:t>2</a:t>
            </a:r>
            <a:r>
              <a:rPr lang="fr-FR" b="1" baseline="-25000" dirty="0" smtClean="0">
                <a:latin typeface="Roboto"/>
              </a:rPr>
              <a:t>X</a:t>
            </a:r>
            <a:endParaRPr lang="fr-FR" b="1" baseline="-25000" dirty="0">
              <a:latin typeface="Roboto"/>
            </a:endParaRPr>
          </a:p>
        </p:txBody>
      </p:sp>
      <p:graphicFrame>
        <p:nvGraphicFramePr>
          <p:cNvPr id="52" name="Tableau 51"/>
          <p:cNvGraphicFramePr>
            <a:graphicFrameLocks noGrp="1"/>
          </p:cNvGraphicFramePr>
          <p:nvPr/>
        </p:nvGraphicFramePr>
        <p:xfrm>
          <a:off x="4972040" y="4672311"/>
          <a:ext cx="2468868" cy="238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56"/>
                <a:gridCol w="822956"/>
                <a:gridCol w="822956"/>
              </a:tblGrid>
              <a:tr h="79375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93756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9375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au 52"/>
          <p:cNvGraphicFramePr>
            <a:graphicFrameLocks noGrp="1"/>
          </p:cNvGraphicFramePr>
          <p:nvPr/>
        </p:nvGraphicFramePr>
        <p:xfrm>
          <a:off x="5186351" y="4844720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4" name="Tableau 53"/>
          <p:cNvGraphicFramePr>
            <a:graphicFrameLocks noGrp="1"/>
          </p:cNvGraphicFramePr>
          <p:nvPr/>
        </p:nvGraphicFramePr>
        <p:xfrm>
          <a:off x="5972169" y="4844720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5" name="Tableau 54"/>
          <p:cNvGraphicFramePr>
            <a:graphicFrameLocks noGrp="1"/>
          </p:cNvGraphicFramePr>
          <p:nvPr/>
        </p:nvGraphicFramePr>
        <p:xfrm>
          <a:off x="6757987" y="4858998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6" name="Tableau 55"/>
          <p:cNvGraphicFramePr>
            <a:graphicFrameLocks noGrp="1"/>
          </p:cNvGraphicFramePr>
          <p:nvPr/>
        </p:nvGraphicFramePr>
        <p:xfrm>
          <a:off x="5186351" y="5573378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7" name="Tableau 56"/>
          <p:cNvGraphicFramePr>
            <a:graphicFrameLocks noGrp="1"/>
          </p:cNvGraphicFramePr>
          <p:nvPr/>
        </p:nvGraphicFramePr>
        <p:xfrm>
          <a:off x="6043607" y="5573378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Tableau 57"/>
          <p:cNvGraphicFramePr>
            <a:graphicFrameLocks noGrp="1"/>
          </p:cNvGraphicFramePr>
          <p:nvPr/>
        </p:nvGraphicFramePr>
        <p:xfrm>
          <a:off x="6757987" y="5559100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49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9" name="Tableau 58"/>
          <p:cNvGraphicFramePr>
            <a:graphicFrameLocks noGrp="1"/>
          </p:cNvGraphicFramePr>
          <p:nvPr/>
        </p:nvGraphicFramePr>
        <p:xfrm>
          <a:off x="5186351" y="6287758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0" name="Tableau 59"/>
          <p:cNvGraphicFramePr>
            <a:graphicFrameLocks noGrp="1"/>
          </p:cNvGraphicFramePr>
          <p:nvPr/>
        </p:nvGraphicFramePr>
        <p:xfrm>
          <a:off x="5972169" y="6273480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Tableau 60"/>
          <p:cNvGraphicFramePr>
            <a:graphicFrameLocks noGrp="1"/>
          </p:cNvGraphicFramePr>
          <p:nvPr/>
        </p:nvGraphicFramePr>
        <p:xfrm>
          <a:off x="6757987" y="6273480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2" name="ZoneTexte 61"/>
          <p:cNvSpPr txBox="1"/>
          <p:nvPr/>
        </p:nvSpPr>
        <p:spPr>
          <a:xfrm>
            <a:off x="5043478" y="7196455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latin typeface="Roboto"/>
              </a:rPr>
              <a:t>I</a:t>
            </a:r>
            <a:r>
              <a:rPr lang="fr-FR" b="1" baseline="30000" dirty="0" smtClean="0">
                <a:latin typeface="Roboto"/>
              </a:rPr>
              <a:t>2</a:t>
            </a:r>
            <a:r>
              <a:rPr lang="fr-FR" b="1" baseline="-25000" dirty="0" smtClean="0">
                <a:latin typeface="Roboto"/>
              </a:rPr>
              <a:t>y</a:t>
            </a:r>
            <a:endParaRPr lang="fr-FR" b="1" baseline="-25000" dirty="0">
              <a:latin typeface="Roboto"/>
            </a:endParaRPr>
          </a:p>
        </p:txBody>
      </p:sp>
      <p:graphicFrame>
        <p:nvGraphicFramePr>
          <p:cNvPr id="63" name="Tableau 62"/>
          <p:cNvGraphicFramePr>
            <a:graphicFrameLocks noGrp="1"/>
          </p:cNvGraphicFramePr>
          <p:nvPr/>
        </p:nvGraphicFramePr>
        <p:xfrm>
          <a:off x="8686816" y="4657724"/>
          <a:ext cx="2468868" cy="238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56"/>
                <a:gridCol w="822956"/>
                <a:gridCol w="822956"/>
              </a:tblGrid>
              <a:tr h="79375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93756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9375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4" name="ZoneTexte 63"/>
          <p:cNvSpPr txBox="1"/>
          <p:nvPr/>
        </p:nvSpPr>
        <p:spPr>
          <a:xfrm>
            <a:off x="8758254" y="7181868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 smtClean="0">
                <a:latin typeface="Roboto"/>
              </a:rPr>
              <a:t>I</a:t>
            </a:r>
            <a:r>
              <a:rPr lang="fr-FR" b="1" baseline="-25000" dirty="0" err="1" smtClean="0">
                <a:latin typeface="Roboto"/>
              </a:rPr>
              <a:t>xy</a:t>
            </a:r>
            <a:endParaRPr lang="fr-FR" b="1" baseline="-25000" dirty="0">
              <a:latin typeface="Roboto"/>
            </a:endParaRPr>
          </a:p>
        </p:txBody>
      </p:sp>
      <p:graphicFrame>
        <p:nvGraphicFramePr>
          <p:cNvPr id="65" name="Tableau 64"/>
          <p:cNvGraphicFramePr>
            <a:graphicFrameLocks noGrp="1"/>
          </p:cNvGraphicFramePr>
          <p:nvPr/>
        </p:nvGraphicFramePr>
        <p:xfrm>
          <a:off x="8901130" y="4896517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6" name="Tableau 65"/>
          <p:cNvGraphicFramePr>
            <a:graphicFrameLocks noGrp="1"/>
          </p:cNvGraphicFramePr>
          <p:nvPr/>
        </p:nvGraphicFramePr>
        <p:xfrm>
          <a:off x="9686948" y="4896517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56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7" name="Tableau 66"/>
          <p:cNvGraphicFramePr>
            <a:graphicFrameLocks noGrp="1"/>
          </p:cNvGraphicFramePr>
          <p:nvPr/>
        </p:nvGraphicFramePr>
        <p:xfrm>
          <a:off x="10472766" y="4910795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8" name="Tableau 67"/>
          <p:cNvGraphicFramePr>
            <a:graphicFrameLocks noGrp="1"/>
          </p:cNvGraphicFramePr>
          <p:nvPr/>
        </p:nvGraphicFramePr>
        <p:xfrm>
          <a:off x="8901130" y="5625175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9" name="Tableau 68"/>
          <p:cNvGraphicFramePr>
            <a:graphicFrameLocks noGrp="1"/>
          </p:cNvGraphicFramePr>
          <p:nvPr/>
        </p:nvGraphicFramePr>
        <p:xfrm>
          <a:off x="9758386" y="5625175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0" name="Tableau 69"/>
          <p:cNvGraphicFramePr>
            <a:graphicFrameLocks noGrp="1"/>
          </p:cNvGraphicFramePr>
          <p:nvPr/>
        </p:nvGraphicFramePr>
        <p:xfrm>
          <a:off x="10472766" y="5610897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49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1" name="Tableau 70"/>
          <p:cNvGraphicFramePr>
            <a:graphicFrameLocks noGrp="1"/>
          </p:cNvGraphicFramePr>
          <p:nvPr/>
        </p:nvGraphicFramePr>
        <p:xfrm>
          <a:off x="8901130" y="6339555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48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2" name="Tableau 71"/>
          <p:cNvGraphicFramePr>
            <a:graphicFrameLocks noGrp="1"/>
          </p:cNvGraphicFramePr>
          <p:nvPr/>
        </p:nvGraphicFramePr>
        <p:xfrm>
          <a:off x="9686948" y="6325277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3" name="Tableau 72"/>
          <p:cNvGraphicFramePr>
            <a:graphicFrameLocks noGrp="1"/>
          </p:cNvGraphicFramePr>
          <p:nvPr/>
        </p:nvGraphicFramePr>
        <p:xfrm>
          <a:off x="10472766" y="6325277"/>
          <a:ext cx="57150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4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fr-FR" sz="28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fr-FR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7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8569" y="2228832"/>
            <a:ext cx="4185821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6" name="ZoneTexte 75"/>
          <p:cNvSpPr txBox="1"/>
          <p:nvPr/>
        </p:nvSpPr>
        <p:spPr>
          <a:xfrm>
            <a:off x="614322" y="7970131"/>
            <a:ext cx="34290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Roboto"/>
              </a:rPr>
              <a:t>Somme=16+49+36+64+64+49+64+36+25 </a:t>
            </a:r>
          </a:p>
          <a:p>
            <a:r>
              <a:rPr lang="fr-FR" b="1" dirty="0" smtClean="0">
                <a:solidFill>
                  <a:srgbClr val="FF0000"/>
                </a:solidFill>
                <a:latin typeface="Roboto"/>
              </a:rPr>
              <a:t>= 403</a:t>
            </a:r>
            <a:endParaRPr lang="fr-FR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77" name="ZoneTexte 76"/>
          <p:cNvSpPr txBox="1"/>
          <p:nvPr/>
        </p:nvSpPr>
        <p:spPr>
          <a:xfrm>
            <a:off x="4329098" y="7943872"/>
            <a:ext cx="34290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Roboto"/>
              </a:rPr>
              <a:t>Somme=16+64+64+64+36+49+36+36+16 </a:t>
            </a:r>
          </a:p>
          <a:p>
            <a:r>
              <a:rPr lang="fr-FR" b="1" dirty="0" smtClean="0">
                <a:solidFill>
                  <a:srgbClr val="FF0000"/>
                </a:solidFill>
                <a:latin typeface="Roboto"/>
              </a:rPr>
              <a:t>= 381</a:t>
            </a:r>
            <a:endParaRPr lang="fr-FR" b="1" dirty="0">
              <a:solidFill>
                <a:srgbClr val="FF0000"/>
              </a:solidFill>
              <a:latin typeface="Roboto"/>
            </a:endParaRPr>
          </a:p>
        </p:txBody>
      </p:sp>
      <p:sp>
        <p:nvSpPr>
          <p:cNvPr id="78" name="ZoneTexte 77"/>
          <p:cNvSpPr txBox="1"/>
          <p:nvPr/>
        </p:nvSpPr>
        <p:spPr>
          <a:xfrm>
            <a:off x="8329626" y="7970131"/>
            <a:ext cx="34290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Roboto"/>
              </a:rPr>
              <a:t>Somme=16+56+48+64+48+49+48+36+20 </a:t>
            </a:r>
          </a:p>
          <a:p>
            <a:r>
              <a:rPr lang="fr-FR" b="1" dirty="0" smtClean="0">
                <a:solidFill>
                  <a:srgbClr val="FF0000"/>
                </a:solidFill>
                <a:latin typeface="Roboto"/>
              </a:rPr>
              <a:t>=385</a:t>
            </a:r>
            <a:endParaRPr lang="fr-FR" b="1" dirty="0">
              <a:solidFill>
                <a:srgbClr val="FF0000"/>
              </a:solidFill>
              <a:latin typeface="Roboto"/>
            </a:endParaRPr>
          </a:p>
        </p:txBody>
      </p:sp>
      <p:graphicFrame>
        <p:nvGraphicFramePr>
          <p:cNvPr id="79" name="Tableau 78"/>
          <p:cNvGraphicFramePr>
            <a:graphicFrameLocks noGrp="1"/>
          </p:cNvGraphicFramePr>
          <p:nvPr/>
        </p:nvGraphicFramePr>
        <p:xfrm>
          <a:off x="6972304" y="2300270"/>
          <a:ext cx="3500462" cy="142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231"/>
                <a:gridCol w="1750231"/>
              </a:tblGrid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chemeClr val="tx1"/>
                          </a:solidFill>
                          <a:latin typeface="Roboto"/>
                        </a:rPr>
                        <a:t>403</a:t>
                      </a:r>
                      <a:endParaRPr lang="fr-FR" b="1" dirty="0">
                        <a:solidFill>
                          <a:schemeClr val="tx1"/>
                        </a:solidFill>
                        <a:latin typeface="Roboto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chemeClr val="tx1"/>
                          </a:solidFill>
                          <a:latin typeface="Roboto"/>
                        </a:rPr>
                        <a:t>385</a:t>
                      </a:r>
                      <a:endParaRPr lang="fr-FR" b="1" dirty="0">
                        <a:solidFill>
                          <a:schemeClr val="tx1"/>
                        </a:solidFill>
                        <a:latin typeface="Roboto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chemeClr val="tx1"/>
                          </a:solidFill>
                          <a:latin typeface="Roboto"/>
                        </a:rPr>
                        <a:t>385</a:t>
                      </a:r>
                      <a:endParaRPr lang="fr-FR" b="1" dirty="0">
                        <a:solidFill>
                          <a:schemeClr val="tx1"/>
                        </a:solidFill>
                        <a:latin typeface="Roboto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chemeClr val="tx1"/>
                          </a:solidFill>
                          <a:latin typeface="Roboto"/>
                        </a:rPr>
                        <a:t>381</a:t>
                      </a:r>
                      <a:endParaRPr lang="fr-FR" b="1" dirty="0">
                        <a:solidFill>
                          <a:schemeClr val="tx1"/>
                        </a:solidFill>
                        <a:latin typeface="Roboto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0" name="ZoneTexte 79"/>
          <p:cNvSpPr txBox="1"/>
          <p:nvPr/>
        </p:nvSpPr>
        <p:spPr>
          <a:xfrm>
            <a:off x="5829296" y="2728898"/>
            <a:ext cx="1000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latin typeface="Roboto"/>
              </a:rPr>
              <a:t>H=</a:t>
            </a:r>
            <a:endParaRPr lang="fr-FR" b="1" dirty="0"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62" grpId="0"/>
      <p:bldP spid="64" grpId="0"/>
      <p:bldP spid="8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45" y="-33"/>
            <a:ext cx="5700753" cy="615828"/>
          </a:xfrm>
          <a:prstGeom prst="rect">
            <a:avLst/>
          </a:prstGeom>
          <a:noFill/>
        </p:spPr>
        <p:txBody>
          <a:bodyPr wrap="square" lIns="122191" tIns="61096" rIns="122191" bIns="61096" rtlCol="0">
            <a:spAutoFit/>
          </a:bodyPr>
          <a:lstStyle/>
          <a:p>
            <a:pPr marL="458217" indent="-458217"/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Exo </a:t>
            </a:r>
            <a:r>
              <a:rPr lang="fr-FR" sz="3200" b="1" u="sng" dirty="0" smtClean="0">
                <a:solidFill>
                  <a:schemeClr val="accent6"/>
                </a:solidFill>
                <a:latin typeface="Roboto"/>
              </a:rPr>
              <a:t>3:</a:t>
            </a:r>
            <a:endParaRPr lang="fr-FR" sz="3200" b="1" u="sng" dirty="0">
              <a:solidFill>
                <a:schemeClr val="accent6"/>
              </a:solidFill>
              <a:latin typeface="Roboto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85892" y="14254"/>
            <a:ext cx="11110627" cy="909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8686816" y="1371576"/>
          <a:ext cx="3714776" cy="1571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</a:tblGrid>
              <a:tr h="785818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chemeClr val="tx1"/>
                          </a:solidFill>
                          <a:latin typeface="Roboto"/>
                        </a:rPr>
                        <a:t>403</a:t>
                      </a:r>
                      <a:endParaRPr lang="fr-FR" b="1" dirty="0">
                        <a:solidFill>
                          <a:schemeClr val="tx1"/>
                        </a:solidFill>
                        <a:latin typeface="Roboto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chemeClr val="tx1"/>
                          </a:solidFill>
                          <a:latin typeface="Roboto"/>
                        </a:rPr>
                        <a:t>385</a:t>
                      </a:r>
                      <a:endParaRPr lang="fr-FR" b="1" dirty="0">
                        <a:solidFill>
                          <a:schemeClr val="tx1"/>
                        </a:solidFill>
                        <a:latin typeface="Roboto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85818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chemeClr val="tx1"/>
                          </a:solidFill>
                          <a:latin typeface="Roboto"/>
                        </a:rPr>
                        <a:t>385</a:t>
                      </a:r>
                      <a:endParaRPr lang="fr-FR" b="1" dirty="0">
                        <a:solidFill>
                          <a:schemeClr val="tx1"/>
                        </a:solidFill>
                        <a:latin typeface="Roboto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chemeClr val="tx1"/>
                          </a:solidFill>
                          <a:latin typeface="Roboto"/>
                        </a:rPr>
                        <a:t>381</a:t>
                      </a:r>
                      <a:endParaRPr lang="fr-FR" b="1" dirty="0">
                        <a:solidFill>
                          <a:schemeClr val="tx1"/>
                        </a:solidFill>
                        <a:latin typeface="Roboto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ZoneTexte 5"/>
          <p:cNvSpPr txBox="1"/>
          <p:nvPr/>
        </p:nvSpPr>
        <p:spPr>
          <a:xfrm>
            <a:off x="7543807" y="1800204"/>
            <a:ext cx="1061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latin typeface="Roboto"/>
              </a:rPr>
              <a:t>H=</a:t>
            </a:r>
            <a:endParaRPr lang="fr-FR" b="1" dirty="0">
              <a:latin typeface="Roboto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8758253" y="1371576"/>
            <a:ext cx="4286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 smtClean="0">
                <a:solidFill>
                  <a:srgbClr val="FF0000"/>
                </a:solidFill>
              </a:rPr>
              <a:t>A</a:t>
            </a:r>
            <a:endParaRPr lang="fr-FR" sz="4000" b="1" dirty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544203" y="1378070"/>
            <a:ext cx="4286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 smtClean="0">
                <a:solidFill>
                  <a:srgbClr val="FF0000"/>
                </a:solidFill>
              </a:rPr>
              <a:t>B</a:t>
            </a:r>
            <a:endParaRPr lang="fr-FR" sz="4000" b="1" dirty="0">
              <a:solidFill>
                <a:srgbClr val="FF0000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8758253" y="2163888"/>
            <a:ext cx="4286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 smtClean="0">
                <a:solidFill>
                  <a:srgbClr val="FF0000"/>
                </a:solidFill>
              </a:rPr>
              <a:t>C</a:t>
            </a:r>
            <a:endParaRPr lang="fr-FR" sz="4000" b="1" dirty="0">
              <a:solidFill>
                <a:srgbClr val="FF00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0544203" y="2163888"/>
            <a:ext cx="4286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 smtClean="0">
                <a:solidFill>
                  <a:srgbClr val="FF0000"/>
                </a:solidFill>
              </a:rPr>
              <a:t>D</a:t>
            </a:r>
            <a:endParaRPr lang="fr-FR" sz="4000" b="1" dirty="0">
              <a:solidFill>
                <a:srgbClr val="FF0000"/>
              </a:solidFill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5937" y="1728766"/>
            <a:ext cx="5000660" cy="736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8570" y="2514586"/>
            <a:ext cx="5429273" cy="714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829296" y="2543160"/>
            <a:ext cx="1323250" cy="614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65936" y="4157658"/>
            <a:ext cx="3794152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71446" y="3409942"/>
            <a:ext cx="3204017" cy="604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223588" y="4157661"/>
            <a:ext cx="1071565" cy="642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6" name="Picture 10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57132" y="4800600"/>
            <a:ext cx="4887742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7" name="Picture 11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85694" y="5586418"/>
            <a:ext cx="5010860" cy="779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8" name="Picture 12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5257792" y="5586418"/>
            <a:ext cx="2782322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ZoneTexte 20"/>
          <p:cNvSpPr txBox="1"/>
          <p:nvPr/>
        </p:nvSpPr>
        <p:spPr>
          <a:xfrm>
            <a:off x="400008" y="7015178"/>
            <a:ext cx="414340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accent1"/>
                </a:solidFill>
                <a:latin typeface="Roboto"/>
              </a:rPr>
              <a:t>Si R: </a:t>
            </a:r>
          </a:p>
          <a:p>
            <a:r>
              <a:rPr lang="fr-FR" sz="2800" dirty="0" smtClean="0">
                <a:solidFill>
                  <a:schemeClr val="accent1"/>
                </a:solidFill>
                <a:latin typeface="Roboto"/>
              </a:rPr>
              <a:t>Est très grand -&gt; Coin</a:t>
            </a:r>
          </a:p>
          <a:p>
            <a:r>
              <a:rPr lang="fr-FR" sz="2800" dirty="0" smtClean="0">
                <a:solidFill>
                  <a:schemeClr val="accent1"/>
                </a:solidFill>
                <a:latin typeface="Roboto"/>
              </a:rPr>
              <a:t>Est négatif -&gt; Edge</a:t>
            </a:r>
          </a:p>
          <a:p>
            <a:r>
              <a:rPr lang="fr-FR" sz="2800" dirty="0" smtClean="0">
                <a:solidFill>
                  <a:schemeClr val="accent1"/>
                </a:solidFill>
                <a:latin typeface="Roboto"/>
              </a:rPr>
              <a:t>Sinon -&gt; Homogène</a:t>
            </a:r>
            <a:endParaRPr lang="fr-FR" sz="2800" dirty="0">
              <a:solidFill>
                <a:schemeClr val="accent1"/>
              </a:solidFill>
              <a:latin typeface="Roboto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5257792" y="6563396"/>
            <a:ext cx="7186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  <a:latin typeface="Roboto"/>
              </a:rPr>
              <a:t>R est négatif alors la région est un </a:t>
            </a:r>
            <a:r>
              <a:rPr lang="fr-FR" sz="2800" b="1" dirty="0" err="1" smtClean="0">
                <a:solidFill>
                  <a:srgbClr val="FF0000"/>
                </a:solidFill>
                <a:latin typeface="Roboto"/>
              </a:rPr>
              <a:t>edge</a:t>
            </a:r>
            <a:endParaRPr lang="fr-FR" sz="2800" b="1" dirty="0">
              <a:solidFill>
                <a:srgbClr val="FF0000"/>
              </a:solidFill>
              <a:latin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21" grpId="0"/>
      <p:bldP spid="22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4526</TotalTime>
  <Words>2306</Words>
  <Application>Microsoft Office PowerPoint</Application>
  <PresentationFormat>A3 (297 x 420 mm)</PresentationFormat>
  <Paragraphs>1618</Paragraphs>
  <Slides>37</Slides>
  <Notes>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38" baseType="lpstr"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Neo</dc:creator>
  <cp:lastModifiedBy>Neo</cp:lastModifiedBy>
  <cp:revision>676</cp:revision>
  <dcterms:created xsi:type="dcterms:W3CDTF">2023-10-23T05:28:53Z</dcterms:created>
  <dcterms:modified xsi:type="dcterms:W3CDTF">2023-12-11T15:02:54Z</dcterms:modified>
</cp:coreProperties>
</file>